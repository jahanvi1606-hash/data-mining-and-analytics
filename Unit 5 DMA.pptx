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Medium" charset="1" panose="00000600000000000000"/>
      <p:regular r:id="rId20"/>
    </p:embeddedFont>
    <p:embeddedFont>
      <p:font typeface="Inter Light" charset="1" panose="02000503000000020004"/>
      <p:regular r:id="rId21"/>
    </p:embeddedFont>
    <p:embeddedFont>
      <p:font typeface="Inter Bold" charset="1" panose="02000503000000020004"/>
      <p:regular r:id="rId23"/>
    </p:embeddedFont>
    <p:embeddedFont>
      <p:font typeface="Canva Sans Bold" charset="1" panose="020B08030305010401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601641"/>
            <a:ext cx="9445523" cy="155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Outliers: Challenges and Detection Methods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5447709"/>
            <a:ext cx="9445523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Supervised, Unsupervised &amp; Semi-supervised Techniques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50238" y="6209405"/>
            <a:ext cx="1703041" cy="466430"/>
            <a:chOff x="0" y="0"/>
            <a:chExt cx="2270722" cy="6219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70760" cy="621919"/>
            </a:xfrm>
            <a:custGeom>
              <a:avLst/>
              <a:gdLst/>
              <a:ahLst/>
              <a:cxnLst/>
              <a:rect r="r" b="b" t="t" l="l"/>
              <a:pathLst>
                <a:path h="621919" w="2270760">
                  <a:moveTo>
                    <a:pt x="0" y="238125"/>
                  </a:moveTo>
                  <a:cubicBezTo>
                    <a:pt x="0" y="106680"/>
                    <a:pt x="106680" y="0"/>
                    <a:pt x="238125" y="0"/>
                  </a:cubicBezTo>
                  <a:lnTo>
                    <a:pt x="2032508" y="0"/>
                  </a:lnTo>
                  <a:cubicBezTo>
                    <a:pt x="2164080" y="0"/>
                    <a:pt x="2270760" y="106680"/>
                    <a:pt x="2270760" y="238125"/>
                  </a:cubicBezTo>
                  <a:lnTo>
                    <a:pt x="2270760" y="383794"/>
                  </a:lnTo>
                  <a:cubicBezTo>
                    <a:pt x="2270760" y="515366"/>
                    <a:pt x="2164080" y="621919"/>
                    <a:pt x="2032635" y="621919"/>
                  </a:cubicBezTo>
                  <a:lnTo>
                    <a:pt x="238125" y="621919"/>
                  </a:lnTo>
                  <a:cubicBezTo>
                    <a:pt x="106680" y="621919"/>
                    <a:pt x="0" y="515239"/>
                    <a:pt x="0" y="383794"/>
                  </a:cubicBezTo>
                  <a:close/>
                </a:path>
              </a:pathLst>
            </a:custGeom>
            <a:solidFill>
              <a:srgbClr val="DFE1E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999066" y="6226673"/>
            <a:ext cx="1405385" cy="37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DATA SCIENCE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77248" y="6209405"/>
            <a:ext cx="2262188" cy="466430"/>
            <a:chOff x="0" y="0"/>
            <a:chExt cx="3016250" cy="6219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16250" cy="621919"/>
            </a:xfrm>
            <a:custGeom>
              <a:avLst/>
              <a:gdLst/>
              <a:ahLst/>
              <a:cxnLst/>
              <a:rect r="r" b="b" t="t" l="l"/>
              <a:pathLst>
                <a:path h="621919" w="3016250">
                  <a:moveTo>
                    <a:pt x="0" y="238125"/>
                  </a:moveTo>
                  <a:cubicBezTo>
                    <a:pt x="0" y="106680"/>
                    <a:pt x="106680" y="0"/>
                    <a:pt x="238125" y="0"/>
                  </a:cubicBezTo>
                  <a:lnTo>
                    <a:pt x="2778125" y="0"/>
                  </a:lnTo>
                  <a:cubicBezTo>
                    <a:pt x="2909570" y="0"/>
                    <a:pt x="3016250" y="106680"/>
                    <a:pt x="3016250" y="238125"/>
                  </a:cubicBezTo>
                  <a:lnTo>
                    <a:pt x="3016250" y="383794"/>
                  </a:lnTo>
                  <a:cubicBezTo>
                    <a:pt x="3016250" y="515366"/>
                    <a:pt x="2909570" y="621919"/>
                    <a:pt x="2778125" y="621919"/>
                  </a:cubicBezTo>
                  <a:lnTo>
                    <a:pt x="238125" y="621919"/>
                  </a:lnTo>
                  <a:cubicBezTo>
                    <a:pt x="106680" y="621919"/>
                    <a:pt x="0" y="515239"/>
                    <a:pt x="0" y="383794"/>
                  </a:cubicBezTo>
                  <a:close/>
                </a:path>
              </a:pathLst>
            </a:custGeom>
            <a:solidFill>
              <a:srgbClr val="DFE1E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826076" y="6226673"/>
            <a:ext cx="1964531" cy="37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MACHINE LEARNING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63412" y="6209405"/>
            <a:ext cx="2463698" cy="466430"/>
            <a:chOff x="0" y="0"/>
            <a:chExt cx="3284931" cy="6219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84855" cy="621919"/>
            </a:xfrm>
            <a:custGeom>
              <a:avLst/>
              <a:gdLst/>
              <a:ahLst/>
              <a:cxnLst/>
              <a:rect r="r" b="b" t="t" l="l"/>
              <a:pathLst>
                <a:path h="621919" w="3284855">
                  <a:moveTo>
                    <a:pt x="0" y="238125"/>
                  </a:moveTo>
                  <a:cubicBezTo>
                    <a:pt x="0" y="106680"/>
                    <a:pt x="106680" y="0"/>
                    <a:pt x="238125" y="0"/>
                  </a:cubicBezTo>
                  <a:lnTo>
                    <a:pt x="3046730" y="0"/>
                  </a:lnTo>
                  <a:cubicBezTo>
                    <a:pt x="3178302" y="0"/>
                    <a:pt x="3284855" y="106680"/>
                    <a:pt x="3284855" y="238125"/>
                  </a:cubicBezTo>
                  <a:lnTo>
                    <a:pt x="3284855" y="383794"/>
                  </a:lnTo>
                  <a:cubicBezTo>
                    <a:pt x="3284855" y="515366"/>
                    <a:pt x="3178175" y="621919"/>
                    <a:pt x="3046730" y="621919"/>
                  </a:cubicBezTo>
                  <a:lnTo>
                    <a:pt x="238125" y="621919"/>
                  </a:lnTo>
                  <a:cubicBezTo>
                    <a:pt x="106680" y="621919"/>
                    <a:pt x="0" y="515239"/>
                    <a:pt x="0" y="383794"/>
                  </a:cubicBezTo>
                  <a:close/>
                </a:path>
              </a:pathLst>
            </a:custGeom>
            <a:solidFill>
              <a:srgbClr val="DFE1E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212241" y="6226673"/>
            <a:ext cx="2166042" cy="37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ANOMALY DETECTION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310851"/>
            <a:ext cx="7419823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Introduction to Outliers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505791"/>
            <a:ext cx="16303523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An </a:t>
            </a:r>
            <a:r>
              <a:rPr lang="en-US" sz="19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outlier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(or anomaly) is a data point that deviates significantly from the majority of observations in a dataset. Identifying these points is critical for maintaining data integrity and uncovering meaningful patterns.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3645" y="4664421"/>
            <a:ext cx="8206378" cy="3302051"/>
            <a:chOff x="0" y="0"/>
            <a:chExt cx="10941837" cy="44027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41939" cy="4402836"/>
            </a:xfrm>
            <a:custGeom>
              <a:avLst/>
              <a:gdLst/>
              <a:ahLst/>
              <a:cxnLst/>
              <a:rect r="r" b="b" t="t" l="l"/>
              <a:pathLst>
                <a:path h="4402836" w="10941939">
                  <a:moveTo>
                    <a:pt x="0" y="476377"/>
                  </a:moveTo>
                  <a:cubicBezTo>
                    <a:pt x="0" y="213233"/>
                    <a:pt x="213233" y="0"/>
                    <a:pt x="476377" y="0"/>
                  </a:cubicBezTo>
                  <a:lnTo>
                    <a:pt x="10465562" y="0"/>
                  </a:lnTo>
                  <a:cubicBezTo>
                    <a:pt x="10728579" y="0"/>
                    <a:pt x="10941939" y="213233"/>
                    <a:pt x="10941939" y="476377"/>
                  </a:cubicBezTo>
                  <a:lnTo>
                    <a:pt x="10941939" y="3926459"/>
                  </a:lnTo>
                  <a:cubicBezTo>
                    <a:pt x="10941939" y="4189476"/>
                    <a:pt x="10728706" y="4402836"/>
                    <a:pt x="10465562" y="4402836"/>
                  </a:cubicBezTo>
                  <a:lnTo>
                    <a:pt x="476377" y="4402836"/>
                  </a:lnTo>
                  <a:cubicBezTo>
                    <a:pt x="213233" y="4402709"/>
                    <a:pt x="0" y="4189476"/>
                    <a:pt x="0" y="3926459"/>
                  </a:cubicBezTo>
                  <a:close/>
                </a:path>
              </a:pathLst>
            </a:custGeom>
            <a:solidFill>
              <a:srgbClr val="C6C9D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61590" y="4912366"/>
            <a:ext cx="3566665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Causes Outliers?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1590" y="5462292"/>
            <a:ext cx="7710488" cy="193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Measurement or sensor errors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Rare but genuine events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Data entry mistakes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System or process failures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56096" y="4912366"/>
            <a:ext cx="3407416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Do They Matter?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56096" y="5462292"/>
            <a:ext cx="7849191" cy="241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Improves overall data quality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Enables fraud detection in banking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Supports fault detection in industry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Identifies cybersecurity intrusions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Enhances model robustness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06356"/>
            <a:ext cx="6202261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Types of Outliers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201295"/>
            <a:ext cx="16303523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Not all outliers are the same. Understanding the category of an anomaly helps determine the most appropriate detection strategy.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962991"/>
            <a:ext cx="3032074" cy="1873891"/>
            <a:chOff x="0" y="0"/>
            <a:chExt cx="4042766" cy="249852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042791" cy="2498471"/>
            </a:xfrm>
            <a:custGeom>
              <a:avLst/>
              <a:gdLst/>
              <a:ahLst/>
              <a:cxnLst/>
              <a:rect r="r" b="b" t="t" l="l"/>
              <a:pathLst>
                <a:path h="2498471" w="4042791">
                  <a:moveTo>
                    <a:pt x="0" y="0"/>
                  </a:moveTo>
                  <a:lnTo>
                    <a:pt x="4042791" y="0"/>
                  </a:lnTo>
                  <a:lnTo>
                    <a:pt x="4042791" y="2498471"/>
                  </a:lnTo>
                  <a:lnTo>
                    <a:pt x="0" y="2498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8" r="0" b="-12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6146902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Global Outliers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597701"/>
            <a:ext cx="5227739" cy="167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Data points that are significantly different from the </a:t>
            </a:r>
            <a:r>
              <a:rPr lang="en-US" sz="19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entire dataset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, regardless of context. Example: a salary of $10 million in a dataset where the average is $50,000.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29978" y="3962991"/>
            <a:ext cx="3032074" cy="1873891"/>
            <a:chOff x="0" y="0"/>
            <a:chExt cx="4042766" cy="249852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042791" cy="2498471"/>
            </a:xfrm>
            <a:custGeom>
              <a:avLst/>
              <a:gdLst/>
              <a:ahLst/>
              <a:cxnLst/>
              <a:rect r="r" b="b" t="t" l="l"/>
              <a:pathLst>
                <a:path h="2498471" w="4042791">
                  <a:moveTo>
                    <a:pt x="0" y="0"/>
                  </a:moveTo>
                  <a:lnTo>
                    <a:pt x="4042791" y="0"/>
                  </a:lnTo>
                  <a:lnTo>
                    <a:pt x="4042791" y="2498471"/>
                  </a:lnTo>
                  <a:lnTo>
                    <a:pt x="0" y="2498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8" r="0" b="-12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529978" y="6146902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Contextual Outliers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29978" y="6597701"/>
            <a:ext cx="5227882" cy="167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Points that are abnormal only within a </a:t>
            </a:r>
            <a:r>
              <a:rPr lang="en-US" sz="19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specific context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or condition. Example: a temperature of 35°C in winter is anomalous, but normal in summer.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67880" y="3962991"/>
            <a:ext cx="3032074" cy="1873891"/>
            <a:chOff x="0" y="0"/>
            <a:chExt cx="4042766" cy="249852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042791" cy="2498471"/>
            </a:xfrm>
            <a:custGeom>
              <a:avLst/>
              <a:gdLst/>
              <a:ahLst/>
              <a:cxnLst/>
              <a:rect r="r" b="b" t="t" l="l"/>
              <a:pathLst>
                <a:path h="2498471" w="4042791">
                  <a:moveTo>
                    <a:pt x="0" y="0"/>
                  </a:moveTo>
                  <a:lnTo>
                    <a:pt x="4042791" y="0"/>
                  </a:lnTo>
                  <a:lnTo>
                    <a:pt x="4042791" y="2498471"/>
                  </a:lnTo>
                  <a:lnTo>
                    <a:pt x="0" y="2498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8" r="0" b="-12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067880" y="6146902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Collective Outliers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67880" y="6597701"/>
            <a:ext cx="5227882" cy="167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 </a:t>
            </a:r>
            <a:r>
              <a:rPr lang="en-US" sz="19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of data points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that together deviate from the norm, even if individual points appear normal. Example: a coordinated network attack pattern.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62177"/>
            <a:ext cx="10240270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Challenges in Detecting Outliers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157117"/>
            <a:ext cx="16303523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Outlier detection is far from straightforward. Real-world data introduces several complexities that make accurate identification difficult.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7951" y="2904534"/>
            <a:ext cx="5297691" cy="3102769"/>
            <a:chOff x="0" y="0"/>
            <a:chExt cx="7063588" cy="41370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7025513" cy="4098925"/>
            </a:xfrm>
            <a:custGeom>
              <a:avLst/>
              <a:gdLst/>
              <a:ahLst/>
              <a:cxnLst/>
              <a:rect r="r" b="b" t="t" l="l"/>
              <a:pathLst>
                <a:path h="4098925" w="7025513">
                  <a:moveTo>
                    <a:pt x="0" y="182880"/>
                  </a:moveTo>
                  <a:cubicBezTo>
                    <a:pt x="0" y="81915"/>
                    <a:pt x="82169" y="0"/>
                    <a:pt x="183642" y="0"/>
                  </a:cubicBezTo>
                  <a:lnTo>
                    <a:pt x="6841871" y="0"/>
                  </a:lnTo>
                  <a:cubicBezTo>
                    <a:pt x="6943217" y="0"/>
                    <a:pt x="7025513" y="81915"/>
                    <a:pt x="7025513" y="182880"/>
                  </a:cubicBezTo>
                  <a:lnTo>
                    <a:pt x="7025513" y="3916045"/>
                  </a:lnTo>
                  <a:cubicBezTo>
                    <a:pt x="7025513" y="4017010"/>
                    <a:pt x="6943344" y="4098925"/>
                    <a:pt x="6841871" y="4098925"/>
                  </a:cubicBezTo>
                  <a:lnTo>
                    <a:pt x="183642" y="4098925"/>
                  </a:lnTo>
                  <a:cubicBezTo>
                    <a:pt x="82296" y="4098925"/>
                    <a:pt x="0" y="4017010"/>
                    <a:pt x="0" y="39160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3613" cy="4137025"/>
            </a:xfrm>
            <a:custGeom>
              <a:avLst/>
              <a:gdLst/>
              <a:ahLst/>
              <a:cxnLst/>
              <a:rect r="r" b="b" t="t" l="l"/>
              <a:pathLst>
                <a:path h="4137025" w="7063613">
                  <a:moveTo>
                    <a:pt x="0" y="201930"/>
                  </a:moveTo>
                  <a:cubicBezTo>
                    <a:pt x="0" y="90297"/>
                    <a:pt x="90805" y="0"/>
                    <a:pt x="202692" y="0"/>
                  </a:cubicBezTo>
                  <a:lnTo>
                    <a:pt x="6860921" y="0"/>
                  </a:lnTo>
                  <a:lnTo>
                    <a:pt x="6860921" y="19050"/>
                  </a:lnTo>
                  <a:lnTo>
                    <a:pt x="6860921" y="0"/>
                  </a:lnTo>
                  <a:cubicBezTo>
                    <a:pt x="6972808" y="0"/>
                    <a:pt x="7063613" y="90297"/>
                    <a:pt x="7063613" y="201930"/>
                  </a:cubicBezTo>
                  <a:lnTo>
                    <a:pt x="7044563" y="201930"/>
                  </a:lnTo>
                  <a:lnTo>
                    <a:pt x="7063613" y="201930"/>
                  </a:lnTo>
                  <a:lnTo>
                    <a:pt x="7063613" y="3935095"/>
                  </a:lnTo>
                  <a:lnTo>
                    <a:pt x="7044563" y="3935095"/>
                  </a:lnTo>
                  <a:lnTo>
                    <a:pt x="7063613" y="3935095"/>
                  </a:lnTo>
                  <a:cubicBezTo>
                    <a:pt x="7063613" y="4046728"/>
                    <a:pt x="6972808" y="4137025"/>
                    <a:pt x="6860921" y="4137025"/>
                  </a:cubicBezTo>
                  <a:lnTo>
                    <a:pt x="6860921" y="4117975"/>
                  </a:lnTo>
                  <a:lnTo>
                    <a:pt x="6860921" y="4137025"/>
                  </a:lnTo>
                  <a:lnTo>
                    <a:pt x="202692" y="4137025"/>
                  </a:lnTo>
                  <a:lnTo>
                    <a:pt x="202692" y="4117975"/>
                  </a:lnTo>
                  <a:lnTo>
                    <a:pt x="202692" y="4137025"/>
                  </a:lnTo>
                  <a:cubicBezTo>
                    <a:pt x="90805" y="4137025"/>
                    <a:pt x="0" y="4046728"/>
                    <a:pt x="0" y="393509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935095"/>
                  </a:lnTo>
                  <a:lnTo>
                    <a:pt x="19050" y="3935095"/>
                  </a:lnTo>
                  <a:lnTo>
                    <a:pt x="38100" y="3935095"/>
                  </a:lnTo>
                  <a:cubicBezTo>
                    <a:pt x="38100" y="4025519"/>
                    <a:pt x="111760" y="4098925"/>
                    <a:pt x="202692" y="4098925"/>
                  </a:cubicBezTo>
                  <a:lnTo>
                    <a:pt x="6860921" y="4098925"/>
                  </a:lnTo>
                  <a:cubicBezTo>
                    <a:pt x="6951852" y="4098925"/>
                    <a:pt x="7025513" y="4025519"/>
                    <a:pt x="7025513" y="3935095"/>
                  </a:cubicBezTo>
                  <a:lnTo>
                    <a:pt x="7025513" y="201930"/>
                  </a:lnTo>
                  <a:cubicBezTo>
                    <a:pt x="7025513" y="111506"/>
                    <a:pt x="6951852" y="38100"/>
                    <a:pt x="6860921" y="38100"/>
                  </a:cubicBezTo>
                  <a:lnTo>
                    <a:pt x="202692" y="38100"/>
                  </a:lnTo>
                  <a:lnTo>
                    <a:pt x="202692" y="19050"/>
                  </a:lnTo>
                  <a:lnTo>
                    <a:pt x="202692" y="38100"/>
                  </a:lnTo>
                  <a:cubicBezTo>
                    <a:pt x="111760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C5C7D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3663" y="2918822"/>
            <a:ext cx="114300" cy="3074194"/>
            <a:chOff x="0" y="0"/>
            <a:chExt cx="152400" cy="409892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52400" cy="4098925"/>
            </a:xfrm>
            <a:custGeom>
              <a:avLst/>
              <a:gdLst/>
              <a:ahLst/>
              <a:cxnLst/>
              <a:rect r="r" b="b" t="t" l="l"/>
              <a:pathLst>
                <a:path h="4098925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4098925"/>
                  </a:lnTo>
                  <a:lnTo>
                    <a:pt x="0" y="4098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8" r="0" b="-3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54484" y="3195342"/>
            <a:ext cx="321484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High Dimensionality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4484" y="3646141"/>
            <a:ext cx="4630341" cy="207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In high-dimensional spaces, distance metrics become less meaningful — a phenomenon known as the </a:t>
            </a:r>
            <a:r>
              <a:rPr lang="en-US" sz="19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curse of dimensionality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, making it harder to distinguish outliers.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95012" y="2904534"/>
            <a:ext cx="5297834" cy="3102769"/>
            <a:chOff x="0" y="0"/>
            <a:chExt cx="7063778" cy="41370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7025767" cy="4098925"/>
            </a:xfrm>
            <a:custGeom>
              <a:avLst/>
              <a:gdLst/>
              <a:ahLst/>
              <a:cxnLst/>
              <a:rect r="r" b="b" t="t" l="l"/>
              <a:pathLst>
                <a:path h="4098925" w="7025767">
                  <a:moveTo>
                    <a:pt x="0" y="182880"/>
                  </a:moveTo>
                  <a:cubicBezTo>
                    <a:pt x="0" y="81915"/>
                    <a:pt x="82169" y="0"/>
                    <a:pt x="183642" y="0"/>
                  </a:cubicBezTo>
                  <a:lnTo>
                    <a:pt x="6842125" y="0"/>
                  </a:lnTo>
                  <a:cubicBezTo>
                    <a:pt x="6943471" y="0"/>
                    <a:pt x="7025767" y="81915"/>
                    <a:pt x="7025767" y="182880"/>
                  </a:cubicBezTo>
                  <a:lnTo>
                    <a:pt x="7025767" y="3916045"/>
                  </a:lnTo>
                  <a:cubicBezTo>
                    <a:pt x="7025767" y="4017010"/>
                    <a:pt x="6943598" y="4098925"/>
                    <a:pt x="6842125" y="4098925"/>
                  </a:cubicBezTo>
                  <a:lnTo>
                    <a:pt x="183642" y="4098925"/>
                  </a:lnTo>
                  <a:cubicBezTo>
                    <a:pt x="82296" y="4098925"/>
                    <a:pt x="0" y="4017010"/>
                    <a:pt x="0" y="39160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63867" cy="4137025"/>
            </a:xfrm>
            <a:custGeom>
              <a:avLst/>
              <a:gdLst/>
              <a:ahLst/>
              <a:cxnLst/>
              <a:rect r="r" b="b" t="t" l="l"/>
              <a:pathLst>
                <a:path h="4137025" w="7063867">
                  <a:moveTo>
                    <a:pt x="0" y="201930"/>
                  </a:moveTo>
                  <a:cubicBezTo>
                    <a:pt x="0" y="90297"/>
                    <a:pt x="90805" y="0"/>
                    <a:pt x="202692" y="0"/>
                  </a:cubicBezTo>
                  <a:lnTo>
                    <a:pt x="6861175" y="0"/>
                  </a:lnTo>
                  <a:lnTo>
                    <a:pt x="6861175" y="19050"/>
                  </a:lnTo>
                  <a:lnTo>
                    <a:pt x="6861175" y="0"/>
                  </a:lnTo>
                  <a:cubicBezTo>
                    <a:pt x="6973062" y="0"/>
                    <a:pt x="7063867" y="90297"/>
                    <a:pt x="7063867" y="201930"/>
                  </a:cubicBezTo>
                  <a:lnTo>
                    <a:pt x="7044817" y="201930"/>
                  </a:lnTo>
                  <a:lnTo>
                    <a:pt x="7063867" y="201930"/>
                  </a:lnTo>
                  <a:lnTo>
                    <a:pt x="7063867" y="3935095"/>
                  </a:lnTo>
                  <a:lnTo>
                    <a:pt x="7044817" y="3935095"/>
                  </a:lnTo>
                  <a:lnTo>
                    <a:pt x="7063867" y="3935095"/>
                  </a:lnTo>
                  <a:cubicBezTo>
                    <a:pt x="7063867" y="4046728"/>
                    <a:pt x="6973062" y="4137025"/>
                    <a:pt x="6861175" y="4137025"/>
                  </a:cubicBezTo>
                  <a:lnTo>
                    <a:pt x="6861175" y="4117975"/>
                  </a:lnTo>
                  <a:lnTo>
                    <a:pt x="6861175" y="4137025"/>
                  </a:lnTo>
                  <a:lnTo>
                    <a:pt x="202692" y="4137025"/>
                  </a:lnTo>
                  <a:lnTo>
                    <a:pt x="202692" y="4117975"/>
                  </a:lnTo>
                  <a:lnTo>
                    <a:pt x="202692" y="4137025"/>
                  </a:lnTo>
                  <a:cubicBezTo>
                    <a:pt x="90805" y="4137025"/>
                    <a:pt x="0" y="4046728"/>
                    <a:pt x="0" y="393509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935095"/>
                  </a:lnTo>
                  <a:lnTo>
                    <a:pt x="19050" y="3935095"/>
                  </a:lnTo>
                  <a:lnTo>
                    <a:pt x="38100" y="3935095"/>
                  </a:lnTo>
                  <a:cubicBezTo>
                    <a:pt x="38100" y="4025519"/>
                    <a:pt x="111760" y="4098925"/>
                    <a:pt x="202692" y="4098925"/>
                  </a:cubicBezTo>
                  <a:lnTo>
                    <a:pt x="6861175" y="4098925"/>
                  </a:lnTo>
                  <a:cubicBezTo>
                    <a:pt x="6952107" y="4098925"/>
                    <a:pt x="7025767" y="4025519"/>
                    <a:pt x="7025767" y="3935095"/>
                  </a:cubicBezTo>
                  <a:lnTo>
                    <a:pt x="7025767" y="201930"/>
                  </a:lnTo>
                  <a:cubicBezTo>
                    <a:pt x="7025767" y="111506"/>
                    <a:pt x="6952107" y="38100"/>
                    <a:pt x="6861175" y="38100"/>
                  </a:cubicBezTo>
                  <a:lnTo>
                    <a:pt x="202692" y="38100"/>
                  </a:lnTo>
                  <a:lnTo>
                    <a:pt x="202692" y="19050"/>
                  </a:lnTo>
                  <a:lnTo>
                    <a:pt x="202692" y="38100"/>
                  </a:lnTo>
                  <a:cubicBezTo>
                    <a:pt x="111760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C5C7D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80724" y="2918822"/>
            <a:ext cx="114300" cy="3074194"/>
            <a:chOff x="0" y="0"/>
            <a:chExt cx="152400" cy="409892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52400" cy="4098925"/>
            </a:xfrm>
            <a:custGeom>
              <a:avLst/>
              <a:gdLst/>
              <a:ahLst/>
              <a:cxnLst/>
              <a:rect r="r" b="b" t="t" l="l"/>
              <a:pathLst>
                <a:path h="4098925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4098925"/>
                  </a:lnTo>
                  <a:lnTo>
                    <a:pt x="0" y="4098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8" r="0" b="-38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871545" y="3195342"/>
            <a:ext cx="3475282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Noise vs. True Outliers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71545" y="3646141"/>
            <a:ext cx="4630493" cy="207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Distinguishing between random noise and genuine anomalies is inherently difficult. Misclassification can lead to either false alarms or missed detections.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12216" y="2904534"/>
            <a:ext cx="5297691" cy="3102769"/>
            <a:chOff x="0" y="0"/>
            <a:chExt cx="7063588" cy="41370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050" y="19050"/>
              <a:ext cx="7025513" cy="4098925"/>
            </a:xfrm>
            <a:custGeom>
              <a:avLst/>
              <a:gdLst/>
              <a:ahLst/>
              <a:cxnLst/>
              <a:rect r="r" b="b" t="t" l="l"/>
              <a:pathLst>
                <a:path h="4098925" w="7025513">
                  <a:moveTo>
                    <a:pt x="0" y="182880"/>
                  </a:moveTo>
                  <a:cubicBezTo>
                    <a:pt x="0" y="81915"/>
                    <a:pt x="82169" y="0"/>
                    <a:pt x="183642" y="0"/>
                  </a:cubicBezTo>
                  <a:lnTo>
                    <a:pt x="6841871" y="0"/>
                  </a:lnTo>
                  <a:cubicBezTo>
                    <a:pt x="6943217" y="0"/>
                    <a:pt x="7025513" y="81915"/>
                    <a:pt x="7025513" y="182880"/>
                  </a:cubicBezTo>
                  <a:lnTo>
                    <a:pt x="7025513" y="3916045"/>
                  </a:lnTo>
                  <a:cubicBezTo>
                    <a:pt x="7025513" y="4017010"/>
                    <a:pt x="6943344" y="4098925"/>
                    <a:pt x="6841871" y="4098925"/>
                  </a:cubicBezTo>
                  <a:lnTo>
                    <a:pt x="183642" y="4098925"/>
                  </a:lnTo>
                  <a:cubicBezTo>
                    <a:pt x="82296" y="4098925"/>
                    <a:pt x="0" y="4017010"/>
                    <a:pt x="0" y="39160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63613" cy="4137025"/>
            </a:xfrm>
            <a:custGeom>
              <a:avLst/>
              <a:gdLst/>
              <a:ahLst/>
              <a:cxnLst/>
              <a:rect r="r" b="b" t="t" l="l"/>
              <a:pathLst>
                <a:path h="4137025" w="7063613">
                  <a:moveTo>
                    <a:pt x="0" y="201930"/>
                  </a:moveTo>
                  <a:cubicBezTo>
                    <a:pt x="0" y="90297"/>
                    <a:pt x="90805" y="0"/>
                    <a:pt x="202692" y="0"/>
                  </a:cubicBezTo>
                  <a:lnTo>
                    <a:pt x="6860921" y="0"/>
                  </a:lnTo>
                  <a:lnTo>
                    <a:pt x="6860921" y="19050"/>
                  </a:lnTo>
                  <a:lnTo>
                    <a:pt x="6860921" y="0"/>
                  </a:lnTo>
                  <a:cubicBezTo>
                    <a:pt x="6972808" y="0"/>
                    <a:pt x="7063613" y="90297"/>
                    <a:pt x="7063613" y="201930"/>
                  </a:cubicBezTo>
                  <a:lnTo>
                    <a:pt x="7044563" y="201930"/>
                  </a:lnTo>
                  <a:lnTo>
                    <a:pt x="7063613" y="201930"/>
                  </a:lnTo>
                  <a:lnTo>
                    <a:pt x="7063613" y="3935095"/>
                  </a:lnTo>
                  <a:lnTo>
                    <a:pt x="7044563" y="3935095"/>
                  </a:lnTo>
                  <a:lnTo>
                    <a:pt x="7063613" y="3935095"/>
                  </a:lnTo>
                  <a:cubicBezTo>
                    <a:pt x="7063613" y="4046728"/>
                    <a:pt x="6972808" y="4137025"/>
                    <a:pt x="6860921" y="4137025"/>
                  </a:cubicBezTo>
                  <a:lnTo>
                    <a:pt x="6860921" y="4117975"/>
                  </a:lnTo>
                  <a:lnTo>
                    <a:pt x="6860921" y="4137025"/>
                  </a:lnTo>
                  <a:lnTo>
                    <a:pt x="202692" y="4137025"/>
                  </a:lnTo>
                  <a:lnTo>
                    <a:pt x="202692" y="4117975"/>
                  </a:lnTo>
                  <a:lnTo>
                    <a:pt x="202692" y="4137025"/>
                  </a:lnTo>
                  <a:cubicBezTo>
                    <a:pt x="90805" y="4137025"/>
                    <a:pt x="0" y="4046728"/>
                    <a:pt x="0" y="393509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935095"/>
                  </a:lnTo>
                  <a:lnTo>
                    <a:pt x="19050" y="3935095"/>
                  </a:lnTo>
                  <a:lnTo>
                    <a:pt x="38100" y="3935095"/>
                  </a:lnTo>
                  <a:cubicBezTo>
                    <a:pt x="38100" y="4025519"/>
                    <a:pt x="111760" y="4098925"/>
                    <a:pt x="202692" y="4098925"/>
                  </a:cubicBezTo>
                  <a:lnTo>
                    <a:pt x="6860921" y="4098925"/>
                  </a:lnTo>
                  <a:cubicBezTo>
                    <a:pt x="6951852" y="4098925"/>
                    <a:pt x="7025513" y="4025519"/>
                    <a:pt x="7025513" y="3935095"/>
                  </a:cubicBezTo>
                  <a:lnTo>
                    <a:pt x="7025513" y="201930"/>
                  </a:lnTo>
                  <a:cubicBezTo>
                    <a:pt x="7025513" y="111506"/>
                    <a:pt x="6951852" y="38100"/>
                    <a:pt x="6860921" y="38100"/>
                  </a:cubicBezTo>
                  <a:lnTo>
                    <a:pt x="202692" y="38100"/>
                  </a:lnTo>
                  <a:lnTo>
                    <a:pt x="202692" y="19050"/>
                  </a:lnTo>
                  <a:lnTo>
                    <a:pt x="202692" y="38100"/>
                  </a:lnTo>
                  <a:cubicBezTo>
                    <a:pt x="111760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C5C7D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997928" y="2918822"/>
            <a:ext cx="114300" cy="3074194"/>
            <a:chOff x="0" y="0"/>
            <a:chExt cx="152400" cy="4098925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152400" cy="4098925"/>
            </a:xfrm>
            <a:custGeom>
              <a:avLst/>
              <a:gdLst/>
              <a:ahLst/>
              <a:cxnLst/>
              <a:rect r="r" b="b" t="t" l="l"/>
              <a:pathLst>
                <a:path h="4098925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4098925"/>
                  </a:lnTo>
                  <a:lnTo>
                    <a:pt x="0" y="4098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8" r="0" b="-38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388748" y="3195342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Class Imbalance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88748" y="3646141"/>
            <a:ext cx="4630341" cy="167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Outliers are, by definition, rare. This extreme imbalance skews model training and evaluation, often causing classifiers to ignore the minority class.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77951" y="6226673"/>
            <a:ext cx="5297691" cy="3102769"/>
            <a:chOff x="0" y="0"/>
            <a:chExt cx="7063588" cy="41370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9050" y="19050"/>
              <a:ext cx="7025513" cy="4098925"/>
            </a:xfrm>
            <a:custGeom>
              <a:avLst/>
              <a:gdLst/>
              <a:ahLst/>
              <a:cxnLst/>
              <a:rect r="r" b="b" t="t" l="l"/>
              <a:pathLst>
                <a:path h="4098925" w="7025513">
                  <a:moveTo>
                    <a:pt x="0" y="182880"/>
                  </a:moveTo>
                  <a:cubicBezTo>
                    <a:pt x="0" y="81915"/>
                    <a:pt x="82169" y="0"/>
                    <a:pt x="183642" y="0"/>
                  </a:cubicBezTo>
                  <a:lnTo>
                    <a:pt x="6841871" y="0"/>
                  </a:lnTo>
                  <a:cubicBezTo>
                    <a:pt x="6943217" y="0"/>
                    <a:pt x="7025513" y="81915"/>
                    <a:pt x="7025513" y="182880"/>
                  </a:cubicBezTo>
                  <a:lnTo>
                    <a:pt x="7025513" y="3916045"/>
                  </a:lnTo>
                  <a:cubicBezTo>
                    <a:pt x="7025513" y="4017010"/>
                    <a:pt x="6943344" y="4098925"/>
                    <a:pt x="6841871" y="4098925"/>
                  </a:cubicBezTo>
                  <a:lnTo>
                    <a:pt x="183642" y="4098925"/>
                  </a:lnTo>
                  <a:cubicBezTo>
                    <a:pt x="82296" y="4098925"/>
                    <a:pt x="0" y="4017010"/>
                    <a:pt x="0" y="39160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63613" cy="4137025"/>
            </a:xfrm>
            <a:custGeom>
              <a:avLst/>
              <a:gdLst/>
              <a:ahLst/>
              <a:cxnLst/>
              <a:rect r="r" b="b" t="t" l="l"/>
              <a:pathLst>
                <a:path h="4137025" w="7063613">
                  <a:moveTo>
                    <a:pt x="0" y="201930"/>
                  </a:moveTo>
                  <a:cubicBezTo>
                    <a:pt x="0" y="90297"/>
                    <a:pt x="90805" y="0"/>
                    <a:pt x="202692" y="0"/>
                  </a:cubicBezTo>
                  <a:lnTo>
                    <a:pt x="6860921" y="0"/>
                  </a:lnTo>
                  <a:lnTo>
                    <a:pt x="6860921" y="19050"/>
                  </a:lnTo>
                  <a:lnTo>
                    <a:pt x="6860921" y="0"/>
                  </a:lnTo>
                  <a:cubicBezTo>
                    <a:pt x="6972808" y="0"/>
                    <a:pt x="7063613" y="90297"/>
                    <a:pt x="7063613" y="201930"/>
                  </a:cubicBezTo>
                  <a:lnTo>
                    <a:pt x="7044563" y="201930"/>
                  </a:lnTo>
                  <a:lnTo>
                    <a:pt x="7063613" y="201930"/>
                  </a:lnTo>
                  <a:lnTo>
                    <a:pt x="7063613" y="3935095"/>
                  </a:lnTo>
                  <a:lnTo>
                    <a:pt x="7044563" y="3935095"/>
                  </a:lnTo>
                  <a:lnTo>
                    <a:pt x="7063613" y="3935095"/>
                  </a:lnTo>
                  <a:cubicBezTo>
                    <a:pt x="7063613" y="4046728"/>
                    <a:pt x="6972808" y="4137025"/>
                    <a:pt x="6860921" y="4137025"/>
                  </a:cubicBezTo>
                  <a:lnTo>
                    <a:pt x="6860921" y="4117975"/>
                  </a:lnTo>
                  <a:lnTo>
                    <a:pt x="6860921" y="4137025"/>
                  </a:lnTo>
                  <a:lnTo>
                    <a:pt x="202692" y="4137025"/>
                  </a:lnTo>
                  <a:lnTo>
                    <a:pt x="202692" y="4117975"/>
                  </a:lnTo>
                  <a:lnTo>
                    <a:pt x="202692" y="4137025"/>
                  </a:lnTo>
                  <a:cubicBezTo>
                    <a:pt x="90805" y="4137025"/>
                    <a:pt x="0" y="4046728"/>
                    <a:pt x="0" y="393509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935095"/>
                  </a:lnTo>
                  <a:lnTo>
                    <a:pt x="19050" y="3935095"/>
                  </a:lnTo>
                  <a:lnTo>
                    <a:pt x="38100" y="3935095"/>
                  </a:lnTo>
                  <a:cubicBezTo>
                    <a:pt x="38100" y="4025519"/>
                    <a:pt x="111760" y="4098925"/>
                    <a:pt x="202692" y="4098925"/>
                  </a:cubicBezTo>
                  <a:lnTo>
                    <a:pt x="6860921" y="4098925"/>
                  </a:lnTo>
                  <a:cubicBezTo>
                    <a:pt x="6951852" y="4098925"/>
                    <a:pt x="7025513" y="4025519"/>
                    <a:pt x="7025513" y="3935095"/>
                  </a:cubicBezTo>
                  <a:lnTo>
                    <a:pt x="7025513" y="201930"/>
                  </a:lnTo>
                  <a:cubicBezTo>
                    <a:pt x="7025513" y="111506"/>
                    <a:pt x="6951852" y="38100"/>
                    <a:pt x="6860921" y="38100"/>
                  </a:cubicBezTo>
                  <a:lnTo>
                    <a:pt x="202692" y="38100"/>
                  </a:lnTo>
                  <a:lnTo>
                    <a:pt x="202692" y="19050"/>
                  </a:lnTo>
                  <a:lnTo>
                    <a:pt x="202692" y="38100"/>
                  </a:lnTo>
                  <a:cubicBezTo>
                    <a:pt x="111760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C5C7D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3663" y="6240961"/>
            <a:ext cx="114300" cy="3074194"/>
            <a:chOff x="0" y="0"/>
            <a:chExt cx="152400" cy="4098925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52400" cy="4098925"/>
            </a:xfrm>
            <a:custGeom>
              <a:avLst/>
              <a:gdLst/>
              <a:ahLst/>
              <a:cxnLst/>
              <a:rect r="r" b="b" t="t" l="l"/>
              <a:pathLst>
                <a:path h="4098925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4098925"/>
                  </a:lnTo>
                  <a:lnTo>
                    <a:pt x="0" y="4098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8" r="0" b="-38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54484" y="6517481"/>
            <a:ext cx="3970582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Dynamic &amp; Evolving Data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4484" y="6968280"/>
            <a:ext cx="4630341" cy="167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In streaming or time-varying data, what is "normal" changes over time. Static models fail to adapt, requiring </a:t>
            </a:r>
            <a:r>
              <a:rPr lang="en-US" sz="19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online or incremental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detection methods.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495012" y="6226673"/>
            <a:ext cx="5297834" cy="3102769"/>
            <a:chOff x="0" y="0"/>
            <a:chExt cx="7063778" cy="41370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9050" y="19050"/>
              <a:ext cx="7025767" cy="4098925"/>
            </a:xfrm>
            <a:custGeom>
              <a:avLst/>
              <a:gdLst/>
              <a:ahLst/>
              <a:cxnLst/>
              <a:rect r="r" b="b" t="t" l="l"/>
              <a:pathLst>
                <a:path h="4098925" w="7025767">
                  <a:moveTo>
                    <a:pt x="0" y="182880"/>
                  </a:moveTo>
                  <a:cubicBezTo>
                    <a:pt x="0" y="81915"/>
                    <a:pt x="82169" y="0"/>
                    <a:pt x="183642" y="0"/>
                  </a:cubicBezTo>
                  <a:lnTo>
                    <a:pt x="6842125" y="0"/>
                  </a:lnTo>
                  <a:cubicBezTo>
                    <a:pt x="6943471" y="0"/>
                    <a:pt x="7025767" y="81915"/>
                    <a:pt x="7025767" y="182880"/>
                  </a:cubicBezTo>
                  <a:lnTo>
                    <a:pt x="7025767" y="3916045"/>
                  </a:lnTo>
                  <a:cubicBezTo>
                    <a:pt x="7025767" y="4017010"/>
                    <a:pt x="6943598" y="4098925"/>
                    <a:pt x="6842125" y="4098925"/>
                  </a:cubicBezTo>
                  <a:lnTo>
                    <a:pt x="183642" y="4098925"/>
                  </a:lnTo>
                  <a:cubicBezTo>
                    <a:pt x="82296" y="4098925"/>
                    <a:pt x="0" y="4017010"/>
                    <a:pt x="0" y="391604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63867" cy="4137025"/>
            </a:xfrm>
            <a:custGeom>
              <a:avLst/>
              <a:gdLst/>
              <a:ahLst/>
              <a:cxnLst/>
              <a:rect r="r" b="b" t="t" l="l"/>
              <a:pathLst>
                <a:path h="4137025" w="7063867">
                  <a:moveTo>
                    <a:pt x="0" y="201930"/>
                  </a:moveTo>
                  <a:cubicBezTo>
                    <a:pt x="0" y="90297"/>
                    <a:pt x="90805" y="0"/>
                    <a:pt x="202692" y="0"/>
                  </a:cubicBezTo>
                  <a:lnTo>
                    <a:pt x="6861175" y="0"/>
                  </a:lnTo>
                  <a:lnTo>
                    <a:pt x="6861175" y="19050"/>
                  </a:lnTo>
                  <a:lnTo>
                    <a:pt x="6861175" y="0"/>
                  </a:lnTo>
                  <a:cubicBezTo>
                    <a:pt x="6973062" y="0"/>
                    <a:pt x="7063867" y="90297"/>
                    <a:pt x="7063867" y="201930"/>
                  </a:cubicBezTo>
                  <a:lnTo>
                    <a:pt x="7044817" y="201930"/>
                  </a:lnTo>
                  <a:lnTo>
                    <a:pt x="7063867" y="201930"/>
                  </a:lnTo>
                  <a:lnTo>
                    <a:pt x="7063867" y="3935095"/>
                  </a:lnTo>
                  <a:lnTo>
                    <a:pt x="7044817" y="3935095"/>
                  </a:lnTo>
                  <a:lnTo>
                    <a:pt x="7063867" y="3935095"/>
                  </a:lnTo>
                  <a:cubicBezTo>
                    <a:pt x="7063867" y="4046728"/>
                    <a:pt x="6973062" y="4137025"/>
                    <a:pt x="6861175" y="4137025"/>
                  </a:cubicBezTo>
                  <a:lnTo>
                    <a:pt x="6861175" y="4117975"/>
                  </a:lnTo>
                  <a:lnTo>
                    <a:pt x="6861175" y="4137025"/>
                  </a:lnTo>
                  <a:lnTo>
                    <a:pt x="202692" y="4137025"/>
                  </a:lnTo>
                  <a:lnTo>
                    <a:pt x="202692" y="4117975"/>
                  </a:lnTo>
                  <a:lnTo>
                    <a:pt x="202692" y="4137025"/>
                  </a:lnTo>
                  <a:cubicBezTo>
                    <a:pt x="90805" y="4137025"/>
                    <a:pt x="0" y="4046728"/>
                    <a:pt x="0" y="393509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935095"/>
                  </a:lnTo>
                  <a:lnTo>
                    <a:pt x="19050" y="3935095"/>
                  </a:lnTo>
                  <a:lnTo>
                    <a:pt x="38100" y="3935095"/>
                  </a:lnTo>
                  <a:cubicBezTo>
                    <a:pt x="38100" y="4025519"/>
                    <a:pt x="111760" y="4098925"/>
                    <a:pt x="202692" y="4098925"/>
                  </a:cubicBezTo>
                  <a:lnTo>
                    <a:pt x="6861175" y="4098925"/>
                  </a:lnTo>
                  <a:cubicBezTo>
                    <a:pt x="6952107" y="4098925"/>
                    <a:pt x="7025767" y="4025519"/>
                    <a:pt x="7025767" y="3935095"/>
                  </a:cubicBezTo>
                  <a:lnTo>
                    <a:pt x="7025767" y="201930"/>
                  </a:lnTo>
                  <a:cubicBezTo>
                    <a:pt x="7025767" y="111506"/>
                    <a:pt x="6952107" y="38100"/>
                    <a:pt x="6861175" y="38100"/>
                  </a:cubicBezTo>
                  <a:lnTo>
                    <a:pt x="202692" y="38100"/>
                  </a:lnTo>
                  <a:lnTo>
                    <a:pt x="202692" y="19050"/>
                  </a:lnTo>
                  <a:lnTo>
                    <a:pt x="202692" y="38100"/>
                  </a:lnTo>
                  <a:cubicBezTo>
                    <a:pt x="111760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C5C7D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480724" y="6240961"/>
            <a:ext cx="114300" cy="3074194"/>
            <a:chOff x="0" y="0"/>
            <a:chExt cx="152400" cy="4098925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152400" cy="4098925"/>
            </a:xfrm>
            <a:custGeom>
              <a:avLst/>
              <a:gdLst/>
              <a:ahLst/>
              <a:cxnLst/>
              <a:rect r="r" b="b" t="t" l="l"/>
              <a:pathLst>
                <a:path h="4098925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4098925"/>
                  </a:lnTo>
                  <a:lnTo>
                    <a:pt x="0" y="4098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8" r="0" b="-38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6871545" y="6517481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Lack of Labels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71545" y="6968280"/>
            <a:ext cx="4630493" cy="207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Most real-world datasets lack labeled anomalies. Supervised methods become impractical, pushing practitioners toward unsupervised or semi-supervised approaches.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81610" y="558251"/>
            <a:ext cx="6967985" cy="61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Supervised Outlier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1610" y="1419225"/>
            <a:ext cx="14924780" cy="5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Supervised methods treat outlier detection as a </a:t>
            </a:r>
            <a:r>
              <a:rPr lang="en-US" sz="14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binary classification problem</a:t>
            </a: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, learning a decision boundary between normal and anomalous instances using labeled training data.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1610" y="2278704"/>
            <a:ext cx="2365772" cy="31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 It Works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1610" y="2699747"/>
            <a:ext cx="7231561" cy="93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062"/>
              </a:lnSpc>
              <a:buFont typeface="Arial"/>
              <a:buChar char="•"/>
            </a:pP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Requires </a:t>
            </a:r>
            <a:r>
              <a:rPr lang="en-US" b="true" sz="14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labeled data</a:t>
            </a: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with both normal and anomaly examples</a:t>
            </a:r>
          </a:p>
          <a:p>
            <a:pPr algn="l" marL="216793" indent="-108396" lvl="1">
              <a:lnSpc>
                <a:spcPts val="2062"/>
              </a:lnSpc>
              <a:buFont typeface="Arial"/>
              <a:buChar char="•"/>
            </a:pPr>
            <a:r>
              <a:rPr lang="en-US" sz="14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Model learns the boundary separating the two classes</a:t>
            </a:r>
          </a:p>
          <a:p>
            <a:pPr algn="l" marL="216793" indent="-108396" lvl="1">
              <a:lnSpc>
                <a:spcPts val="2062"/>
              </a:lnSpc>
              <a:buFont typeface="Arial"/>
              <a:buChar char="•"/>
            </a:pPr>
            <a:r>
              <a:rPr lang="en-US" sz="14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New data points are classified as normal or anomalous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1610" y="3764604"/>
            <a:ext cx="2528888" cy="31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Common Algorithms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1610" y="4185647"/>
            <a:ext cx="7231561" cy="93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062"/>
              </a:lnSpc>
              <a:buFont typeface="Arial"/>
              <a:buChar char="•"/>
            </a:pPr>
            <a:r>
              <a:rPr lang="en-US" b="true" sz="14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SVM</a:t>
            </a: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— finds optimal separating hyperplane</a:t>
            </a:r>
          </a:p>
          <a:p>
            <a:pPr algn="l" marL="216793" indent="-108396" lvl="1">
              <a:lnSpc>
                <a:spcPts val="2062"/>
              </a:lnSpc>
              <a:buFont typeface="Arial"/>
              <a:buChar char="•"/>
            </a:pPr>
            <a:r>
              <a:rPr lang="en-US" b="true" sz="14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Random Forest</a:t>
            </a: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— ensemble of decision trees</a:t>
            </a:r>
          </a:p>
          <a:p>
            <a:pPr algn="l" marL="216793" indent="-108396" lvl="1">
              <a:lnSpc>
                <a:spcPts val="2062"/>
              </a:lnSpc>
              <a:buFont typeface="Arial"/>
              <a:buChar char="•"/>
            </a:pPr>
            <a:r>
              <a:rPr lang="en-US" b="true" sz="143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Neural Networks</a:t>
            </a: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— learns complex non-linear boundaries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84354" y="2315766"/>
            <a:ext cx="7231561" cy="7231561"/>
            <a:chOff x="0" y="0"/>
            <a:chExt cx="9642081" cy="964208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642094" cy="9642094"/>
            </a:xfrm>
            <a:custGeom>
              <a:avLst/>
              <a:gdLst/>
              <a:ahLst/>
              <a:cxnLst/>
              <a:rect r="r" b="b" t="t" l="l"/>
              <a:pathLst>
                <a:path h="9642094" w="9642094">
                  <a:moveTo>
                    <a:pt x="0" y="0"/>
                  </a:moveTo>
                  <a:lnTo>
                    <a:pt x="9642094" y="0"/>
                  </a:lnTo>
                  <a:lnTo>
                    <a:pt x="9642094" y="9642094"/>
                  </a:lnTo>
                  <a:lnTo>
                    <a:pt x="0" y="9642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48695"/>
            <a:ext cx="14789201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Supervised Methods: Advantages &amp; Limitations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643635"/>
            <a:ext cx="16303523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Supervised approaches are powerful when labels are available, but they come with practical constraints that limit their applicability in many real-world scenarios.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3797503"/>
            <a:ext cx="16313048" cy="3305918"/>
            <a:chOff x="0" y="0"/>
            <a:chExt cx="21750731" cy="44078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21738082" cy="4395089"/>
            </a:xfrm>
            <a:custGeom>
              <a:avLst/>
              <a:gdLst/>
              <a:ahLst/>
              <a:cxnLst/>
              <a:rect r="r" b="b" t="t" l="l"/>
              <a:pathLst>
                <a:path h="4395089" w="21738082">
                  <a:moveTo>
                    <a:pt x="0" y="297688"/>
                  </a:moveTo>
                  <a:cubicBezTo>
                    <a:pt x="0" y="133350"/>
                    <a:pt x="133604" y="0"/>
                    <a:pt x="298450" y="0"/>
                  </a:cubicBezTo>
                  <a:lnTo>
                    <a:pt x="21439632" y="0"/>
                  </a:lnTo>
                  <a:cubicBezTo>
                    <a:pt x="21604478" y="0"/>
                    <a:pt x="21738082" y="133350"/>
                    <a:pt x="21738082" y="297688"/>
                  </a:cubicBezTo>
                  <a:lnTo>
                    <a:pt x="21738082" y="4097401"/>
                  </a:lnTo>
                  <a:cubicBezTo>
                    <a:pt x="21738082" y="4261866"/>
                    <a:pt x="21604478" y="4395089"/>
                    <a:pt x="21439632" y="4395089"/>
                  </a:cubicBezTo>
                  <a:lnTo>
                    <a:pt x="298450" y="4395089"/>
                  </a:lnTo>
                  <a:cubicBezTo>
                    <a:pt x="133604" y="4395089"/>
                    <a:pt x="0" y="4261739"/>
                    <a:pt x="0" y="4097401"/>
                  </a:cubicBezTo>
                  <a:close/>
                </a:path>
              </a:pathLst>
            </a:custGeom>
            <a:solidFill>
              <a:srgbClr val="EFF0F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50782" cy="4407789"/>
            </a:xfrm>
            <a:custGeom>
              <a:avLst/>
              <a:gdLst/>
              <a:ahLst/>
              <a:cxnLst/>
              <a:rect r="r" b="b" t="t" l="l"/>
              <a:pathLst>
                <a:path h="4407789" w="21750782">
                  <a:moveTo>
                    <a:pt x="0" y="304038"/>
                  </a:moveTo>
                  <a:cubicBezTo>
                    <a:pt x="0" y="136144"/>
                    <a:pt x="136525" y="0"/>
                    <a:pt x="304800" y="0"/>
                  </a:cubicBezTo>
                  <a:lnTo>
                    <a:pt x="21445982" y="0"/>
                  </a:lnTo>
                  <a:lnTo>
                    <a:pt x="21445982" y="6350"/>
                  </a:lnTo>
                  <a:lnTo>
                    <a:pt x="21445982" y="0"/>
                  </a:lnTo>
                  <a:cubicBezTo>
                    <a:pt x="21614257" y="0"/>
                    <a:pt x="21750782" y="136144"/>
                    <a:pt x="21750782" y="304038"/>
                  </a:cubicBezTo>
                  <a:lnTo>
                    <a:pt x="21744432" y="304038"/>
                  </a:lnTo>
                  <a:lnTo>
                    <a:pt x="21750782" y="304038"/>
                  </a:lnTo>
                  <a:lnTo>
                    <a:pt x="21750782" y="4103751"/>
                  </a:lnTo>
                  <a:lnTo>
                    <a:pt x="21744432" y="4103751"/>
                  </a:lnTo>
                  <a:lnTo>
                    <a:pt x="21750782" y="4103751"/>
                  </a:lnTo>
                  <a:cubicBezTo>
                    <a:pt x="21750782" y="4271645"/>
                    <a:pt x="21614257" y="4407789"/>
                    <a:pt x="21445982" y="4407789"/>
                  </a:cubicBezTo>
                  <a:lnTo>
                    <a:pt x="21445982" y="4401439"/>
                  </a:lnTo>
                  <a:lnTo>
                    <a:pt x="21445982" y="4407789"/>
                  </a:lnTo>
                  <a:lnTo>
                    <a:pt x="304800" y="4407789"/>
                  </a:lnTo>
                  <a:lnTo>
                    <a:pt x="304800" y="4401439"/>
                  </a:lnTo>
                  <a:lnTo>
                    <a:pt x="304800" y="4407789"/>
                  </a:lnTo>
                  <a:cubicBezTo>
                    <a:pt x="136525" y="4407789"/>
                    <a:pt x="0" y="4271645"/>
                    <a:pt x="0" y="4103751"/>
                  </a:cubicBezTo>
                  <a:lnTo>
                    <a:pt x="0" y="304038"/>
                  </a:lnTo>
                  <a:lnTo>
                    <a:pt x="6350" y="304038"/>
                  </a:lnTo>
                  <a:lnTo>
                    <a:pt x="0" y="304038"/>
                  </a:lnTo>
                  <a:moveTo>
                    <a:pt x="12700" y="304038"/>
                  </a:moveTo>
                  <a:lnTo>
                    <a:pt x="12700" y="4103751"/>
                  </a:lnTo>
                  <a:lnTo>
                    <a:pt x="6350" y="4103751"/>
                  </a:lnTo>
                  <a:lnTo>
                    <a:pt x="12700" y="4103751"/>
                  </a:lnTo>
                  <a:cubicBezTo>
                    <a:pt x="12700" y="4264660"/>
                    <a:pt x="143510" y="4395089"/>
                    <a:pt x="304800" y="4395089"/>
                  </a:cubicBezTo>
                  <a:lnTo>
                    <a:pt x="21445982" y="4395089"/>
                  </a:lnTo>
                  <a:cubicBezTo>
                    <a:pt x="21607272" y="4395089"/>
                    <a:pt x="21738082" y="4264660"/>
                    <a:pt x="21738082" y="4103751"/>
                  </a:cubicBezTo>
                  <a:lnTo>
                    <a:pt x="21738082" y="304038"/>
                  </a:lnTo>
                  <a:cubicBezTo>
                    <a:pt x="21738082" y="143129"/>
                    <a:pt x="21607272" y="12700"/>
                    <a:pt x="21445982" y="12700"/>
                  </a:cubicBezTo>
                  <a:lnTo>
                    <a:pt x="304800" y="12700"/>
                  </a:lnTo>
                  <a:lnTo>
                    <a:pt x="304800" y="6350"/>
                  </a:lnTo>
                  <a:lnTo>
                    <a:pt x="304800" y="12700"/>
                  </a:lnTo>
                  <a:cubicBezTo>
                    <a:pt x="143510" y="12700"/>
                    <a:pt x="12700" y="143129"/>
                    <a:pt x="12700" y="304038"/>
                  </a:cubicBezTo>
                  <a:close/>
                </a:path>
              </a:pathLst>
            </a:custGeom>
            <a:solidFill>
              <a:srgbClr val="C5C7D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1763" y="3811791"/>
            <a:ext cx="8142237" cy="3277343"/>
            <a:chOff x="0" y="0"/>
            <a:chExt cx="10856316" cy="4369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56341" cy="4369816"/>
            </a:xfrm>
            <a:custGeom>
              <a:avLst/>
              <a:gdLst/>
              <a:ahLst/>
              <a:cxnLst/>
              <a:rect r="r" b="b" t="t" l="l"/>
              <a:pathLst>
                <a:path h="4369816" w="10856341">
                  <a:moveTo>
                    <a:pt x="0" y="297688"/>
                  </a:moveTo>
                  <a:cubicBezTo>
                    <a:pt x="0" y="133350"/>
                    <a:pt x="133350" y="0"/>
                    <a:pt x="297688" y="0"/>
                  </a:cubicBezTo>
                  <a:lnTo>
                    <a:pt x="10558653" y="0"/>
                  </a:lnTo>
                  <a:cubicBezTo>
                    <a:pt x="10723118" y="0"/>
                    <a:pt x="10856341" y="133350"/>
                    <a:pt x="10856341" y="297688"/>
                  </a:cubicBezTo>
                  <a:lnTo>
                    <a:pt x="10856341" y="4072128"/>
                  </a:lnTo>
                  <a:cubicBezTo>
                    <a:pt x="10856341" y="4236593"/>
                    <a:pt x="10722991" y="4369816"/>
                    <a:pt x="10558653" y="4369816"/>
                  </a:cubicBezTo>
                  <a:lnTo>
                    <a:pt x="297688" y="4369816"/>
                  </a:lnTo>
                  <a:cubicBezTo>
                    <a:pt x="133350" y="4369816"/>
                    <a:pt x="0" y="4236466"/>
                    <a:pt x="0" y="4072128"/>
                  </a:cubicBezTo>
                  <a:close/>
                </a:path>
              </a:pathLst>
            </a:custGeom>
            <a:solidFill>
              <a:srgbClr val="EFF0F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49709" y="4059736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Advantages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9709" y="4510535"/>
            <a:ext cx="7646346" cy="193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b="true" sz="1937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High accuracy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when trained on quality labeled data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Capable of learning </a:t>
            </a:r>
            <a:r>
              <a:rPr lang="en-US" b="true" sz="1937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complex, non-linear patterns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Well-understood evaluation metrics (precision, recall, F1)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Directly optimizes for the detection task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0" y="3811791"/>
            <a:ext cx="8142237" cy="3277343"/>
            <a:chOff x="0" y="0"/>
            <a:chExt cx="10856316" cy="43697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6341" cy="4369816"/>
            </a:xfrm>
            <a:custGeom>
              <a:avLst/>
              <a:gdLst/>
              <a:ahLst/>
              <a:cxnLst/>
              <a:rect r="r" b="b" t="t" l="l"/>
              <a:pathLst>
                <a:path h="4369816" w="10856341">
                  <a:moveTo>
                    <a:pt x="0" y="0"/>
                  </a:moveTo>
                  <a:lnTo>
                    <a:pt x="10856341" y="0"/>
                  </a:lnTo>
                  <a:lnTo>
                    <a:pt x="10856341" y="4369816"/>
                  </a:lnTo>
                  <a:lnTo>
                    <a:pt x="0" y="4369816"/>
                  </a:lnTo>
                  <a:close/>
                </a:path>
              </a:pathLst>
            </a:custGeom>
            <a:solidFill>
              <a:srgbClr val="EFF0F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0" y="3811791"/>
            <a:ext cx="28575" cy="3277343"/>
            <a:chOff x="0" y="0"/>
            <a:chExt cx="38100" cy="43697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" cy="4369816"/>
            </a:xfrm>
            <a:custGeom>
              <a:avLst/>
              <a:gdLst/>
              <a:ahLst/>
              <a:cxnLst/>
              <a:rect r="r" b="b" t="t" l="l"/>
              <a:pathLst>
                <a:path h="436981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4350766"/>
                  </a:lnTo>
                  <a:cubicBezTo>
                    <a:pt x="38100" y="4361307"/>
                    <a:pt x="29591" y="4369816"/>
                    <a:pt x="19050" y="4369816"/>
                  </a:cubicBezTo>
                  <a:cubicBezTo>
                    <a:pt x="8509" y="4369816"/>
                    <a:pt x="0" y="4361307"/>
                    <a:pt x="0" y="4350766"/>
                  </a:cubicBezTo>
                  <a:close/>
                </a:path>
              </a:pathLst>
            </a:custGeom>
            <a:solidFill>
              <a:srgbClr val="C5C7D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391945" y="4059736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Limitations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91945" y="4510535"/>
            <a:ext cx="7646346" cy="2330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Requires a </a:t>
            </a:r>
            <a:r>
              <a:rPr lang="en-US" b="true" sz="1937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large labeled dataset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, which is costly to obtain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Anomaly labels are </a:t>
            </a:r>
            <a:r>
              <a:rPr lang="en-US" b="true" sz="1937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rare and expensive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to collect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Risk of </a:t>
            </a:r>
            <a:r>
              <a:rPr lang="en-US" b="true" sz="1937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overfitting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to known anomaly types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Poor generalization to </a:t>
            </a:r>
            <a:r>
              <a:rPr lang="en-US" b="true" sz="1937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novel anomaly patterns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not seen during training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7377703"/>
            <a:ext cx="16303523" cy="1450924"/>
            <a:chOff x="0" y="0"/>
            <a:chExt cx="21738031" cy="19345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37955" cy="1934591"/>
            </a:xfrm>
            <a:custGeom>
              <a:avLst/>
              <a:gdLst/>
              <a:ahLst/>
              <a:cxnLst/>
              <a:rect r="r" b="b" t="t" l="l"/>
              <a:pathLst>
                <a:path h="1934591" w="21737955">
                  <a:moveTo>
                    <a:pt x="0" y="297688"/>
                  </a:moveTo>
                  <a:cubicBezTo>
                    <a:pt x="0" y="133350"/>
                    <a:pt x="133350" y="0"/>
                    <a:pt x="297688" y="0"/>
                  </a:cubicBezTo>
                  <a:lnTo>
                    <a:pt x="21440267" y="0"/>
                  </a:lnTo>
                  <a:cubicBezTo>
                    <a:pt x="21604731" y="0"/>
                    <a:pt x="21737955" y="133350"/>
                    <a:pt x="21737955" y="297688"/>
                  </a:cubicBezTo>
                  <a:lnTo>
                    <a:pt x="21737955" y="1636903"/>
                  </a:lnTo>
                  <a:cubicBezTo>
                    <a:pt x="21737955" y="1801368"/>
                    <a:pt x="21604605" y="1934591"/>
                    <a:pt x="21440267" y="1934591"/>
                  </a:cubicBezTo>
                  <a:lnTo>
                    <a:pt x="297688" y="1934591"/>
                  </a:lnTo>
                  <a:cubicBezTo>
                    <a:pt x="133350" y="1934591"/>
                    <a:pt x="0" y="1801241"/>
                    <a:pt x="0" y="1636903"/>
                  </a:cubicBezTo>
                  <a:close/>
                </a:path>
              </a:pathLst>
            </a:custGeom>
            <a:solidFill>
              <a:srgbClr val="D0D2E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0184" y="7756322"/>
            <a:ext cx="310010" cy="247945"/>
            <a:chOff x="0" y="0"/>
            <a:chExt cx="413347" cy="330594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13385" cy="330581"/>
            </a:xfrm>
            <a:custGeom>
              <a:avLst/>
              <a:gdLst/>
              <a:ahLst/>
              <a:cxnLst/>
              <a:rect r="r" b="b" t="t" l="l"/>
              <a:pathLst>
                <a:path h="330581" w="413385">
                  <a:moveTo>
                    <a:pt x="0" y="0"/>
                  </a:moveTo>
                  <a:lnTo>
                    <a:pt x="413385" y="0"/>
                  </a:lnTo>
                  <a:lnTo>
                    <a:pt x="413385" y="330581"/>
                  </a:lnTo>
                  <a:lnTo>
                    <a:pt x="0" y="33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5" t="0" r="-749" b="-3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798139" y="7601845"/>
            <a:ext cx="15249677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Supervised methods work best in domains where historical anomaly records exist — such as known fraud patterns or documented equipment failures.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31069" y="1287513"/>
            <a:ext cx="9357274" cy="73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562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Unsupervised Outlier Detection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1069" y="2285257"/>
            <a:ext cx="9567862" cy="114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12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Unsupervised methods require </a:t>
            </a:r>
            <a:r>
              <a:rPr lang="en-US" sz="1812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no labeled data</a:t>
            </a:r>
            <a:r>
              <a:rPr lang="en-US" sz="1812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. They operate on the assumption that normal data occupies dense regions of the feature space, while outliers reside in sparse regions.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6306" y="3675612"/>
            <a:ext cx="4684214" cy="2432294"/>
            <a:chOff x="0" y="0"/>
            <a:chExt cx="6245619" cy="32430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6232906" cy="3230372"/>
            </a:xfrm>
            <a:custGeom>
              <a:avLst/>
              <a:gdLst/>
              <a:ahLst/>
              <a:cxnLst/>
              <a:rect r="r" b="b" t="t" l="l"/>
              <a:pathLst>
                <a:path h="3230372" w="6232906">
                  <a:moveTo>
                    <a:pt x="0" y="279400"/>
                  </a:moveTo>
                  <a:cubicBezTo>
                    <a:pt x="0" y="125095"/>
                    <a:pt x="125349" y="0"/>
                    <a:pt x="279908" y="0"/>
                  </a:cubicBezTo>
                  <a:lnTo>
                    <a:pt x="5952998" y="0"/>
                  </a:lnTo>
                  <a:cubicBezTo>
                    <a:pt x="6107557" y="0"/>
                    <a:pt x="6232906" y="125095"/>
                    <a:pt x="6232906" y="279400"/>
                  </a:cubicBezTo>
                  <a:lnTo>
                    <a:pt x="6232906" y="2950972"/>
                  </a:lnTo>
                  <a:cubicBezTo>
                    <a:pt x="6232906" y="3105277"/>
                    <a:pt x="6107557" y="3230372"/>
                    <a:pt x="5952998" y="3230372"/>
                  </a:cubicBezTo>
                  <a:lnTo>
                    <a:pt x="279908" y="3230372"/>
                  </a:lnTo>
                  <a:cubicBezTo>
                    <a:pt x="125349" y="3230372"/>
                    <a:pt x="0" y="3105277"/>
                    <a:pt x="0" y="2950972"/>
                  </a:cubicBezTo>
                  <a:close/>
                </a:path>
              </a:pathLst>
            </a:custGeom>
            <a:solidFill>
              <a:srgbClr val="EFF0F6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45606" cy="3243072"/>
            </a:xfrm>
            <a:custGeom>
              <a:avLst/>
              <a:gdLst/>
              <a:ahLst/>
              <a:cxnLst/>
              <a:rect r="r" b="b" t="t" l="l"/>
              <a:pathLst>
                <a:path h="3243072" w="6245606">
                  <a:moveTo>
                    <a:pt x="0" y="285750"/>
                  </a:moveTo>
                  <a:cubicBezTo>
                    <a:pt x="0" y="127889"/>
                    <a:pt x="128143" y="0"/>
                    <a:pt x="286258" y="0"/>
                  </a:cubicBezTo>
                  <a:lnTo>
                    <a:pt x="5959348" y="0"/>
                  </a:lnTo>
                  <a:lnTo>
                    <a:pt x="5959348" y="6350"/>
                  </a:lnTo>
                  <a:lnTo>
                    <a:pt x="5959348" y="0"/>
                  </a:lnTo>
                  <a:cubicBezTo>
                    <a:pt x="6117463" y="0"/>
                    <a:pt x="6245606" y="127889"/>
                    <a:pt x="6245606" y="285750"/>
                  </a:cubicBezTo>
                  <a:lnTo>
                    <a:pt x="6239256" y="285750"/>
                  </a:lnTo>
                  <a:lnTo>
                    <a:pt x="6245606" y="285750"/>
                  </a:lnTo>
                  <a:lnTo>
                    <a:pt x="6245606" y="2957322"/>
                  </a:lnTo>
                  <a:lnTo>
                    <a:pt x="6239256" y="2957322"/>
                  </a:lnTo>
                  <a:lnTo>
                    <a:pt x="6245606" y="2957322"/>
                  </a:lnTo>
                  <a:cubicBezTo>
                    <a:pt x="6245606" y="3115183"/>
                    <a:pt x="6117463" y="3243072"/>
                    <a:pt x="5959348" y="3243072"/>
                  </a:cubicBezTo>
                  <a:lnTo>
                    <a:pt x="5959348" y="3236722"/>
                  </a:lnTo>
                  <a:lnTo>
                    <a:pt x="5959348" y="3243072"/>
                  </a:lnTo>
                  <a:lnTo>
                    <a:pt x="286258" y="3243072"/>
                  </a:lnTo>
                  <a:lnTo>
                    <a:pt x="286258" y="3236722"/>
                  </a:lnTo>
                  <a:lnTo>
                    <a:pt x="286258" y="3243072"/>
                  </a:lnTo>
                  <a:cubicBezTo>
                    <a:pt x="128143" y="3243072"/>
                    <a:pt x="0" y="3115183"/>
                    <a:pt x="0" y="2957322"/>
                  </a:cubicBezTo>
                  <a:lnTo>
                    <a:pt x="0" y="285750"/>
                  </a:lnTo>
                  <a:lnTo>
                    <a:pt x="6350" y="285750"/>
                  </a:lnTo>
                  <a:lnTo>
                    <a:pt x="0" y="285750"/>
                  </a:lnTo>
                  <a:moveTo>
                    <a:pt x="12700" y="285750"/>
                  </a:moveTo>
                  <a:lnTo>
                    <a:pt x="12700" y="2957322"/>
                  </a:lnTo>
                  <a:lnTo>
                    <a:pt x="6350" y="2957322"/>
                  </a:lnTo>
                  <a:lnTo>
                    <a:pt x="12700" y="2957322"/>
                  </a:lnTo>
                  <a:cubicBezTo>
                    <a:pt x="12700" y="3108071"/>
                    <a:pt x="135128" y="3230372"/>
                    <a:pt x="286258" y="3230372"/>
                  </a:cubicBezTo>
                  <a:lnTo>
                    <a:pt x="5959348" y="3230372"/>
                  </a:lnTo>
                  <a:cubicBezTo>
                    <a:pt x="6110478" y="3230372"/>
                    <a:pt x="6232906" y="3108071"/>
                    <a:pt x="6232906" y="2957322"/>
                  </a:cubicBezTo>
                  <a:lnTo>
                    <a:pt x="6232906" y="285750"/>
                  </a:lnTo>
                  <a:cubicBezTo>
                    <a:pt x="6232906" y="135001"/>
                    <a:pt x="6110478" y="12700"/>
                    <a:pt x="5959348" y="12700"/>
                  </a:cubicBezTo>
                  <a:lnTo>
                    <a:pt x="286258" y="12700"/>
                  </a:lnTo>
                  <a:lnTo>
                    <a:pt x="286258" y="6350"/>
                  </a:lnTo>
                  <a:lnTo>
                    <a:pt x="286258" y="12700"/>
                  </a:lnTo>
                  <a:cubicBezTo>
                    <a:pt x="135128" y="12700"/>
                    <a:pt x="12700" y="135001"/>
                    <a:pt x="12700" y="285750"/>
                  </a:cubicBezTo>
                  <a:close/>
                </a:path>
              </a:pathLst>
            </a:custGeom>
            <a:solidFill>
              <a:srgbClr val="C5C7D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73366" y="3903612"/>
            <a:ext cx="2909735" cy="38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K-Means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3366" y="4350544"/>
            <a:ext cx="4190105" cy="114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12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Points </a:t>
            </a:r>
            <a:r>
              <a:rPr lang="en-US" sz="1812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far from their cluster centroid</a:t>
            </a:r>
            <a:r>
              <a:rPr lang="en-US" sz="1812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are flagged as outliers. Simple and fast, but assumes spherical clusters.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19327" y="3675612"/>
            <a:ext cx="4684366" cy="2432294"/>
            <a:chOff x="0" y="0"/>
            <a:chExt cx="6245822" cy="32430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6233160" cy="3230372"/>
            </a:xfrm>
            <a:custGeom>
              <a:avLst/>
              <a:gdLst/>
              <a:ahLst/>
              <a:cxnLst/>
              <a:rect r="r" b="b" t="t" l="l"/>
              <a:pathLst>
                <a:path h="3230372" w="6233160">
                  <a:moveTo>
                    <a:pt x="0" y="279400"/>
                  </a:moveTo>
                  <a:cubicBezTo>
                    <a:pt x="0" y="125095"/>
                    <a:pt x="125349" y="0"/>
                    <a:pt x="279908" y="0"/>
                  </a:cubicBezTo>
                  <a:lnTo>
                    <a:pt x="5953252" y="0"/>
                  </a:lnTo>
                  <a:cubicBezTo>
                    <a:pt x="6107811" y="0"/>
                    <a:pt x="6233160" y="125095"/>
                    <a:pt x="6233160" y="279400"/>
                  </a:cubicBezTo>
                  <a:lnTo>
                    <a:pt x="6233160" y="2950972"/>
                  </a:lnTo>
                  <a:cubicBezTo>
                    <a:pt x="6233160" y="3105277"/>
                    <a:pt x="6107811" y="3230372"/>
                    <a:pt x="5953252" y="3230372"/>
                  </a:cubicBezTo>
                  <a:lnTo>
                    <a:pt x="279908" y="3230372"/>
                  </a:lnTo>
                  <a:cubicBezTo>
                    <a:pt x="125349" y="3230372"/>
                    <a:pt x="0" y="3105277"/>
                    <a:pt x="0" y="2950972"/>
                  </a:cubicBezTo>
                  <a:close/>
                </a:path>
              </a:pathLst>
            </a:custGeom>
            <a:solidFill>
              <a:srgbClr val="EFF0F6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45860" cy="3243072"/>
            </a:xfrm>
            <a:custGeom>
              <a:avLst/>
              <a:gdLst/>
              <a:ahLst/>
              <a:cxnLst/>
              <a:rect r="r" b="b" t="t" l="l"/>
              <a:pathLst>
                <a:path h="3243072" w="6245860">
                  <a:moveTo>
                    <a:pt x="0" y="285750"/>
                  </a:moveTo>
                  <a:cubicBezTo>
                    <a:pt x="0" y="127889"/>
                    <a:pt x="128143" y="0"/>
                    <a:pt x="286258" y="0"/>
                  </a:cubicBezTo>
                  <a:lnTo>
                    <a:pt x="5959602" y="0"/>
                  </a:lnTo>
                  <a:lnTo>
                    <a:pt x="5959602" y="6350"/>
                  </a:lnTo>
                  <a:lnTo>
                    <a:pt x="5959602" y="0"/>
                  </a:lnTo>
                  <a:cubicBezTo>
                    <a:pt x="6117717" y="0"/>
                    <a:pt x="6245860" y="127889"/>
                    <a:pt x="6245860" y="285750"/>
                  </a:cubicBezTo>
                  <a:lnTo>
                    <a:pt x="6239510" y="285750"/>
                  </a:lnTo>
                  <a:lnTo>
                    <a:pt x="6245860" y="285750"/>
                  </a:lnTo>
                  <a:lnTo>
                    <a:pt x="6245860" y="2957322"/>
                  </a:lnTo>
                  <a:lnTo>
                    <a:pt x="6239510" y="2957322"/>
                  </a:lnTo>
                  <a:lnTo>
                    <a:pt x="6245860" y="2957322"/>
                  </a:lnTo>
                  <a:cubicBezTo>
                    <a:pt x="6245860" y="3115183"/>
                    <a:pt x="6117717" y="3243072"/>
                    <a:pt x="5959602" y="3243072"/>
                  </a:cubicBezTo>
                  <a:lnTo>
                    <a:pt x="5959602" y="3236722"/>
                  </a:lnTo>
                  <a:lnTo>
                    <a:pt x="5959602" y="3243072"/>
                  </a:lnTo>
                  <a:lnTo>
                    <a:pt x="286258" y="3243072"/>
                  </a:lnTo>
                  <a:lnTo>
                    <a:pt x="286258" y="3236722"/>
                  </a:lnTo>
                  <a:lnTo>
                    <a:pt x="286258" y="3243072"/>
                  </a:lnTo>
                  <a:cubicBezTo>
                    <a:pt x="128143" y="3243072"/>
                    <a:pt x="0" y="3115183"/>
                    <a:pt x="0" y="2957322"/>
                  </a:cubicBezTo>
                  <a:lnTo>
                    <a:pt x="0" y="285750"/>
                  </a:lnTo>
                  <a:lnTo>
                    <a:pt x="6350" y="285750"/>
                  </a:lnTo>
                  <a:lnTo>
                    <a:pt x="0" y="285750"/>
                  </a:lnTo>
                  <a:moveTo>
                    <a:pt x="12700" y="285750"/>
                  </a:moveTo>
                  <a:lnTo>
                    <a:pt x="12700" y="2957322"/>
                  </a:lnTo>
                  <a:lnTo>
                    <a:pt x="6350" y="2957322"/>
                  </a:lnTo>
                  <a:lnTo>
                    <a:pt x="12700" y="2957322"/>
                  </a:lnTo>
                  <a:cubicBezTo>
                    <a:pt x="12700" y="3108071"/>
                    <a:pt x="135128" y="3230372"/>
                    <a:pt x="286258" y="3230372"/>
                  </a:cubicBezTo>
                  <a:lnTo>
                    <a:pt x="5959602" y="3230372"/>
                  </a:lnTo>
                  <a:cubicBezTo>
                    <a:pt x="6110732" y="3230372"/>
                    <a:pt x="6233160" y="3108071"/>
                    <a:pt x="6233160" y="2957322"/>
                  </a:cubicBezTo>
                  <a:lnTo>
                    <a:pt x="6233160" y="285750"/>
                  </a:lnTo>
                  <a:cubicBezTo>
                    <a:pt x="6233160" y="135001"/>
                    <a:pt x="6110732" y="12700"/>
                    <a:pt x="5959602" y="12700"/>
                  </a:cubicBezTo>
                  <a:lnTo>
                    <a:pt x="286258" y="12700"/>
                  </a:lnTo>
                  <a:lnTo>
                    <a:pt x="286258" y="6350"/>
                  </a:lnTo>
                  <a:lnTo>
                    <a:pt x="286258" y="12700"/>
                  </a:lnTo>
                  <a:cubicBezTo>
                    <a:pt x="135128" y="12700"/>
                    <a:pt x="12700" y="135001"/>
                    <a:pt x="12700" y="285750"/>
                  </a:cubicBezTo>
                  <a:close/>
                </a:path>
              </a:pathLst>
            </a:custGeom>
            <a:solidFill>
              <a:srgbClr val="C5C7D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066387" y="3903612"/>
            <a:ext cx="2909735" cy="38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DBSCAN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66387" y="4350544"/>
            <a:ext cx="4190257" cy="151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12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Identifies outliers as points in </a:t>
            </a:r>
            <a:r>
              <a:rPr lang="en-US" sz="1812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low-density regions</a:t>
            </a:r>
            <a:r>
              <a:rPr lang="en-US" sz="1812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that do not belong to any cluster. Handles arbitrary cluster shapes.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6306" y="6316713"/>
            <a:ext cx="9577388" cy="1710480"/>
            <a:chOff x="0" y="0"/>
            <a:chExt cx="12769850" cy="22806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12757150" cy="2267966"/>
            </a:xfrm>
            <a:custGeom>
              <a:avLst/>
              <a:gdLst/>
              <a:ahLst/>
              <a:cxnLst/>
              <a:rect r="r" b="b" t="t" l="l"/>
              <a:pathLst>
                <a:path h="2267966" w="12757150">
                  <a:moveTo>
                    <a:pt x="0" y="279400"/>
                  </a:moveTo>
                  <a:cubicBezTo>
                    <a:pt x="0" y="125095"/>
                    <a:pt x="125603" y="0"/>
                    <a:pt x="280670" y="0"/>
                  </a:cubicBezTo>
                  <a:lnTo>
                    <a:pt x="12476480" y="0"/>
                  </a:lnTo>
                  <a:cubicBezTo>
                    <a:pt x="12631420" y="0"/>
                    <a:pt x="12757150" y="125095"/>
                    <a:pt x="12757150" y="279400"/>
                  </a:cubicBezTo>
                  <a:lnTo>
                    <a:pt x="12757150" y="1988566"/>
                  </a:lnTo>
                  <a:cubicBezTo>
                    <a:pt x="12757150" y="2142871"/>
                    <a:pt x="12631548" y="2267966"/>
                    <a:pt x="12476480" y="2267966"/>
                  </a:cubicBezTo>
                  <a:lnTo>
                    <a:pt x="280670" y="2267966"/>
                  </a:lnTo>
                  <a:cubicBezTo>
                    <a:pt x="125730" y="2267966"/>
                    <a:pt x="0" y="2142871"/>
                    <a:pt x="0" y="1988566"/>
                  </a:cubicBezTo>
                  <a:close/>
                </a:path>
              </a:pathLst>
            </a:custGeom>
            <a:solidFill>
              <a:srgbClr val="EFF0F6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69850" cy="2280666"/>
            </a:xfrm>
            <a:custGeom>
              <a:avLst/>
              <a:gdLst/>
              <a:ahLst/>
              <a:cxnLst/>
              <a:rect r="r" b="b" t="t" l="l"/>
              <a:pathLst>
                <a:path h="2280666" w="12769850">
                  <a:moveTo>
                    <a:pt x="0" y="285750"/>
                  </a:moveTo>
                  <a:cubicBezTo>
                    <a:pt x="0" y="127889"/>
                    <a:pt x="128524" y="0"/>
                    <a:pt x="287020" y="0"/>
                  </a:cubicBezTo>
                  <a:lnTo>
                    <a:pt x="12482830" y="0"/>
                  </a:lnTo>
                  <a:lnTo>
                    <a:pt x="12482830" y="6350"/>
                  </a:lnTo>
                  <a:lnTo>
                    <a:pt x="12482830" y="0"/>
                  </a:lnTo>
                  <a:cubicBezTo>
                    <a:pt x="12641326" y="0"/>
                    <a:pt x="12769850" y="127889"/>
                    <a:pt x="12769850" y="285750"/>
                  </a:cubicBezTo>
                  <a:lnTo>
                    <a:pt x="12763500" y="285750"/>
                  </a:lnTo>
                  <a:lnTo>
                    <a:pt x="12769850" y="285750"/>
                  </a:lnTo>
                  <a:lnTo>
                    <a:pt x="12769850" y="1994916"/>
                  </a:lnTo>
                  <a:lnTo>
                    <a:pt x="12763500" y="1994916"/>
                  </a:lnTo>
                  <a:lnTo>
                    <a:pt x="12769850" y="1994916"/>
                  </a:lnTo>
                  <a:cubicBezTo>
                    <a:pt x="12769850" y="2152777"/>
                    <a:pt x="12641326" y="2280666"/>
                    <a:pt x="12482830" y="2280666"/>
                  </a:cubicBezTo>
                  <a:lnTo>
                    <a:pt x="12482830" y="2274316"/>
                  </a:lnTo>
                  <a:lnTo>
                    <a:pt x="12482830" y="2280666"/>
                  </a:lnTo>
                  <a:lnTo>
                    <a:pt x="287020" y="2280666"/>
                  </a:lnTo>
                  <a:lnTo>
                    <a:pt x="287020" y="2274316"/>
                  </a:lnTo>
                  <a:lnTo>
                    <a:pt x="287020" y="2280666"/>
                  </a:lnTo>
                  <a:cubicBezTo>
                    <a:pt x="128524" y="2280666"/>
                    <a:pt x="0" y="2152777"/>
                    <a:pt x="0" y="1994916"/>
                  </a:cubicBezTo>
                  <a:lnTo>
                    <a:pt x="0" y="285750"/>
                  </a:lnTo>
                  <a:lnTo>
                    <a:pt x="6350" y="285750"/>
                  </a:lnTo>
                  <a:lnTo>
                    <a:pt x="0" y="285750"/>
                  </a:lnTo>
                  <a:moveTo>
                    <a:pt x="12700" y="285750"/>
                  </a:moveTo>
                  <a:lnTo>
                    <a:pt x="12700" y="1994916"/>
                  </a:lnTo>
                  <a:lnTo>
                    <a:pt x="6350" y="1994916"/>
                  </a:lnTo>
                  <a:lnTo>
                    <a:pt x="12700" y="1994916"/>
                  </a:lnTo>
                  <a:cubicBezTo>
                    <a:pt x="12700" y="2145665"/>
                    <a:pt x="135509" y="2267966"/>
                    <a:pt x="287020" y="2267966"/>
                  </a:cubicBezTo>
                  <a:lnTo>
                    <a:pt x="12482830" y="2267966"/>
                  </a:lnTo>
                  <a:cubicBezTo>
                    <a:pt x="12634341" y="2267966"/>
                    <a:pt x="12757150" y="2145665"/>
                    <a:pt x="12757150" y="1994916"/>
                  </a:cubicBezTo>
                  <a:lnTo>
                    <a:pt x="12757150" y="285750"/>
                  </a:lnTo>
                  <a:cubicBezTo>
                    <a:pt x="12757150" y="135001"/>
                    <a:pt x="12634341" y="12700"/>
                    <a:pt x="12482830" y="12700"/>
                  </a:cubicBezTo>
                  <a:lnTo>
                    <a:pt x="287020" y="12700"/>
                  </a:lnTo>
                  <a:lnTo>
                    <a:pt x="287020" y="6350"/>
                  </a:lnTo>
                  <a:lnTo>
                    <a:pt x="287020" y="12700"/>
                  </a:lnTo>
                  <a:cubicBezTo>
                    <a:pt x="135509" y="12700"/>
                    <a:pt x="12700" y="135001"/>
                    <a:pt x="12700" y="285750"/>
                  </a:cubicBezTo>
                  <a:close/>
                </a:path>
              </a:pathLst>
            </a:custGeom>
            <a:solidFill>
              <a:srgbClr val="C5C7D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73366" y="6544713"/>
            <a:ext cx="2909735" cy="38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LOF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3366" y="6991645"/>
            <a:ext cx="9083278" cy="78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12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Local Outlier Factor</a:t>
            </a:r>
            <a:r>
              <a:rPr lang="en-US" sz="1812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measures local density deviation. A point is anomalous if its neighborhood is significantly sparser than its neighbors'.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1069" y="8201473"/>
            <a:ext cx="9567862" cy="78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12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Unsupervised methods are flexible and widely applicable, but typically achieve </a:t>
            </a:r>
            <a:r>
              <a:rPr lang="en-US" sz="1812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lower accuracy</a:t>
            </a:r>
            <a:r>
              <a:rPr lang="en-US" sz="1812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than supervised approaches and require careful hyperparameter tuning.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81610" y="558251"/>
            <a:ext cx="8307438" cy="61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Semi-supervised Outlier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1610" y="1419225"/>
            <a:ext cx="14924780" cy="5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Semi-supervised methods occupy a middle ground — they are trained </a:t>
            </a:r>
            <a:r>
              <a:rPr lang="en-US" sz="1437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exclusively on normal data</a:t>
            </a: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and flag any significant deviation as a potential anomaly. This is often the most practical approach in real-world settings.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5279" y="2153393"/>
            <a:ext cx="7504214" cy="7556297"/>
            <a:chOff x="0" y="0"/>
            <a:chExt cx="10005619" cy="100750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05568" cy="10075037"/>
            </a:xfrm>
            <a:custGeom>
              <a:avLst/>
              <a:gdLst/>
              <a:ahLst/>
              <a:cxnLst/>
              <a:rect r="r" b="b" t="t" l="l"/>
              <a:pathLst>
                <a:path h="10075037" w="10005568">
                  <a:moveTo>
                    <a:pt x="0" y="363347"/>
                  </a:moveTo>
                  <a:cubicBezTo>
                    <a:pt x="0" y="162687"/>
                    <a:pt x="162687" y="0"/>
                    <a:pt x="363347" y="0"/>
                  </a:cubicBezTo>
                  <a:lnTo>
                    <a:pt x="9642221" y="0"/>
                  </a:lnTo>
                  <a:cubicBezTo>
                    <a:pt x="9842881" y="0"/>
                    <a:pt x="10005568" y="162687"/>
                    <a:pt x="10005568" y="363347"/>
                  </a:cubicBezTo>
                  <a:lnTo>
                    <a:pt x="10005568" y="9711690"/>
                  </a:lnTo>
                  <a:cubicBezTo>
                    <a:pt x="10005568" y="9912350"/>
                    <a:pt x="9842881" y="10075037"/>
                    <a:pt x="9642221" y="10075037"/>
                  </a:cubicBezTo>
                  <a:lnTo>
                    <a:pt x="363347" y="10075037"/>
                  </a:lnTo>
                  <a:cubicBezTo>
                    <a:pt x="162687" y="10075037"/>
                    <a:pt x="0" y="9912350"/>
                    <a:pt x="0" y="9711690"/>
                  </a:cubicBezTo>
                  <a:close/>
                </a:path>
              </a:pathLst>
            </a:custGeom>
            <a:solidFill>
              <a:srgbClr val="C6C9D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34445" y="2278704"/>
            <a:ext cx="2365772" cy="31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Core Principle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34445" y="2699747"/>
            <a:ext cx="7125891" cy="838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The model learns a representation of </a:t>
            </a:r>
            <a:r>
              <a:rPr lang="en-US" sz="1437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normal behavior</a:t>
            </a: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. Anything that deviates sufficiently from this learned norm is treated as an outlier — no anomaly labels needed.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4445" y="3663706"/>
            <a:ext cx="2365772" cy="31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Algorithms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34445" y="4084739"/>
            <a:ext cx="7125891" cy="93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062"/>
              </a:lnSpc>
              <a:buFont typeface="Arial"/>
              <a:buChar char="•"/>
            </a:pPr>
            <a:r>
              <a:rPr lang="en-US" b="true" sz="1437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Isolation Forest</a:t>
            </a: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— isolates anomalies via random splits</a:t>
            </a:r>
          </a:p>
          <a:p>
            <a:pPr algn="l" marL="216793" indent="-108396" lvl="1">
              <a:lnSpc>
                <a:spcPts val="2062"/>
              </a:lnSpc>
              <a:buFont typeface="Arial"/>
              <a:buChar char="•"/>
            </a:pPr>
            <a:r>
              <a:rPr lang="en-US" b="true" sz="1437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One-Class SVM</a:t>
            </a: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— learns boundary around normal data</a:t>
            </a:r>
          </a:p>
          <a:p>
            <a:pPr algn="l" marL="216793" indent="-108396" lvl="1">
              <a:lnSpc>
                <a:spcPts val="2062"/>
              </a:lnSpc>
              <a:buFont typeface="Arial"/>
              <a:buChar char="•"/>
            </a:pPr>
            <a:r>
              <a:rPr lang="en-US" b="true" sz="1437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Autoencoders</a:t>
            </a:r>
            <a:r>
              <a:rPr lang="en-US" sz="14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— reconstructs normal data; high error = anomaly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84354" y="2315766"/>
            <a:ext cx="7231561" cy="7231561"/>
            <a:chOff x="0" y="0"/>
            <a:chExt cx="9642081" cy="9642081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642094" cy="9642094"/>
            </a:xfrm>
            <a:custGeom>
              <a:avLst/>
              <a:gdLst/>
              <a:ahLst/>
              <a:cxnLst/>
              <a:rect r="r" b="b" t="t" l="l"/>
              <a:pathLst>
                <a:path h="9642094" w="9642094">
                  <a:moveTo>
                    <a:pt x="0" y="0"/>
                  </a:moveTo>
                  <a:lnTo>
                    <a:pt x="9642094" y="0"/>
                  </a:lnTo>
                  <a:lnTo>
                    <a:pt x="9642094" y="9642094"/>
                  </a:lnTo>
                  <a:lnTo>
                    <a:pt x="0" y="9642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74454"/>
            <a:ext cx="12036323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Isolation Forest &amp; Method Comparison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979096"/>
            <a:ext cx="4996758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Isolation Forest — How It Works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529013"/>
            <a:ext cx="7849191" cy="127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Isolation Forest exploits the fact that anomalies are </a:t>
            </a:r>
            <a:r>
              <a:rPr lang="en-US" sz="1937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few and different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. By randomly splitting the data, outliers are isolated with </a:t>
            </a:r>
            <a:r>
              <a:rPr lang="en-US" sz="1937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fewer splits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, resulting in shorter path lengths in the isolation tree.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943027"/>
            <a:ext cx="7849191" cy="193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Randomly select a feature and split value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Build multiple isolation trees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Compute average path length per point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b="true" sz="1937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Shorter path → higher anomaly score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6096" y="2979096"/>
            <a:ext cx="3225698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Method Comparison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51334" y="3641084"/>
            <a:ext cx="7858716" cy="4787503"/>
            <a:chOff x="0" y="0"/>
            <a:chExt cx="10478287" cy="63833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78262" cy="6383274"/>
            </a:xfrm>
            <a:custGeom>
              <a:avLst/>
              <a:gdLst/>
              <a:ahLst/>
              <a:cxnLst/>
              <a:rect r="r" b="b" t="t" l="l"/>
              <a:pathLst>
                <a:path h="6383274" w="10478262">
                  <a:moveTo>
                    <a:pt x="0" y="304038"/>
                  </a:moveTo>
                  <a:cubicBezTo>
                    <a:pt x="0" y="136144"/>
                    <a:pt x="136271" y="0"/>
                    <a:pt x="304292" y="0"/>
                  </a:cubicBezTo>
                  <a:lnTo>
                    <a:pt x="10173970" y="0"/>
                  </a:lnTo>
                  <a:lnTo>
                    <a:pt x="10173970" y="6350"/>
                  </a:lnTo>
                  <a:lnTo>
                    <a:pt x="10173970" y="0"/>
                  </a:lnTo>
                  <a:cubicBezTo>
                    <a:pt x="10341990" y="0"/>
                    <a:pt x="10478262" y="136144"/>
                    <a:pt x="10478262" y="304038"/>
                  </a:cubicBezTo>
                  <a:lnTo>
                    <a:pt x="10471912" y="304038"/>
                  </a:lnTo>
                  <a:lnTo>
                    <a:pt x="10478262" y="304038"/>
                  </a:lnTo>
                  <a:lnTo>
                    <a:pt x="10478262" y="6079236"/>
                  </a:lnTo>
                  <a:lnTo>
                    <a:pt x="10471912" y="6079236"/>
                  </a:lnTo>
                  <a:lnTo>
                    <a:pt x="10478262" y="6079236"/>
                  </a:lnTo>
                  <a:cubicBezTo>
                    <a:pt x="10478262" y="6247130"/>
                    <a:pt x="10341990" y="6383274"/>
                    <a:pt x="10173970" y="6383274"/>
                  </a:cubicBezTo>
                  <a:lnTo>
                    <a:pt x="10173970" y="6376924"/>
                  </a:lnTo>
                  <a:lnTo>
                    <a:pt x="10173970" y="6383274"/>
                  </a:lnTo>
                  <a:lnTo>
                    <a:pt x="304292" y="6383274"/>
                  </a:lnTo>
                  <a:lnTo>
                    <a:pt x="304292" y="6376924"/>
                  </a:lnTo>
                  <a:lnTo>
                    <a:pt x="304292" y="6383274"/>
                  </a:lnTo>
                  <a:cubicBezTo>
                    <a:pt x="136271" y="6383401"/>
                    <a:pt x="0" y="6247257"/>
                    <a:pt x="0" y="6079236"/>
                  </a:cubicBezTo>
                  <a:lnTo>
                    <a:pt x="0" y="304038"/>
                  </a:lnTo>
                  <a:lnTo>
                    <a:pt x="6350" y="304038"/>
                  </a:lnTo>
                  <a:lnTo>
                    <a:pt x="0" y="304038"/>
                  </a:lnTo>
                  <a:moveTo>
                    <a:pt x="12700" y="304038"/>
                  </a:moveTo>
                  <a:lnTo>
                    <a:pt x="12700" y="6079236"/>
                  </a:lnTo>
                  <a:lnTo>
                    <a:pt x="6350" y="6079236"/>
                  </a:lnTo>
                  <a:lnTo>
                    <a:pt x="12700" y="6079236"/>
                  </a:lnTo>
                  <a:cubicBezTo>
                    <a:pt x="12700" y="6240145"/>
                    <a:pt x="143256" y="6370574"/>
                    <a:pt x="304292" y="6370574"/>
                  </a:cubicBezTo>
                  <a:lnTo>
                    <a:pt x="10173970" y="6370574"/>
                  </a:lnTo>
                  <a:cubicBezTo>
                    <a:pt x="10335006" y="6370574"/>
                    <a:pt x="10465562" y="6240145"/>
                    <a:pt x="10465562" y="6079236"/>
                  </a:cubicBezTo>
                  <a:lnTo>
                    <a:pt x="10465562" y="304038"/>
                  </a:lnTo>
                  <a:cubicBezTo>
                    <a:pt x="10465562" y="143129"/>
                    <a:pt x="10335006" y="12700"/>
                    <a:pt x="10173970" y="12700"/>
                  </a:cubicBezTo>
                  <a:lnTo>
                    <a:pt x="304292" y="12700"/>
                  </a:lnTo>
                  <a:lnTo>
                    <a:pt x="304292" y="6350"/>
                  </a:lnTo>
                  <a:lnTo>
                    <a:pt x="304292" y="12700"/>
                  </a:lnTo>
                  <a:cubicBezTo>
                    <a:pt x="143256" y="12700"/>
                    <a:pt x="12700" y="143129"/>
                    <a:pt x="12700" y="304038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65621" y="3655371"/>
            <a:ext cx="7830141" cy="1110558"/>
            <a:chOff x="0" y="0"/>
            <a:chExt cx="10440187" cy="14807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40162" cy="1480693"/>
            </a:xfrm>
            <a:custGeom>
              <a:avLst/>
              <a:gdLst/>
              <a:ahLst/>
              <a:cxnLst/>
              <a:rect r="r" b="b" t="t" l="l"/>
              <a:pathLst>
                <a:path h="1480693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1480693"/>
                  </a:lnTo>
                  <a:lnTo>
                    <a:pt x="0" y="148069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714014" y="3727999"/>
            <a:ext cx="1691726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Feature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11165" y="3727999"/>
            <a:ext cx="1373686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Supervised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90266" y="3727999"/>
            <a:ext cx="1373686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Unsupervised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69368" y="3727999"/>
            <a:ext cx="1378448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true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Semi-supervised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65621" y="4765919"/>
            <a:ext cx="7830141" cy="1110558"/>
            <a:chOff x="0" y="0"/>
            <a:chExt cx="10440187" cy="14807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40162" cy="1480693"/>
            </a:xfrm>
            <a:custGeom>
              <a:avLst/>
              <a:gdLst/>
              <a:ahLst/>
              <a:cxnLst/>
              <a:rect r="r" b="b" t="t" l="l"/>
              <a:pathLst>
                <a:path h="1480693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1480693"/>
                  </a:lnTo>
                  <a:lnTo>
                    <a:pt x="0" y="1480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714014" y="4838548"/>
            <a:ext cx="1691726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Data Required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11165" y="4838548"/>
            <a:ext cx="1373686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Labeled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90266" y="4838548"/>
            <a:ext cx="1373686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None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669368" y="4838548"/>
            <a:ext cx="1378448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Normal only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65621" y="5876477"/>
            <a:ext cx="7830141" cy="713632"/>
            <a:chOff x="0" y="0"/>
            <a:chExt cx="10440187" cy="9515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714014" y="5949105"/>
            <a:ext cx="1691726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Accuracy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11165" y="5949105"/>
            <a:ext cx="1373686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High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90266" y="5949105"/>
            <a:ext cx="1373686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Medium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669368" y="5949105"/>
            <a:ext cx="1378448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High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65621" y="6590109"/>
            <a:ext cx="7830141" cy="713632"/>
            <a:chOff x="0" y="0"/>
            <a:chExt cx="10440187" cy="9515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40162" cy="951484"/>
            </a:xfrm>
            <a:custGeom>
              <a:avLst/>
              <a:gdLst/>
              <a:ahLst/>
              <a:cxnLst/>
              <a:rect r="r" b="b" t="t" l="l"/>
              <a:pathLst>
                <a:path h="951484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951484"/>
                  </a:lnTo>
                  <a:lnTo>
                    <a:pt x="0" y="95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14014" y="6662737"/>
            <a:ext cx="1691726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Labeling Cost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11165" y="6662737"/>
            <a:ext cx="1373686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High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90266" y="6662737"/>
            <a:ext cx="1373686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Low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669368" y="6662737"/>
            <a:ext cx="1378448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Medium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465621" y="7303741"/>
            <a:ext cx="7830141" cy="1110558"/>
            <a:chOff x="0" y="0"/>
            <a:chExt cx="10440187" cy="14807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440162" cy="1480693"/>
            </a:xfrm>
            <a:custGeom>
              <a:avLst/>
              <a:gdLst/>
              <a:ahLst/>
              <a:cxnLst/>
              <a:rect r="r" b="b" t="t" l="l"/>
              <a:pathLst>
                <a:path h="1480693" w="10440162">
                  <a:moveTo>
                    <a:pt x="0" y="0"/>
                  </a:moveTo>
                  <a:lnTo>
                    <a:pt x="10440162" y="0"/>
                  </a:lnTo>
                  <a:lnTo>
                    <a:pt x="10440162" y="1480693"/>
                  </a:lnTo>
                  <a:lnTo>
                    <a:pt x="0" y="148069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714014" y="7376370"/>
            <a:ext cx="1691726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Best Use Case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911165" y="7376370"/>
            <a:ext cx="1373686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Known anomalies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790266" y="7376370"/>
            <a:ext cx="1373686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Unknown data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669368" y="7376370"/>
            <a:ext cx="1378448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Real-world systems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54316"/>
            <a:ext cx="10619784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Applications, Trends &amp;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558948"/>
            <a:ext cx="3792436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Real-World Applications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85259" y="3233290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5"/>
                </a:lnTo>
                <a:lnTo>
                  <a:pt x="0" y="3720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98291" y="3225698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Fraud Detection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98291" y="3775624"/>
            <a:ext cx="7043147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Identifying unusual transactions in banking and finance.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85259" y="4761909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6"/>
                </a:lnTo>
                <a:lnTo>
                  <a:pt x="0" y="372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98291" y="4754318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Cybersecurity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8291" y="5304234"/>
            <a:ext cx="7043147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Detecting intrusion attempts and network anomalies.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085259" y="6290520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5"/>
                </a:lnTo>
                <a:lnTo>
                  <a:pt x="0" y="3720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98291" y="6282928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Medical Diagnosis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98291" y="6832844"/>
            <a:ext cx="7043147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Flagging abnormal patient readings or imaging results.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85259" y="7819130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6" y="0"/>
                </a:lnTo>
                <a:lnTo>
                  <a:pt x="372066" y="372065"/>
                </a:lnTo>
                <a:lnTo>
                  <a:pt x="0" y="3720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98291" y="7811538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Industrial Faults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98291" y="8361464"/>
            <a:ext cx="7043147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Monitoring equipment for early signs of failure.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56096" y="2558948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7476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Emerging Trends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56096" y="3108874"/>
            <a:ext cx="7849191" cy="224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b="true" sz="1937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Deep Learning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— Autoencoders and GANs for complex, high-dimensional data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b="true" sz="1937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Big Data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— Scalable distributed anomaly detection frameworks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b="true" sz="1937">
                <a:solidFill>
                  <a:srgbClr val="3D3E44"/>
                </a:solidFill>
                <a:latin typeface="Inter Bold"/>
                <a:ea typeface="Inter Bold"/>
                <a:cs typeface="Inter Bold"/>
                <a:sym typeface="Inter Bold"/>
              </a:rPr>
              <a:t>Real-Time Systems</a:t>
            </a:r>
            <a:r>
              <a:rPr lang="en-US" sz="1937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— Streaming detection for IoT and live monitoring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56096" y="5631809"/>
            <a:ext cx="7849191" cy="2244776"/>
            <a:chOff x="0" y="0"/>
            <a:chExt cx="10465587" cy="29930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65562" cy="2993009"/>
            </a:xfrm>
            <a:custGeom>
              <a:avLst/>
              <a:gdLst/>
              <a:ahLst/>
              <a:cxnLst/>
              <a:rect r="r" b="b" t="t" l="l"/>
              <a:pathLst>
                <a:path h="2993009" w="10465562">
                  <a:moveTo>
                    <a:pt x="0" y="297688"/>
                  </a:moveTo>
                  <a:cubicBezTo>
                    <a:pt x="0" y="133350"/>
                    <a:pt x="133350" y="0"/>
                    <a:pt x="297688" y="0"/>
                  </a:cubicBezTo>
                  <a:lnTo>
                    <a:pt x="10167874" y="0"/>
                  </a:lnTo>
                  <a:cubicBezTo>
                    <a:pt x="10332339" y="0"/>
                    <a:pt x="10465562" y="133350"/>
                    <a:pt x="10465562" y="297688"/>
                  </a:cubicBezTo>
                  <a:lnTo>
                    <a:pt x="10465562" y="2695321"/>
                  </a:lnTo>
                  <a:cubicBezTo>
                    <a:pt x="10465562" y="2859786"/>
                    <a:pt x="10332212" y="2993009"/>
                    <a:pt x="10167874" y="2993009"/>
                  </a:cubicBezTo>
                  <a:lnTo>
                    <a:pt x="297688" y="2993009"/>
                  </a:lnTo>
                  <a:cubicBezTo>
                    <a:pt x="133350" y="2993009"/>
                    <a:pt x="0" y="2859786"/>
                    <a:pt x="0" y="2695321"/>
                  </a:cubicBezTo>
                  <a:close/>
                </a:path>
              </a:pathLst>
            </a:custGeom>
            <a:solidFill>
              <a:srgbClr val="D0D2E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704041" y="6010427"/>
            <a:ext cx="310010" cy="247945"/>
            <a:chOff x="0" y="0"/>
            <a:chExt cx="413347" cy="330594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413385" cy="330581"/>
            </a:xfrm>
            <a:custGeom>
              <a:avLst/>
              <a:gdLst/>
              <a:ahLst/>
              <a:cxnLst/>
              <a:rect r="r" b="b" t="t" l="l"/>
              <a:pathLst>
                <a:path h="330581" w="413385">
                  <a:moveTo>
                    <a:pt x="0" y="0"/>
                  </a:moveTo>
                  <a:lnTo>
                    <a:pt x="413385" y="0"/>
                  </a:lnTo>
                  <a:lnTo>
                    <a:pt x="413385" y="330581"/>
                  </a:lnTo>
                  <a:lnTo>
                    <a:pt x="0" y="33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55" t="0" r="-749" b="-3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61997" y="5855941"/>
            <a:ext cx="6795345" cy="167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Takeaway:</a:t>
            </a:r>
            <a:r>
              <a:rPr lang="en-US" sz="193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The choice of method depends on data availability, label quality, and the problem domain. Combining multiple approaches often yields the best results.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28573" y="1188375"/>
            <a:ext cx="6882527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  <a:p>
            <a:pPr algn="ctr">
              <a:lnSpc>
                <a:spcPts val="128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095078" y="5048250"/>
            <a:ext cx="12097844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BY: Jahanvi Srivastava(RA2311003011082)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DAHG5MYC2fA</dc:identifier>
  <dcterms:modified xsi:type="dcterms:W3CDTF">2011-08-01T06:04:30Z</dcterms:modified>
  <cp:revision>1</cp:revision>
  <dc:title>Outliers-Challenges-and-Detection-Methods.pptx</dc:title>
</cp:coreProperties>
</file>