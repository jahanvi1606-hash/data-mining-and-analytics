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Source Serif Pro Bold" charset="1" panose="02040803050405020204"/>
      <p:regular r:id="rId20"/>
    </p:embeddedFont>
    <p:embeddedFont>
      <p:font typeface="Source Sans 3" charset="1" panose="020B0303030403020204"/>
      <p:regular r:id="rId21"/>
    </p:embeddedFont>
    <p:embeddedFont>
      <p:font typeface="Source Sans 3 Bold" charset="1" panose="020B0303030403020204"/>
      <p:regular r:id="rId24"/>
    </p:embeddedFont>
    <p:embeddedFont>
      <p:font typeface="Canva Sans Bold" charset="1" panose="020B08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159" y="3771309"/>
            <a:ext cx="7854848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Market Basket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9" y="5382699"/>
            <a:ext cx="9335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Association Rule Mining in Data Mining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30786" y="871985"/>
            <a:ext cx="9368428" cy="176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What Is Market Basket Analysis?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0786" y="2982363"/>
            <a:ext cx="9368428" cy="195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Market Basket Analysis (MBA) is a data mining technique that examines customer purchasing behaviour to uncover relationships between items bought together. By analysing transactional data, it helps retailers understand buying patterns and make smarter business decisions.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6023" y="5259286"/>
            <a:ext cx="4548778" cy="2159498"/>
            <a:chOff x="0" y="0"/>
            <a:chExt cx="6065037" cy="28793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052312" cy="2866644"/>
            </a:xfrm>
            <a:custGeom>
              <a:avLst/>
              <a:gdLst/>
              <a:ahLst/>
              <a:cxnLst/>
              <a:rect r="r" b="b" t="t" l="l"/>
              <a:pathLst>
                <a:path h="2866644" w="6052312">
                  <a:moveTo>
                    <a:pt x="0" y="164973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5886958" y="0"/>
                  </a:lnTo>
                  <a:cubicBezTo>
                    <a:pt x="5978271" y="0"/>
                    <a:pt x="6052312" y="73787"/>
                    <a:pt x="6052312" y="164973"/>
                  </a:cubicBezTo>
                  <a:lnTo>
                    <a:pt x="6052312" y="2701671"/>
                  </a:lnTo>
                  <a:cubicBezTo>
                    <a:pt x="6052312" y="2792730"/>
                    <a:pt x="5978271" y="2866644"/>
                    <a:pt x="5886958" y="2866644"/>
                  </a:cubicBezTo>
                  <a:lnTo>
                    <a:pt x="165354" y="2866644"/>
                  </a:lnTo>
                  <a:cubicBezTo>
                    <a:pt x="74041" y="2866644"/>
                    <a:pt x="0" y="2792730"/>
                    <a:pt x="0" y="2701671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65012" cy="2879344"/>
            </a:xfrm>
            <a:custGeom>
              <a:avLst/>
              <a:gdLst/>
              <a:ahLst/>
              <a:cxnLst/>
              <a:rect r="r" b="b" t="t" l="l"/>
              <a:pathLst>
                <a:path h="2879344" w="6065012">
                  <a:moveTo>
                    <a:pt x="0" y="171323"/>
                  </a:moveTo>
                  <a:cubicBezTo>
                    <a:pt x="0" y="76708"/>
                    <a:pt x="76835" y="0"/>
                    <a:pt x="171704" y="0"/>
                  </a:cubicBezTo>
                  <a:lnTo>
                    <a:pt x="5893308" y="0"/>
                  </a:lnTo>
                  <a:lnTo>
                    <a:pt x="5893308" y="6350"/>
                  </a:lnTo>
                  <a:lnTo>
                    <a:pt x="5893308" y="0"/>
                  </a:lnTo>
                  <a:cubicBezTo>
                    <a:pt x="5988050" y="0"/>
                    <a:pt x="6065012" y="76708"/>
                    <a:pt x="6065012" y="171323"/>
                  </a:cubicBezTo>
                  <a:lnTo>
                    <a:pt x="6058662" y="171323"/>
                  </a:lnTo>
                  <a:lnTo>
                    <a:pt x="6065012" y="171323"/>
                  </a:lnTo>
                  <a:lnTo>
                    <a:pt x="6065012" y="2708021"/>
                  </a:lnTo>
                  <a:lnTo>
                    <a:pt x="6058662" y="2708021"/>
                  </a:lnTo>
                  <a:lnTo>
                    <a:pt x="6065012" y="2708021"/>
                  </a:lnTo>
                  <a:cubicBezTo>
                    <a:pt x="6065012" y="2802636"/>
                    <a:pt x="5988177" y="2879344"/>
                    <a:pt x="5893308" y="2879344"/>
                  </a:cubicBezTo>
                  <a:lnTo>
                    <a:pt x="5893308" y="2872994"/>
                  </a:lnTo>
                  <a:lnTo>
                    <a:pt x="5893308" y="2879344"/>
                  </a:lnTo>
                  <a:lnTo>
                    <a:pt x="171704" y="2879344"/>
                  </a:lnTo>
                  <a:lnTo>
                    <a:pt x="171704" y="2872994"/>
                  </a:lnTo>
                  <a:lnTo>
                    <a:pt x="171704" y="2879344"/>
                  </a:lnTo>
                  <a:cubicBezTo>
                    <a:pt x="76835" y="2879344"/>
                    <a:pt x="0" y="2802636"/>
                    <a:pt x="0" y="2708021"/>
                  </a:cubicBezTo>
                  <a:lnTo>
                    <a:pt x="0" y="171323"/>
                  </a:lnTo>
                  <a:lnTo>
                    <a:pt x="6350" y="171323"/>
                  </a:lnTo>
                  <a:lnTo>
                    <a:pt x="0" y="171323"/>
                  </a:lnTo>
                  <a:moveTo>
                    <a:pt x="12700" y="171323"/>
                  </a:moveTo>
                  <a:lnTo>
                    <a:pt x="12700" y="2708021"/>
                  </a:lnTo>
                  <a:lnTo>
                    <a:pt x="6350" y="2708021"/>
                  </a:lnTo>
                  <a:lnTo>
                    <a:pt x="12700" y="2708021"/>
                  </a:lnTo>
                  <a:cubicBezTo>
                    <a:pt x="12700" y="2795651"/>
                    <a:pt x="83820" y="2866644"/>
                    <a:pt x="171704" y="2866644"/>
                  </a:cubicBezTo>
                  <a:lnTo>
                    <a:pt x="5893308" y="2866644"/>
                  </a:lnTo>
                  <a:cubicBezTo>
                    <a:pt x="5981065" y="2866644"/>
                    <a:pt x="6052312" y="2795651"/>
                    <a:pt x="6052312" y="2708021"/>
                  </a:cubicBezTo>
                  <a:lnTo>
                    <a:pt x="6052312" y="171323"/>
                  </a:lnTo>
                  <a:cubicBezTo>
                    <a:pt x="6052312" y="83693"/>
                    <a:pt x="5981192" y="12700"/>
                    <a:pt x="5893308" y="12700"/>
                  </a:cubicBezTo>
                  <a:lnTo>
                    <a:pt x="171704" y="12700"/>
                  </a:lnTo>
                  <a:lnTo>
                    <a:pt x="171704" y="6350"/>
                  </a:lnTo>
                  <a:lnTo>
                    <a:pt x="171704" y="12700"/>
                  </a:lnTo>
                  <a:cubicBezTo>
                    <a:pt x="83820" y="12700"/>
                    <a:pt x="12700" y="83693"/>
                    <a:pt x="12700" y="171323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34843" y="5558580"/>
            <a:ext cx="3465166" cy="4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Transactional Data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4843" y="6089304"/>
            <a:ext cx="3931148" cy="102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Analyses records of customer purchases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55198" y="5259286"/>
            <a:ext cx="4548778" cy="2159498"/>
            <a:chOff x="0" y="0"/>
            <a:chExt cx="6065037" cy="28793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6052312" cy="2866644"/>
            </a:xfrm>
            <a:custGeom>
              <a:avLst/>
              <a:gdLst/>
              <a:ahLst/>
              <a:cxnLst/>
              <a:rect r="r" b="b" t="t" l="l"/>
              <a:pathLst>
                <a:path h="2866644" w="6052312">
                  <a:moveTo>
                    <a:pt x="0" y="164973"/>
                  </a:moveTo>
                  <a:cubicBezTo>
                    <a:pt x="0" y="73787"/>
                    <a:pt x="74041" y="0"/>
                    <a:pt x="165354" y="0"/>
                  </a:cubicBezTo>
                  <a:lnTo>
                    <a:pt x="5886958" y="0"/>
                  </a:lnTo>
                  <a:cubicBezTo>
                    <a:pt x="5978271" y="0"/>
                    <a:pt x="6052312" y="73787"/>
                    <a:pt x="6052312" y="164973"/>
                  </a:cubicBezTo>
                  <a:lnTo>
                    <a:pt x="6052312" y="2701671"/>
                  </a:lnTo>
                  <a:cubicBezTo>
                    <a:pt x="6052312" y="2792730"/>
                    <a:pt x="5978271" y="2866644"/>
                    <a:pt x="5886958" y="2866644"/>
                  </a:cubicBezTo>
                  <a:lnTo>
                    <a:pt x="165354" y="2866644"/>
                  </a:lnTo>
                  <a:cubicBezTo>
                    <a:pt x="74041" y="2866644"/>
                    <a:pt x="0" y="2792730"/>
                    <a:pt x="0" y="2701671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65012" cy="2879344"/>
            </a:xfrm>
            <a:custGeom>
              <a:avLst/>
              <a:gdLst/>
              <a:ahLst/>
              <a:cxnLst/>
              <a:rect r="r" b="b" t="t" l="l"/>
              <a:pathLst>
                <a:path h="2879344" w="6065012">
                  <a:moveTo>
                    <a:pt x="0" y="171323"/>
                  </a:moveTo>
                  <a:cubicBezTo>
                    <a:pt x="0" y="76708"/>
                    <a:pt x="76835" y="0"/>
                    <a:pt x="171704" y="0"/>
                  </a:cubicBezTo>
                  <a:lnTo>
                    <a:pt x="5893308" y="0"/>
                  </a:lnTo>
                  <a:lnTo>
                    <a:pt x="5893308" y="6350"/>
                  </a:lnTo>
                  <a:lnTo>
                    <a:pt x="5893308" y="0"/>
                  </a:lnTo>
                  <a:cubicBezTo>
                    <a:pt x="5988050" y="0"/>
                    <a:pt x="6065012" y="76708"/>
                    <a:pt x="6065012" y="171323"/>
                  </a:cubicBezTo>
                  <a:lnTo>
                    <a:pt x="6058662" y="171323"/>
                  </a:lnTo>
                  <a:lnTo>
                    <a:pt x="6065012" y="171323"/>
                  </a:lnTo>
                  <a:lnTo>
                    <a:pt x="6065012" y="2708021"/>
                  </a:lnTo>
                  <a:lnTo>
                    <a:pt x="6058662" y="2708021"/>
                  </a:lnTo>
                  <a:lnTo>
                    <a:pt x="6065012" y="2708021"/>
                  </a:lnTo>
                  <a:cubicBezTo>
                    <a:pt x="6065012" y="2802636"/>
                    <a:pt x="5988177" y="2879344"/>
                    <a:pt x="5893308" y="2879344"/>
                  </a:cubicBezTo>
                  <a:lnTo>
                    <a:pt x="5893308" y="2872994"/>
                  </a:lnTo>
                  <a:lnTo>
                    <a:pt x="5893308" y="2879344"/>
                  </a:lnTo>
                  <a:lnTo>
                    <a:pt x="171704" y="2879344"/>
                  </a:lnTo>
                  <a:lnTo>
                    <a:pt x="171704" y="2872994"/>
                  </a:lnTo>
                  <a:lnTo>
                    <a:pt x="171704" y="2879344"/>
                  </a:lnTo>
                  <a:cubicBezTo>
                    <a:pt x="76835" y="2879344"/>
                    <a:pt x="0" y="2802636"/>
                    <a:pt x="0" y="2708021"/>
                  </a:cubicBezTo>
                  <a:lnTo>
                    <a:pt x="0" y="171323"/>
                  </a:lnTo>
                  <a:lnTo>
                    <a:pt x="6350" y="171323"/>
                  </a:lnTo>
                  <a:lnTo>
                    <a:pt x="0" y="171323"/>
                  </a:lnTo>
                  <a:moveTo>
                    <a:pt x="12700" y="171323"/>
                  </a:moveTo>
                  <a:lnTo>
                    <a:pt x="12700" y="2708021"/>
                  </a:lnTo>
                  <a:lnTo>
                    <a:pt x="6350" y="2708021"/>
                  </a:lnTo>
                  <a:lnTo>
                    <a:pt x="12700" y="2708021"/>
                  </a:lnTo>
                  <a:cubicBezTo>
                    <a:pt x="12700" y="2795651"/>
                    <a:pt x="83820" y="2866644"/>
                    <a:pt x="171704" y="2866644"/>
                  </a:cubicBezTo>
                  <a:lnTo>
                    <a:pt x="5893308" y="2866644"/>
                  </a:lnTo>
                  <a:cubicBezTo>
                    <a:pt x="5981065" y="2866644"/>
                    <a:pt x="6052312" y="2795651"/>
                    <a:pt x="6052312" y="2708021"/>
                  </a:cubicBezTo>
                  <a:lnTo>
                    <a:pt x="6052312" y="171323"/>
                  </a:lnTo>
                  <a:cubicBezTo>
                    <a:pt x="6052312" y="83693"/>
                    <a:pt x="5981192" y="12700"/>
                    <a:pt x="5893308" y="12700"/>
                  </a:cubicBezTo>
                  <a:lnTo>
                    <a:pt x="171704" y="12700"/>
                  </a:lnTo>
                  <a:lnTo>
                    <a:pt x="171704" y="6350"/>
                  </a:lnTo>
                  <a:lnTo>
                    <a:pt x="171704" y="12700"/>
                  </a:lnTo>
                  <a:cubicBezTo>
                    <a:pt x="83820" y="12700"/>
                    <a:pt x="12700" y="83693"/>
                    <a:pt x="12700" y="171323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164018" y="5558580"/>
            <a:ext cx="3465166" cy="4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Pattern Discovery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64018" y="6089304"/>
            <a:ext cx="3931148" cy="102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Identifies which items are frequently bought together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6023" y="7699172"/>
            <a:ext cx="9377953" cy="1692031"/>
            <a:chOff x="0" y="0"/>
            <a:chExt cx="12503937" cy="22560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" y="6350"/>
              <a:ext cx="12491212" cy="2243328"/>
            </a:xfrm>
            <a:custGeom>
              <a:avLst/>
              <a:gdLst/>
              <a:ahLst/>
              <a:cxnLst/>
              <a:rect r="r" b="b" t="t" l="l"/>
              <a:pathLst>
                <a:path h="2243328" w="12491212">
                  <a:moveTo>
                    <a:pt x="0" y="164973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12325477" y="0"/>
                  </a:lnTo>
                  <a:cubicBezTo>
                    <a:pt x="12417044" y="0"/>
                    <a:pt x="12491212" y="73914"/>
                    <a:pt x="12491212" y="164973"/>
                  </a:cubicBezTo>
                  <a:lnTo>
                    <a:pt x="12491212" y="2078355"/>
                  </a:lnTo>
                  <a:cubicBezTo>
                    <a:pt x="12491212" y="2169414"/>
                    <a:pt x="12417044" y="2243328"/>
                    <a:pt x="12325477" y="2243328"/>
                  </a:cubicBezTo>
                  <a:lnTo>
                    <a:pt x="165735" y="2243328"/>
                  </a:lnTo>
                  <a:cubicBezTo>
                    <a:pt x="74168" y="2243328"/>
                    <a:pt x="0" y="2169541"/>
                    <a:pt x="0" y="2078355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503912" cy="2256028"/>
            </a:xfrm>
            <a:custGeom>
              <a:avLst/>
              <a:gdLst/>
              <a:ahLst/>
              <a:cxnLst/>
              <a:rect r="r" b="b" t="t" l="l"/>
              <a:pathLst>
                <a:path h="2256028" w="12503912">
                  <a:moveTo>
                    <a:pt x="0" y="171323"/>
                  </a:moveTo>
                  <a:cubicBezTo>
                    <a:pt x="0" y="76708"/>
                    <a:pt x="77089" y="0"/>
                    <a:pt x="172085" y="0"/>
                  </a:cubicBezTo>
                  <a:lnTo>
                    <a:pt x="12331827" y="0"/>
                  </a:lnTo>
                  <a:lnTo>
                    <a:pt x="12331827" y="6350"/>
                  </a:lnTo>
                  <a:lnTo>
                    <a:pt x="12331827" y="0"/>
                  </a:lnTo>
                  <a:cubicBezTo>
                    <a:pt x="12426823" y="0"/>
                    <a:pt x="12503912" y="76708"/>
                    <a:pt x="12503912" y="171323"/>
                  </a:cubicBezTo>
                  <a:lnTo>
                    <a:pt x="12497562" y="171323"/>
                  </a:lnTo>
                  <a:lnTo>
                    <a:pt x="12503912" y="171323"/>
                  </a:lnTo>
                  <a:lnTo>
                    <a:pt x="12503912" y="2084705"/>
                  </a:lnTo>
                  <a:lnTo>
                    <a:pt x="12497562" y="2084705"/>
                  </a:lnTo>
                  <a:lnTo>
                    <a:pt x="12503912" y="2084705"/>
                  </a:lnTo>
                  <a:cubicBezTo>
                    <a:pt x="12503912" y="2179320"/>
                    <a:pt x="12426823" y="2256028"/>
                    <a:pt x="12331827" y="2256028"/>
                  </a:cubicBezTo>
                  <a:lnTo>
                    <a:pt x="12331827" y="2249678"/>
                  </a:lnTo>
                  <a:lnTo>
                    <a:pt x="12331827" y="2256028"/>
                  </a:lnTo>
                  <a:lnTo>
                    <a:pt x="172085" y="2256028"/>
                  </a:lnTo>
                  <a:lnTo>
                    <a:pt x="172085" y="2249678"/>
                  </a:lnTo>
                  <a:lnTo>
                    <a:pt x="172085" y="2256028"/>
                  </a:lnTo>
                  <a:cubicBezTo>
                    <a:pt x="77089" y="2256028"/>
                    <a:pt x="0" y="2179320"/>
                    <a:pt x="0" y="2084705"/>
                  </a:cubicBezTo>
                  <a:lnTo>
                    <a:pt x="0" y="171323"/>
                  </a:lnTo>
                  <a:lnTo>
                    <a:pt x="6350" y="171323"/>
                  </a:lnTo>
                  <a:lnTo>
                    <a:pt x="0" y="171323"/>
                  </a:lnTo>
                  <a:moveTo>
                    <a:pt x="12700" y="171323"/>
                  </a:moveTo>
                  <a:lnTo>
                    <a:pt x="12700" y="2084705"/>
                  </a:lnTo>
                  <a:lnTo>
                    <a:pt x="6350" y="2084705"/>
                  </a:lnTo>
                  <a:lnTo>
                    <a:pt x="12700" y="2084705"/>
                  </a:lnTo>
                  <a:cubicBezTo>
                    <a:pt x="12700" y="2172208"/>
                    <a:pt x="84074" y="2243328"/>
                    <a:pt x="172085" y="2243328"/>
                  </a:cubicBezTo>
                  <a:lnTo>
                    <a:pt x="12331827" y="2243328"/>
                  </a:lnTo>
                  <a:cubicBezTo>
                    <a:pt x="12419838" y="2243328"/>
                    <a:pt x="12491212" y="2172335"/>
                    <a:pt x="12491212" y="2084705"/>
                  </a:cubicBezTo>
                  <a:lnTo>
                    <a:pt x="12491212" y="171323"/>
                  </a:lnTo>
                  <a:cubicBezTo>
                    <a:pt x="12491212" y="83693"/>
                    <a:pt x="12419965" y="12700"/>
                    <a:pt x="12331827" y="12700"/>
                  </a:cubicBezTo>
                  <a:lnTo>
                    <a:pt x="172085" y="12700"/>
                  </a:lnTo>
                  <a:lnTo>
                    <a:pt x="172085" y="6350"/>
                  </a:lnTo>
                  <a:lnTo>
                    <a:pt x="172085" y="12700"/>
                  </a:lnTo>
                  <a:cubicBezTo>
                    <a:pt x="84074" y="12700"/>
                    <a:pt x="12700" y="83693"/>
                    <a:pt x="12700" y="171323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34843" y="7998466"/>
            <a:ext cx="3465166" cy="4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Business Insight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4843" y="8529190"/>
            <a:ext cx="8760323" cy="55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Supports decisions on layout, promotions, and stock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30786" y="817216"/>
            <a:ext cx="6930476" cy="894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The Basic Concept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30786" y="2876998"/>
            <a:ext cx="10295630" cy="5834062"/>
            <a:chOff x="0" y="0"/>
            <a:chExt cx="13727506" cy="777875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727557" cy="7778750"/>
            </a:xfrm>
            <a:custGeom>
              <a:avLst/>
              <a:gdLst/>
              <a:ahLst/>
              <a:cxnLst/>
              <a:rect r="r" b="b" t="t" l="l"/>
              <a:pathLst>
                <a:path h="7778750" w="13727557">
                  <a:moveTo>
                    <a:pt x="0" y="0"/>
                  </a:moveTo>
                  <a:lnTo>
                    <a:pt x="13727557" y="0"/>
                  </a:lnTo>
                  <a:lnTo>
                    <a:pt x="13727557" y="7778750"/>
                  </a:lnTo>
                  <a:lnTo>
                    <a:pt x="0" y="777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" r="0" b="-3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54478" y="2322166"/>
            <a:ext cx="5212109" cy="289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MBA examines which items are frequently purchased together in a single transaction. Each transaction is referred to as a </a:t>
            </a:r>
            <a:r>
              <a:rPr lang="en-US" sz="2312" b="true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basket</a:t>
            </a: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. The goal is to discover hidden patterns that are not immediately obvious.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054478" y="5538788"/>
            <a:ext cx="5212109" cy="3576342"/>
            <a:chOff x="0" y="0"/>
            <a:chExt cx="6949478" cy="4768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9567" cy="4768469"/>
            </a:xfrm>
            <a:custGeom>
              <a:avLst/>
              <a:gdLst/>
              <a:ahLst/>
              <a:cxnLst/>
              <a:rect r="r" b="b" t="t" l="l"/>
              <a:pathLst>
                <a:path h="4768469" w="6949567">
                  <a:moveTo>
                    <a:pt x="0" y="164973"/>
                  </a:moveTo>
                  <a:cubicBezTo>
                    <a:pt x="0" y="73787"/>
                    <a:pt x="73787" y="0"/>
                    <a:pt x="164973" y="0"/>
                  </a:cubicBezTo>
                  <a:lnTo>
                    <a:pt x="6784594" y="0"/>
                  </a:lnTo>
                  <a:cubicBezTo>
                    <a:pt x="6875652" y="0"/>
                    <a:pt x="6949567" y="73787"/>
                    <a:pt x="6949567" y="164973"/>
                  </a:cubicBezTo>
                  <a:lnTo>
                    <a:pt x="6949567" y="4603496"/>
                  </a:lnTo>
                  <a:cubicBezTo>
                    <a:pt x="6949567" y="4694555"/>
                    <a:pt x="6875780" y="4768469"/>
                    <a:pt x="6784594" y="4768469"/>
                  </a:cubicBezTo>
                  <a:lnTo>
                    <a:pt x="164973" y="4768469"/>
                  </a:lnTo>
                  <a:cubicBezTo>
                    <a:pt x="73787" y="4768469"/>
                    <a:pt x="0" y="4694555"/>
                    <a:pt x="0" y="4603496"/>
                  </a:cubicBezTo>
                  <a:close/>
                </a:path>
              </a:pathLst>
            </a:custGeom>
            <a:solidFill>
              <a:srgbClr val="EFBE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9010" y="5972918"/>
            <a:ext cx="368056" cy="294532"/>
            <a:chOff x="0" y="0"/>
            <a:chExt cx="490741" cy="39270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90728" cy="392684"/>
            </a:xfrm>
            <a:custGeom>
              <a:avLst/>
              <a:gdLst/>
              <a:ahLst/>
              <a:cxnLst/>
              <a:rect r="r" b="b" t="t" l="l"/>
              <a:pathLst>
                <a:path h="392684" w="490728">
                  <a:moveTo>
                    <a:pt x="0" y="0"/>
                  </a:moveTo>
                  <a:lnTo>
                    <a:pt x="490728" y="0"/>
                  </a:lnTo>
                  <a:lnTo>
                    <a:pt x="490728" y="392684"/>
                  </a:lnTo>
                  <a:lnTo>
                    <a:pt x="0" y="392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9" t="0" r="-339" b="-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011598" y="5816498"/>
            <a:ext cx="3960466" cy="289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12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Classic Example:</a:t>
            </a:r>
            <a:r>
              <a:rPr lang="en-US" sz="2312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Customers who buy bread often also buy butter. This simple observation, when scaled across thousands of transactions, reveals powerful purchasing trends.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1282303"/>
            <a:ext cx="8278568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Association Rule Mining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2684564"/>
            <a:ext cx="16193691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Association Rule Mining is the core technique behind Market Basket Analysis. It searches large datasets to find relationships between variables and expresses them as rules of the form </a:t>
            </a:r>
            <a:r>
              <a:rPr lang="en-US" sz="2312" b="true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If X, then Y</a:t>
            </a: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545404" y="4073871"/>
            <a:ext cx="13197183" cy="3617709"/>
            <a:chOff x="0" y="0"/>
            <a:chExt cx="17596244" cy="482361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7596231" cy="4823587"/>
            </a:xfrm>
            <a:custGeom>
              <a:avLst/>
              <a:gdLst/>
              <a:ahLst/>
              <a:cxnLst/>
              <a:rect r="r" b="b" t="t" l="l"/>
              <a:pathLst>
                <a:path h="4823587" w="17596231">
                  <a:moveTo>
                    <a:pt x="0" y="0"/>
                  </a:moveTo>
                  <a:lnTo>
                    <a:pt x="17596231" y="0"/>
                  </a:lnTo>
                  <a:lnTo>
                    <a:pt x="17596231" y="4823587"/>
                  </a:lnTo>
                  <a:lnTo>
                    <a:pt x="0" y="4823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" r="0" b="-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554816" y="6444786"/>
            <a:ext cx="3428952" cy="43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Consequent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54816" y="4841634"/>
            <a:ext cx="3428952" cy="43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Antecedent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159" y="7932839"/>
            <a:ext cx="16193691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Example:</a:t>
            </a:r>
            <a:r>
              <a:rPr lang="en-US" sz="23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If a customer buys milk → they may also buy bread. These rules help retailers predict what customers are likely to purchase next.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32707" y="825846"/>
            <a:ext cx="6270422" cy="81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Key Terms to Know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8420" y="1979857"/>
            <a:ext cx="9593161" cy="1627432"/>
            <a:chOff x="0" y="0"/>
            <a:chExt cx="12790881" cy="21699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9050" y="19050"/>
              <a:ext cx="12752832" cy="2131822"/>
            </a:xfrm>
            <a:custGeom>
              <a:avLst/>
              <a:gdLst/>
              <a:ahLst/>
              <a:cxnLst/>
              <a:rect r="r" b="b" t="t" l="l"/>
              <a:pathLst>
                <a:path h="2131822" w="12752832">
                  <a:moveTo>
                    <a:pt x="0" y="149225"/>
                  </a:moveTo>
                  <a:cubicBezTo>
                    <a:pt x="0" y="66802"/>
                    <a:pt x="67818" y="0"/>
                    <a:pt x="151511" y="0"/>
                  </a:cubicBezTo>
                  <a:lnTo>
                    <a:pt x="12601321" y="0"/>
                  </a:lnTo>
                  <a:cubicBezTo>
                    <a:pt x="12685014" y="0"/>
                    <a:pt x="12752832" y="66802"/>
                    <a:pt x="12752832" y="149225"/>
                  </a:cubicBezTo>
                  <a:lnTo>
                    <a:pt x="12752832" y="1982597"/>
                  </a:lnTo>
                  <a:cubicBezTo>
                    <a:pt x="12752832" y="2065020"/>
                    <a:pt x="12685014" y="2131822"/>
                    <a:pt x="12601321" y="2131822"/>
                  </a:cubicBezTo>
                  <a:lnTo>
                    <a:pt x="151511" y="2131822"/>
                  </a:lnTo>
                  <a:cubicBezTo>
                    <a:pt x="67818" y="2131822"/>
                    <a:pt x="0" y="2065020"/>
                    <a:pt x="0" y="198259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90932" cy="2169922"/>
            </a:xfrm>
            <a:custGeom>
              <a:avLst/>
              <a:gdLst/>
              <a:ahLst/>
              <a:cxnLst/>
              <a:rect r="r" b="b" t="t" l="l"/>
              <a:pathLst>
                <a:path h="2169922" w="12790932">
                  <a:moveTo>
                    <a:pt x="0" y="168275"/>
                  </a:moveTo>
                  <a:cubicBezTo>
                    <a:pt x="0" y="75057"/>
                    <a:pt x="76581" y="0"/>
                    <a:pt x="170561" y="0"/>
                  </a:cubicBezTo>
                  <a:lnTo>
                    <a:pt x="12620371" y="0"/>
                  </a:lnTo>
                  <a:lnTo>
                    <a:pt x="12620371" y="19050"/>
                  </a:lnTo>
                  <a:lnTo>
                    <a:pt x="12620371" y="0"/>
                  </a:lnTo>
                  <a:cubicBezTo>
                    <a:pt x="12714224" y="0"/>
                    <a:pt x="12790932" y="75057"/>
                    <a:pt x="12790932" y="168275"/>
                  </a:cubicBezTo>
                  <a:lnTo>
                    <a:pt x="12771882" y="168275"/>
                  </a:lnTo>
                  <a:lnTo>
                    <a:pt x="12790932" y="168275"/>
                  </a:lnTo>
                  <a:lnTo>
                    <a:pt x="12790932" y="2001647"/>
                  </a:lnTo>
                  <a:lnTo>
                    <a:pt x="12771882" y="2001647"/>
                  </a:lnTo>
                  <a:lnTo>
                    <a:pt x="12790932" y="2001647"/>
                  </a:lnTo>
                  <a:cubicBezTo>
                    <a:pt x="12790932" y="2094865"/>
                    <a:pt x="12714351" y="2169922"/>
                    <a:pt x="12620371" y="2169922"/>
                  </a:cubicBezTo>
                  <a:lnTo>
                    <a:pt x="12620371" y="2150872"/>
                  </a:lnTo>
                  <a:lnTo>
                    <a:pt x="12620371" y="2169922"/>
                  </a:lnTo>
                  <a:lnTo>
                    <a:pt x="170561" y="2169922"/>
                  </a:lnTo>
                  <a:lnTo>
                    <a:pt x="170561" y="2150872"/>
                  </a:lnTo>
                  <a:lnTo>
                    <a:pt x="170561" y="2169922"/>
                  </a:lnTo>
                  <a:cubicBezTo>
                    <a:pt x="76581" y="2169922"/>
                    <a:pt x="0" y="2094865"/>
                    <a:pt x="0" y="2001647"/>
                  </a:cubicBezTo>
                  <a:lnTo>
                    <a:pt x="0" y="168275"/>
                  </a:lnTo>
                  <a:lnTo>
                    <a:pt x="19050" y="168275"/>
                  </a:lnTo>
                  <a:lnTo>
                    <a:pt x="0" y="168275"/>
                  </a:lnTo>
                  <a:moveTo>
                    <a:pt x="38100" y="168275"/>
                  </a:moveTo>
                  <a:lnTo>
                    <a:pt x="38100" y="2001647"/>
                  </a:lnTo>
                  <a:lnTo>
                    <a:pt x="19050" y="2001647"/>
                  </a:lnTo>
                  <a:lnTo>
                    <a:pt x="38100" y="2001647"/>
                  </a:lnTo>
                  <a:cubicBezTo>
                    <a:pt x="38100" y="2073275"/>
                    <a:pt x="97155" y="2131822"/>
                    <a:pt x="170561" y="2131822"/>
                  </a:cubicBezTo>
                  <a:lnTo>
                    <a:pt x="12620371" y="2131822"/>
                  </a:lnTo>
                  <a:cubicBezTo>
                    <a:pt x="12693777" y="2131822"/>
                    <a:pt x="12752832" y="2073275"/>
                    <a:pt x="12752832" y="2001647"/>
                  </a:cubicBezTo>
                  <a:lnTo>
                    <a:pt x="12752832" y="168275"/>
                  </a:lnTo>
                  <a:cubicBezTo>
                    <a:pt x="12752832" y="96647"/>
                    <a:pt x="12693777" y="38100"/>
                    <a:pt x="12620371" y="38100"/>
                  </a:cubicBezTo>
                  <a:lnTo>
                    <a:pt x="170561" y="38100"/>
                  </a:lnTo>
                  <a:lnTo>
                    <a:pt x="170561" y="19050"/>
                  </a:lnTo>
                  <a:lnTo>
                    <a:pt x="170561" y="38100"/>
                  </a:lnTo>
                  <a:cubicBezTo>
                    <a:pt x="97155" y="38100"/>
                    <a:pt x="38100" y="96647"/>
                    <a:pt x="38100" y="168275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1282" y="2022719"/>
            <a:ext cx="1065905" cy="1541707"/>
            <a:chOff x="0" y="0"/>
            <a:chExt cx="1421206" cy="20556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21130" cy="2055622"/>
            </a:xfrm>
            <a:custGeom>
              <a:avLst/>
              <a:gdLst/>
              <a:ahLst/>
              <a:cxnLst/>
              <a:rect r="r" b="b" t="t" l="l"/>
              <a:pathLst>
                <a:path h="2055622" w="1421130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317625" y="0"/>
                  </a:lnTo>
                  <a:cubicBezTo>
                    <a:pt x="1374775" y="0"/>
                    <a:pt x="1421130" y="46355"/>
                    <a:pt x="1421130" y="103505"/>
                  </a:cubicBezTo>
                  <a:lnTo>
                    <a:pt x="1421130" y="1952117"/>
                  </a:lnTo>
                  <a:cubicBezTo>
                    <a:pt x="1421130" y="2009267"/>
                    <a:pt x="1374775" y="2055622"/>
                    <a:pt x="1317625" y="2055622"/>
                  </a:cubicBezTo>
                  <a:lnTo>
                    <a:pt x="103505" y="2055622"/>
                  </a:lnTo>
                  <a:cubicBezTo>
                    <a:pt x="46355" y="2055622"/>
                    <a:pt x="0" y="2009267"/>
                    <a:pt x="0" y="1952117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264416" y="2279599"/>
            <a:ext cx="3135211" cy="40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Itemset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64416" y="2766117"/>
            <a:ext cx="7937897" cy="46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0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collection of one or more items that appear together in a transaction.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8420" y="3815953"/>
            <a:ext cx="9593161" cy="1627432"/>
            <a:chOff x="0" y="0"/>
            <a:chExt cx="12790881" cy="21699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050" y="19050"/>
              <a:ext cx="12752832" cy="2131822"/>
            </a:xfrm>
            <a:custGeom>
              <a:avLst/>
              <a:gdLst/>
              <a:ahLst/>
              <a:cxnLst/>
              <a:rect r="r" b="b" t="t" l="l"/>
              <a:pathLst>
                <a:path h="2131822" w="12752832">
                  <a:moveTo>
                    <a:pt x="0" y="149225"/>
                  </a:moveTo>
                  <a:cubicBezTo>
                    <a:pt x="0" y="66802"/>
                    <a:pt x="67818" y="0"/>
                    <a:pt x="151511" y="0"/>
                  </a:cubicBezTo>
                  <a:lnTo>
                    <a:pt x="12601321" y="0"/>
                  </a:lnTo>
                  <a:cubicBezTo>
                    <a:pt x="12685014" y="0"/>
                    <a:pt x="12752832" y="66802"/>
                    <a:pt x="12752832" y="149225"/>
                  </a:cubicBezTo>
                  <a:lnTo>
                    <a:pt x="12752832" y="1982597"/>
                  </a:lnTo>
                  <a:cubicBezTo>
                    <a:pt x="12752832" y="2065020"/>
                    <a:pt x="12685014" y="2131822"/>
                    <a:pt x="12601321" y="2131822"/>
                  </a:cubicBezTo>
                  <a:lnTo>
                    <a:pt x="151511" y="2131822"/>
                  </a:lnTo>
                  <a:cubicBezTo>
                    <a:pt x="67818" y="2131822"/>
                    <a:pt x="0" y="2065020"/>
                    <a:pt x="0" y="198259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90932" cy="2169922"/>
            </a:xfrm>
            <a:custGeom>
              <a:avLst/>
              <a:gdLst/>
              <a:ahLst/>
              <a:cxnLst/>
              <a:rect r="r" b="b" t="t" l="l"/>
              <a:pathLst>
                <a:path h="2169922" w="12790932">
                  <a:moveTo>
                    <a:pt x="0" y="168275"/>
                  </a:moveTo>
                  <a:cubicBezTo>
                    <a:pt x="0" y="75057"/>
                    <a:pt x="76581" y="0"/>
                    <a:pt x="170561" y="0"/>
                  </a:cubicBezTo>
                  <a:lnTo>
                    <a:pt x="12620371" y="0"/>
                  </a:lnTo>
                  <a:lnTo>
                    <a:pt x="12620371" y="19050"/>
                  </a:lnTo>
                  <a:lnTo>
                    <a:pt x="12620371" y="0"/>
                  </a:lnTo>
                  <a:cubicBezTo>
                    <a:pt x="12714224" y="0"/>
                    <a:pt x="12790932" y="75057"/>
                    <a:pt x="12790932" y="168275"/>
                  </a:cubicBezTo>
                  <a:lnTo>
                    <a:pt x="12771882" y="168275"/>
                  </a:lnTo>
                  <a:lnTo>
                    <a:pt x="12790932" y="168275"/>
                  </a:lnTo>
                  <a:lnTo>
                    <a:pt x="12790932" y="2001647"/>
                  </a:lnTo>
                  <a:lnTo>
                    <a:pt x="12771882" y="2001647"/>
                  </a:lnTo>
                  <a:lnTo>
                    <a:pt x="12790932" y="2001647"/>
                  </a:lnTo>
                  <a:cubicBezTo>
                    <a:pt x="12790932" y="2094865"/>
                    <a:pt x="12714351" y="2169922"/>
                    <a:pt x="12620371" y="2169922"/>
                  </a:cubicBezTo>
                  <a:lnTo>
                    <a:pt x="12620371" y="2150872"/>
                  </a:lnTo>
                  <a:lnTo>
                    <a:pt x="12620371" y="2169922"/>
                  </a:lnTo>
                  <a:lnTo>
                    <a:pt x="170561" y="2169922"/>
                  </a:lnTo>
                  <a:lnTo>
                    <a:pt x="170561" y="2150872"/>
                  </a:lnTo>
                  <a:lnTo>
                    <a:pt x="170561" y="2169922"/>
                  </a:lnTo>
                  <a:cubicBezTo>
                    <a:pt x="76581" y="2169922"/>
                    <a:pt x="0" y="2094865"/>
                    <a:pt x="0" y="2001647"/>
                  </a:cubicBezTo>
                  <a:lnTo>
                    <a:pt x="0" y="168275"/>
                  </a:lnTo>
                  <a:lnTo>
                    <a:pt x="19050" y="168275"/>
                  </a:lnTo>
                  <a:lnTo>
                    <a:pt x="0" y="168275"/>
                  </a:lnTo>
                  <a:moveTo>
                    <a:pt x="38100" y="168275"/>
                  </a:moveTo>
                  <a:lnTo>
                    <a:pt x="38100" y="2001647"/>
                  </a:lnTo>
                  <a:lnTo>
                    <a:pt x="19050" y="2001647"/>
                  </a:lnTo>
                  <a:lnTo>
                    <a:pt x="38100" y="2001647"/>
                  </a:lnTo>
                  <a:cubicBezTo>
                    <a:pt x="38100" y="2073275"/>
                    <a:pt x="97155" y="2131822"/>
                    <a:pt x="170561" y="2131822"/>
                  </a:cubicBezTo>
                  <a:lnTo>
                    <a:pt x="12620371" y="2131822"/>
                  </a:lnTo>
                  <a:cubicBezTo>
                    <a:pt x="12693777" y="2131822"/>
                    <a:pt x="12752832" y="2073275"/>
                    <a:pt x="12752832" y="2001647"/>
                  </a:cubicBezTo>
                  <a:lnTo>
                    <a:pt x="12752832" y="168275"/>
                  </a:lnTo>
                  <a:cubicBezTo>
                    <a:pt x="12752832" y="96647"/>
                    <a:pt x="12693777" y="38100"/>
                    <a:pt x="12620371" y="38100"/>
                  </a:cubicBezTo>
                  <a:lnTo>
                    <a:pt x="170561" y="38100"/>
                  </a:lnTo>
                  <a:lnTo>
                    <a:pt x="170561" y="19050"/>
                  </a:lnTo>
                  <a:lnTo>
                    <a:pt x="170561" y="38100"/>
                  </a:lnTo>
                  <a:cubicBezTo>
                    <a:pt x="97155" y="38100"/>
                    <a:pt x="38100" y="96647"/>
                    <a:pt x="38100" y="168275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1282" y="3858816"/>
            <a:ext cx="1065905" cy="1541707"/>
            <a:chOff x="0" y="0"/>
            <a:chExt cx="1421206" cy="20556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21130" cy="2055622"/>
            </a:xfrm>
            <a:custGeom>
              <a:avLst/>
              <a:gdLst/>
              <a:ahLst/>
              <a:cxnLst/>
              <a:rect r="r" b="b" t="t" l="l"/>
              <a:pathLst>
                <a:path h="2055622" w="1421130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317625" y="0"/>
                  </a:lnTo>
                  <a:cubicBezTo>
                    <a:pt x="1374775" y="0"/>
                    <a:pt x="1421130" y="46355"/>
                    <a:pt x="1421130" y="103505"/>
                  </a:cubicBezTo>
                  <a:lnTo>
                    <a:pt x="1421130" y="1952117"/>
                  </a:lnTo>
                  <a:cubicBezTo>
                    <a:pt x="1421130" y="2009267"/>
                    <a:pt x="1374775" y="2055622"/>
                    <a:pt x="1317625" y="2055622"/>
                  </a:cubicBezTo>
                  <a:lnTo>
                    <a:pt x="103505" y="2055622"/>
                  </a:lnTo>
                  <a:cubicBezTo>
                    <a:pt x="46355" y="2055622"/>
                    <a:pt x="0" y="2009267"/>
                    <a:pt x="0" y="1952117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264416" y="4115695"/>
            <a:ext cx="3135211" cy="40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Support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64416" y="4602213"/>
            <a:ext cx="7937897" cy="46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0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frequency with which an itemset appears across all transactions.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8420" y="5652049"/>
            <a:ext cx="9593161" cy="1627432"/>
            <a:chOff x="0" y="0"/>
            <a:chExt cx="12790881" cy="21699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9050" y="19050"/>
              <a:ext cx="12752832" cy="2131822"/>
            </a:xfrm>
            <a:custGeom>
              <a:avLst/>
              <a:gdLst/>
              <a:ahLst/>
              <a:cxnLst/>
              <a:rect r="r" b="b" t="t" l="l"/>
              <a:pathLst>
                <a:path h="2131822" w="12752832">
                  <a:moveTo>
                    <a:pt x="0" y="149225"/>
                  </a:moveTo>
                  <a:cubicBezTo>
                    <a:pt x="0" y="66802"/>
                    <a:pt x="67818" y="0"/>
                    <a:pt x="151511" y="0"/>
                  </a:cubicBezTo>
                  <a:lnTo>
                    <a:pt x="12601321" y="0"/>
                  </a:lnTo>
                  <a:cubicBezTo>
                    <a:pt x="12685014" y="0"/>
                    <a:pt x="12752832" y="66802"/>
                    <a:pt x="12752832" y="149225"/>
                  </a:cubicBezTo>
                  <a:lnTo>
                    <a:pt x="12752832" y="1982597"/>
                  </a:lnTo>
                  <a:cubicBezTo>
                    <a:pt x="12752832" y="2065020"/>
                    <a:pt x="12685014" y="2131822"/>
                    <a:pt x="12601321" y="2131822"/>
                  </a:cubicBezTo>
                  <a:lnTo>
                    <a:pt x="151511" y="2131822"/>
                  </a:lnTo>
                  <a:cubicBezTo>
                    <a:pt x="67818" y="2131822"/>
                    <a:pt x="0" y="2065020"/>
                    <a:pt x="0" y="198259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790932" cy="2169922"/>
            </a:xfrm>
            <a:custGeom>
              <a:avLst/>
              <a:gdLst/>
              <a:ahLst/>
              <a:cxnLst/>
              <a:rect r="r" b="b" t="t" l="l"/>
              <a:pathLst>
                <a:path h="2169922" w="12790932">
                  <a:moveTo>
                    <a:pt x="0" y="168275"/>
                  </a:moveTo>
                  <a:cubicBezTo>
                    <a:pt x="0" y="75057"/>
                    <a:pt x="76581" y="0"/>
                    <a:pt x="170561" y="0"/>
                  </a:cubicBezTo>
                  <a:lnTo>
                    <a:pt x="12620371" y="0"/>
                  </a:lnTo>
                  <a:lnTo>
                    <a:pt x="12620371" y="19050"/>
                  </a:lnTo>
                  <a:lnTo>
                    <a:pt x="12620371" y="0"/>
                  </a:lnTo>
                  <a:cubicBezTo>
                    <a:pt x="12714224" y="0"/>
                    <a:pt x="12790932" y="75057"/>
                    <a:pt x="12790932" y="168275"/>
                  </a:cubicBezTo>
                  <a:lnTo>
                    <a:pt x="12771882" y="168275"/>
                  </a:lnTo>
                  <a:lnTo>
                    <a:pt x="12790932" y="168275"/>
                  </a:lnTo>
                  <a:lnTo>
                    <a:pt x="12790932" y="2001647"/>
                  </a:lnTo>
                  <a:lnTo>
                    <a:pt x="12771882" y="2001647"/>
                  </a:lnTo>
                  <a:lnTo>
                    <a:pt x="12790932" y="2001647"/>
                  </a:lnTo>
                  <a:cubicBezTo>
                    <a:pt x="12790932" y="2094865"/>
                    <a:pt x="12714351" y="2169922"/>
                    <a:pt x="12620371" y="2169922"/>
                  </a:cubicBezTo>
                  <a:lnTo>
                    <a:pt x="12620371" y="2150872"/>
                  </a:lnTo>
                  <a:lnTo>
                    <a:pt x="12620371" y="2169922"/>
                  </a:lnTo>
                  <a:lnTo>
                    <a:pt x="170561" y="2169922"/>
                  </a:lnTo>
                  <a:lnTo>
                    <a:pt x="170561" y="2150872"/>
                  </a:lnTo>
                  <a:lnTo>
                    <a:pt x="170561" y="2169922"/>
                  </a:lnTo>
                  <a:cubicBezTo>
                    <a:pt x="76581" y="2169922"/>
                    <a:pt x="0" y="2094865"/>
                    <a:pt x="0" y="2001647"/>
                  </a:cubicBezTo>
                  <a:lnTo>
                    <a:pt x="0" y="168275"/>
                  </a:lnTo>
                  <a:lnTo>
                    <a:pt x="19050" y="168275"/>
                  </a:lnTo>
                  <a:lnTo>
                    <a:pt x="0" y="168275"/>
                  </a:lnTo>
                  <a:moveTo>
                    <a:pt x="38100" y="168275"/>
                  </a:moveTo>
                  <a:lnTo>
                    <a:pt x="38100" y="2001647"/>
                  </a:lnTo>
                  <a:lnTo>
                    <a:pt x="19050" y="2001647"/>
                  </a:lnTo>
                  <a:lnTo>
                    <a:pt x="38100" y="2001647"/>
                  </a:lnTo>
                  <a:cubicBezTo>
                    <a:pt x="38100" y="2073275"/>
                    <a:pt x="97155" y="2131822"/>
                    <a:pt x="170561" y="2131822"/>
                  </a:cubicBezTo>
                  <a:lnTo>
                    <a:pt x="12620371" y="2131822"/>
                  </a:lnTo>
                  <a:cubicBezTo>
                    <a:pt x="12693777" y="2131822"/>
                    <a:pt x="12752832" y="2073275"/>
                    <a:pt x="12752832" y="2001647"/>
                  </a:cubicBezTo>
                  <a:lnTo>
                    <a:pt x="12752832" y="168275"/>
                  </a:lnTo>
                  <a:cubicBezTo>
                    <a:pt x="12752832" y="96647"/>
                    <a:pt x="12693777" y="38100"/>
                    <a:pt x="12620371" y="38100"/>
                  </a:cubicBezTo>
                  <a:lnTo>
                    <a:pt x="170561" y="38100"/>
                  </a:lnTo>
                  <a:lnTo>
                    <a:pt x="170561" y="19050"/>
                  </a:lnTo>
                  <a:lnTo>
                    <a:pt x="170561" y="38100"/>
                  </a:lnTo>
                  <a:cubicBezTo>
                    <a:pt x="97155" y="38100"/>
                    <a:pt x="38100" y="96647"/>
                    <a:pt x="38100" y="168275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1282" y="5694912"/>
            <a:ext cx="1065905" cy="1541707"/>
            <a:chOff x="0" y="0"/>
            <a:chExt cx="1421206" cy="20556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21130" cy="2055622"/>
            </a:xfrm>
            <a:custGeom>
              <a:avLst/>
              <a:gdLst/>
              <a:ahLst/>
              <a:cxnLst/>
              <a:rect r="r" b="b" t="t" l="l"/>
              <a:pathLst>
                <a:path h="2055622" w="1421130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317625" y="0"/>
                  </a:lnTo>
                  <a:cubicBezTo>
                    <a:pt x="1374775" y="0"/>
                    <a:pt x="1421130" y="46355"/>
                    <a:pt x="1421130" y="103505"/>
                  </a:cubicBezTo>
                  <a:lnTo>
                    <a:pt x="1421130" y="1952117"/>
                  </a:lnTo>
                  <a:cubicBezTo>
                    <a:pt x="1421130" y="2009267"/>
                    <a:pt x="1374775" y="2055622"/>
                    <a:pt x="1317625" y="2055622"/>
                  </a:cubicBezTo>
                  <a:lnTo>
                    <a:pt x="103505" y="2055622"/>
                  </a:lnTo>
                  <a:cubicBezTo>
                    <a:pt x="46355" y="2055622"/>
                    <a:pt x="0" y="2009267"/>
                    <a:pt x="0" y="1952117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264416" y="5951782"/>
            <a:ext cx="3135211" cy="40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Confidence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64416" y="6438309"/>
            <a:ext cx="7937897" cy="46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0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likelihood that item Y is purchased when item X is purchased.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8420" y="7488136"/>
            <a:ext cx="9593161" cy="1958731"/>
            <a:chOff x="0" y="0"/>
            <a:chExt cx="12790881" cy="26116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9050" y="19050"/>
              <a:ext cx="12752832" cy="2573528"/>
            </a:xfrm>
            <a:custGeom>
              <a:avLst/>
              <a:gdLst/>
              <a:ahLst/>
              <a:cxnLst/>
              <a:rect r="r" b="b" t="t" l="l"/>
              <a:pathLst>
                <a:path h="2573528" w="12752832">
                  <a:moveTo>
                    <a:pt x="0" y="149225"/>
                  </a:moveTo>
                  <a:cubicBezTo>
                    <a:pt x="0" y="66802"/>
                    <a:pt x="67564" y="0"/>
                    <a:pt x="151003" y="0"/>
                  </a:cubicBezTo>
                  <a:lnTo>
                    <a:pt x="12601829" y="0"/>
                  </a:lnTo>
                  <a:cubicBezTo>
                    <a:pt x="12685268" y="0"/>
                    <a:pt x="12752832" y="66802"/>
                    <a:pt x="12752832" y="149225"/>
                  </a:cubicBezTo>
                  <a:lnTo>
                    <a:pt x="12752832" y="2424303"/>
                  </a:lnTo>
                  <a:cubicBezTo>
                    <a:pt x="12752832" y="2506726"/>
                    <a:pt x="12685268" y="2573528"/>
                    <a:pt x="12601829" y="2573528"/>
                  </a:cubicBezTo>
                  <a:lnTo>
                    <a:pt x="151003" y="2573528"/>
                  </a:lnTo>
                  <a:cubicBezTo>
                    <a:pt x="67564" y="2573528"/>
                    <a:pt x="0" y="2506726"/>
                    <a:pt x="0" y="242430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790932" cy="2611628"/>
            </a:xfrm>
            <a:custGeom>
              <a:avLst/>
              <a:gdLst/>
              <a:ahLst/>
              <a:cxnLst/>
              <a:rect r="r" b="b" t="t" l="l"/>
              <a:pathLst>
                <a:path h="2611628" w="12790932">
                  <a:moveTo>
                    <a:pt x="0" y="168275"/>
                  </a:moveTo>
                  <a:cubicBezTo>
                    <a:pt x="0" y="75184"/>
                    <a:pt x="76327" y="0"/>
                    <a:pt x="170053" y="0"/>
                  </a:cubicBezTo>
                  <a:lnTo>
                    <a:pt x="12620879" y="0"/>
                  </a:lnTo>
                  <a:lnTo>
                    <a:pt x="12620879" y="19050"/>
                  </a:lnTo>
                  <a:lnTo>
                    <a:pt x="12620879" y="0"/>
                  </a:lnTo>
                  <a:cubicBezTo>
                    <a:pt x="12714605" y="0"/>
                    <a:pt x="12790932" y="75184"/>
                    <a:pt x="12790932" y="168275"/>
                  </a:cubicBezTo>
                  <a:lnTo>
                    <a:pt x="12771882" y="168275"/>
                  </a:lnTo>
                  <a:lnTo>
                    <a:pt x="12790932" y="168275"/>
                  </a:lnTo>
                  <a:lnTo>
                    <a:pt x="12790932" y="2443353"/>
                  </a:lnTo>
                  <a:lnTo>
                    <a:pt x="12771882" y="2443353"/>
                  </a:lnTo>
                  <a:lnTo>
                    <a:pt x="12790932" y="2443353"/>
                  </a:lnTo>
                  <a:cubicBezTo>
                    <a:pt x="12790932" y="2536444"/>
                    <a:pt x="12714605" y="2611628"/>
                    <a:pt x="12620879" y="2611628"/>
                  </a:cubicBezTo>
                  <a:lnTo>
                    <a:pt x="12620879" y="2592578"/>
                  </a:lnTo>
                  <a:lnTo>
                    <a:pt x="12620879" y="2611628"/>
                  </a:lnTo>
                  <a:lnTo>
                    <a:pt x="170053" y="2611628"/>
                  </a:lnTo>
                  <a:lnTo>
                    <a:pt x="170053" y="2592578"/>
                  </a:lnTo>
                  <a:lnTo>
                    <a:pt x="170053" y="2611628"/>
                  </a:lnTo>
                  <a:cubicBezTo>
                    <a:pt x="76327" y="2611628"/>
                    <a:pt x="0" y="2536444"/>
                    <a:pt x="0" y="2443353"/>
                  </a:cubicBezTo>
                  <a:lnTo>
                    <a:pt x="0" y="168275"/>
                  </a:lnTo>
                  <a:lnTo>
                    <a:pt x="19050" y="168275"/>
                  </a:lnTo>
                  <a:lnTo>
                    <a:pt x="0" y="168275"/>
                  </a:lnTo>
                  <a:moveTo>
                    <a:pt x="38100" y="168275"/>
                  </a:moveTo>
                  <a:lnTo>
                    <a:pt x="38100" y="2443353"/>
                  </a:lnTo>
                  <a:lnTo>
                    <a:pt x="19050" y="2443353"/>
                  </a:lnTo>
                  <a:lnTo>
                    <a:pt x="38100" y="2443353"/>
                  </a:lnTo>
                  <a:cubicBezTo>
                    <a:pt x="38100" y="2515108"/>
                    <a:pt x="96901" y="2573528"/>
                    <a:pt x="170053" y="2573528"/>
                  </a:cubicBezTo>
                  <a:lnTo>
                    <a:pt x="12620879" y="2573528"/>
                  </a:lnTo>
                  <a:cubicBezTo>
                    <a:pt x="12693904" y="2573528"/>
                    <a:pt x="12752832" y="2514981"/>
                    <a:pt x="12752832" y="2443353"/>
                  </a:cubicBezTo>
                  <a:lnTo>
                    <a:pt x="12752832" y="168275"/>
                  </a:lnTo>
                  <a:cubicBezTo>
                    <a:pt x="12752832" y="96520"/>
                    <a:pt x="12694031" y="38100"/>
                    <a:pt x="12620879" y="38100"/>
                  </a:cubicBezTo>
                  <a:lnTo>
                    <a:pt x="170053" y="38100"/>
                  </a:lnTo>
                  <a:lnTo>
                    <a:pt x="170053" y="19050"/>
                  </a:lnTo>
                  <a:lnTo>
                    <a:pt x="170053" y="38100"/>
                  </a:lnTo>
                  <a:cubicBezTo>
                    <a:pt x="96901" y="38100"/>
                    <a:pt x="38100" y="96647"/>
                    <a:pt x="38100" y="168275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1282" y="7530998"/>
            <a:ext cx="1065905" cy="1873006"/>
            <a:chOff x="0" y="0"/>
            <a:chExt cx="1421206" cy="24973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21130" cy="2497328"/>
            </a:xfrm>
            <a:custGeom>
              <a:avLst/>
              <a:gdLst/>
              <a:ahLst/>
              <a:cxnLst/>
              <a:rect r="r" b="b" t="t" l="l"/>
              <a:pathLst>
                <a:path h="2497328" w="1421130">
                  <a:moveTo>
                    <a:pt x="0" y="103505"/>
                  </a:moveTo>
                  <a:cubicBezTo>
                    <a:pt x="0" y="46355"/>
                    <a:pt x="46355" y="0"/>
                    <a:pt x="103505" y="0"/>
                  </a:cubicBezTo>
                  <a:lnTo>
                    <a:pt x="1317625" y="0"/>
                  </a:lnTo>
                  <a:cubicBezTo>
                    <a:pt x="1374775" y="0"/>
                    <a:pt x="1421130" y="46355"/>
                    <a:pt x="1421130" y="103505"/>
                  </a:cubicBezTo>
                  <a:lnTo>
                    <a:pt x="1421130" y="2393823"/>
                  </a:lnTo>
                  <a:cubicBezTo>
                    <a:pt x="1421130" y="2450973"/>
                    <a:pt x="1374775" y="2497328"/>
                    <a:pt x="1317625" y="2497328"/>
                  </a:cubicBezTo>
                  <a:lnTo>
                    <a:pt x="103505" y="2497328"/>
                  </a:lnTo>
                  <a:cubicBezTo>
                    <a:pt x="46355" y="2497328"/>
                    <a:pt x="0" y="2450973"/>
                    <a:pt x="0" y="2393823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2264416" y="7787878"/>
            <a:ext cx="3135211" cy="40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Lift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64416" y="8274396"/>
            <a:ext cx="7937897" cy="86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06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Measures the strength of a rule compared to random chance — values above 1 indicate a meaningful association.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53318" y="726434"/>
            <a:ext cx="7018134" cy="706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How It Works: The Process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48555" y="1793529"/>
            <a:ext cx="944461" cy="1412081"/>
            <a:chOff x="0" y="0"/>
            <a:chExt cx="1259281" cy="18827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246632" cy="1870075"/>
            </a:xfrm>
            <a:custGeom>
              <a:avLst/>
              <a:gdLst/>
              <a:ahLst/>
              <a:cxnLst/>
              <a:rect r="r" b="b" t="t" l="l"/>
              <a:pathLst>
                <a:path h="1870075" w="1246632">
                  <a:moveTo>
                    <a:pt x="0" y="625348"/>
                  </a:moveTo>
                  <a:cubicBezTo>
                    <a:pt x="0" y="280035"/>
                    <a:pt x="279019" y="0"/>
                    <a:pt x="623316" y="0"/>
                  </a:cubicBezTo>
                  <a:cubicBezTo>
                    <a:pt x="967613" y="0"/>
                    <a:pt x="1246632" y="280035"/>
                    <a:pt x="1246632" y="625348"/>
                  </a:cubicBezTo>
                  <a:lnTo>
                    <a:pt x="1246632" y="1244727"/>
                  </a:lnTo>
                  <a:cubicBezTo>
                    <a:pt x="1246632" y="1590167"/>
                    <a:pt x="967613" y="1870075"/>
                    <a:pt x="623316" y="1870075"/>
                  </a:cubicBezTo>
                  <a:cubicBezTo>
                    <a:pt x="279019" y="1870075"/>
                    <a:pt x="0" y="1590040"/>
                    <a:pt x="0" y="1244727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9332" cy="1882775"/>
            </a:xfrm>
            <a:custGeom>
              <a:avLst/>
              <a:gdLst/>
              <a:ahLst/>
              <a:cxnLst/>
              <a:rect r="r" b="b" t="t" l="l"/>
              <a:pathLst>
                <a:path h="1882775" w="1259332">
                  <a:moveTo>
                    <a:pt x="0" y="631698"/>
                  </a:moveTo>
                  <a:cubicBezTo>
                    <a:pt x="0" y="282829"/>
                    <a:pt x="281940" y="0"/>
                    <a:pt x="629666" y="0"/>
                  </a:cubicBezTo>
                  <a:cubicBezTo>
                    <a:pt x="631571" y="0"/>
                    <a:pt x="633476" y="889"/>
                    <a:pt x="634619" y="2413"/>
                  </a:cubicBezTo>
                  <a:lnTo>
                    <a:pt x="629666" y="6350"/>
                  </a:lnTo>
                  <a:lnTo>
                    <a:pt x="629666" y="0"/>
                  </a:lnTo>
                  <a:lnTo>
                    <a:pt x="629666" y="6350"/>
                  </a:lnTo>
                  <a:lnTo>
                    <a:pt x="629666" y="0"/>
                  </a:lnTo>
                  <a:cubicBezTo>
                    <a:pt x="977392" y="0"/>
                    <a:pt x="1259332" y="282829"/>
                    <a:pt x="1259332" y="631698"/>
                  </a:cubicBezTo>
                  <a:lnTo>
                    <a:pt x="1259332" y="1251077"/>
                  </a:lnTo>
                  <a:lnTo>
                    <a:pt x="1252982" y="1251077"/>
                  </a:lnTo>
                  <a:lnTo>
                    <a:pt x="1259332" y="1251077"/>
                  </a:lnTo>
                  <a:cubicBezTo>
                    <a:pt x="1259332" y="1599946"/>
                    <a:pt x="977392" y="1882775"/>
                    <a:pt x="629666" y="1882775"/>
                  </a:cubicBezTo>
                  <a:lnTo>
                    <a:pt x="629666" y="1876425"/>
                  </a:lnTo>
                  <a:lnTo>
                    <a:pt x="629666" y="1882775"/>
                  </a:lnTo>
                  <a:cubicBezTo>
                    <a:pt x="281940" y="1882775"/>
                    <a:pt x="0" y="1599946"/>
                    <a:pt x="0" y="1251077"/>
                  </a:cubicBezTo>
                  <a:lnTo>
                    <a:pt x="0" y="631698"/>
                  </a:lnTo>
                  <a:lnTo>
                    <a:pt x="6350" y="631698"/>
                  </a:lnTo>
                  <a:lnTo>
                    <a:pt x="0" y="631698"/>
                  </a:lnTo>
                  <a:moveTo>
                    <a:pt x="12700" y="631698"/>
                  </a:moveTo>
                  <a:lnTo>
                    <a:pt x="12700" y="1251077"/>
                  </a:lnTo>
                  <a:lnTo>
                    <a:pt x="6350" y="1251077"/>
                  </a:lnTo>
                  <a:lnTo>
                    <a:pt x="12700" y="1251077"/>
                  </a:lnTo>
                  <a:cubicBezTo>
                    <a:pt x="12700" y="1592961"/>
                    <a:pt x="288925" y="1870075"/>
                    <a:pt x="629666" y="1870075"/>
                  </a:cubicBezTo>
                  <a:cubicBezTo>
                    <a:pt x="970407" y="1870075"/>
                    <a:pt x="1246632" y="1592961"/>
                    <a:pt x="1246632" y="1251077"/>
                  </a:cubicBezTo>
                  <a:lnTo>
                    <a:pt x="1246632" y="631698"/>
                  </a:lnTo>
                  <a:lnTo>
                    <a:pt x="1252982" y="631698"/>
                  </a:lnTo>
                  <a:lnTo>
                    <a:pt x="1246632" y="631698"/>
                  </a:lnTo>
                  <a:cubicBezTo>
                    <a:pt x="1246632" y="289814"/>
                    <a:pt x="970407" y="12700"/>
                    <a:pt x="629666" y="12700"/>
                  </a:cubicBezTo>
                  <a:cubicBezTo>
                    <a:pt x="627761" y="12700"/>
                    <a:pt x="625856" y="11811"/>
                    <a:pt x="624713" y="10287"/>
                  </a:cubicBezTo>
                  <a:lnTo>
                    <a:pt x="629666" y="6350"/>
                  </a:lnTo>
                  <a:lnTo>
                    <a:pt x="629666" y="12700"/>
                  </a:lnTo>
                  <a:cubicBezTo>
                    <a:pt x="288925" y="12700"/>
                    <a:pt x="12700" y="289814"/>
                    <a:pt x="12700" y="631698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45469" y="2337492"/>
            <a:ext cx="350634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70867" y="2022424"/>
            <a:ext cx="3246987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Collect Transaction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70867" y="2447182"/>
            <a:ext cx="14063662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Gather records of customer purchases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48555" y="3378698"/>
            <a:ext cx="944461" cy="1412081"/>
            <a:chOff x="0" y="0"/>
            <a:chExt cx="1259281" cy="18827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1246632" cy="1870075"/>
            </a:xfrm>
            <a:custGeom>
              <a:avLst/>
              <a:gdLst/>
              <a:ahLst/>
              <a:cxnLst/>
              <a:rect r="r" b="b" t="t" l="l"/>
              <a:pathLst>
                <a:path h="1870075" w="1246632">
                  <a:moveTo>
                    <a:pt x="0" y="625348"/>
                  </a:moveTo>
                  <a:cubicBezTo>
                    <a:pt x="0" y="280035"/>
                    <a:pt x="279019" y="0"/>
                    <a:pt x="623316" y="0"/>
                  </a:cubicBezTo>
                  <a:cubicBezTo>
                    <a:pt x="967613" y="0"/>
                    <a:pt x="1246632" y="280035"/>
                    <a:pt x="1246632" y="625348"/>
                  </a:cubicBezTo>
                  <a:lnTo>
                    <a:pt x="1246632" y="1244727"/>
                  </a:lnTo>
                  <a:cubicBezTo>
                    <a:pt x="1246632" y="1590167"/>
                    <a:pt x="967613" y="1870075"/>
                    <a:pt x="623316" y="1870075"/>
                  </a:cubicBezTo>
                  <a:cubicBezTo>
                    <a:pt x="279019" y="1870075"/>
                    <a:pt x="0" y="1590040"/>
                    <a:pt x="0" y="1244727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9332" cy="1882775"/>
            </a:xfrm>
            <a:custGeom>
              <a:avLst/>
              <a:gdLst/>
              <a:ahLst/>
              <a:cxnLst/>
              <a:rect r="r" b="b" t="t" l="l"/>
              <a:pathLst>
                <a:path h="1882775" w="1259332">
                  <a:moveTo>
                    <a:pt x="0" y="631698"/>
                  </a:moveTo>
                  <a:cubicBezTo>
                    <a:pt x="0" y="282829"/>
                    <a:pt x="281940" y="0"/>
                    <a:pt x="629666" y="0"/>
                  </a:cubicBezTo>
                  <a:cubicBezTo>
                    <a:pt x="631571" y="0"/>
                    <a:pt x="633476" y="889"/>
                    <a:pt x="634619" y="2413"/>
                  </a:cubicBezTo>
                  <a:lnTo>
                    <a:pt x="629666" y="6350"/>
                  </a:lnTo>
                  <a:lnTo>
                    <a:pt x="629666" y="0"/>
                  </a:lnTo>
                  <a:lnTo>
                    <a:pt x="629666" y="6350"/>
                  </a:lnTo>
                  <a:lnTo>
                    <a:pt x="629666" y="0"/>
                  </a:lnTo>
                  <a:cubicBezTo>
                    <a:pt x="977392" y="0"/>
                    <a:pt x="1259332" y="282829"/>
                    <a:pt x="1259332" y="631698"/>
                  </a:cubicBezTo>
                  <a:lnTo>
                    <a:pt x="1259332" y="1251077"/>
                  </a:lnTo>
                  <a:lnTo>
                    <a:pt x="1252982" y="1251077"/>
                  </a:lnTo>
                  <a:lnTo>
                    <a:pt x="1259332" y="1251077"/>
                  </a:lnTo>
                  <a:cubicBezTo>
                    <a:pt x="1259332" y="1599946"/>
                    <a:pt x="977392" y="1882775"/>
                    <a:pt x="629666" y="1882775"/>
                  </a:cubicBezTo>
                  <a:lnTo>
                    <a:pt x="629666" y="1876425"/>
                  </a:lnTo>
                  <a:lnTo>
                    <a:pt x="629666" y="1882775"/>
                  </a:lnTo>
                  <a:cubicBezTo>
                    <a:pt x="281940" y="1882775"/>
                    <a:pt x="0" y="1599946"/>
                    <a:pt x="0" y="1251077"/>
                  </a:cubicBezTo>
                  <a:lnTo>
                    <a:pt x="0" y="631698"/>
                  </a:lnTo>
                  <a:lnTo>
                    <a:pt x="6350" y="631698"/>
                  </a:lnTo>
                  <a:lnTo>
                    <a:pt x="0" y="631698"/>
                  </a:lnTo>
                  <a:moveTo>
                    <a:pt x="12700" y="631698"/>
                  </a:moveTo>
                  <a:lnTo>
                    <a:pt x="12700" y="1251077"/>
                  </a:lnTo>
                  <a:lnTo>
                    <a:pt x="6350" y="1251077"/>
                  </a:lnTo>
                  <a:lnTo>
                    <a:pt x="12700" y="1251077"/>
                  </a:lnTo>
                  <a:cubicBezTo>
                    <a:pt x="12700" y="1592961"/>
                    <a:pt x="288925" y="1870075"/>
                    <a:pt x="629666" y="1870075"/>
                  </a:cubicBezTo>
                  <a:cubicBezTo>
                    <a:pt x="970407" y="1870075"/>
                    <a:pt x="1246632" y="1592961"/>
                    <a:pt x="1246632" y="1251077"/>
                  </a:cubicBezTo>
                  <a:lnTo>
                    <a:pt x="1246632" y="631698"/>
                  </a:lnTo>
                  <a:lnTo>
                    <a:pt x="1252982" y="631698"/>
                  </a:lnTo>
                  <a:lnTo>
                    <a:pt x="1246632" y="631698"/>
                  </a:lnTo>
                  <a:cubicBezTo>
                    <a:pt x="1246632" y="289814"/>
                    <a:pt x="970407" y="12700"/>
                    <a:pt x="629666" y="12700"/>
                  </a:cubicBezTo>
                  <a:cubicBezTo>
                    <a:pt x="627761" y="12700"/>
                    <a:pt x="625856" y="11811"/>
                    <a:pt x="624713" y="10287"/>
                  </a:cubicBezTo>
                  <a:lnTo>
                    <a:pt x="629666" y="6350"/>
                  </a:lnTo>
                  <a:lnTo>
                    <a:pt x="629666" y="12700"/>
                  </a:lnTo>
                  <a:cubicBezTo>
                    <a:pt x="288925" y="12700"/>
                    <a:pt x="12700" y="289814"/>
                    <a:pt x="12700" y="631698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45469" y="3922662"/>
            <a:ext cx="350634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70867" y="3607594"/>
            <a:ext cx="3516068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Identify Frequent Itemsets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70867" y="4032352"/>
            <a:ext cx="14063662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Find item combinations that occur often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48555" y="4963868"/>
            <a:ext cx="944461" cy="1412081"/>
            <a:chOff x="0" y="0"/>
            <a:chExt cx="1259281" cy="18827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1246632" cy="1870075"/>
            </a:xfrm>
            <a:custGeom>
              <a:avLst/>
              <a:gdLst/>
              <a:ahLst/>
              <a:cxnLst/>
              <a:rect r="r" b="b" t="t" l="l"/>
              <a:pathLst>
                <a:path h="1870075" w="1246632">
                  <a:moveTo>
                    <a:pt x="0" y="625348"/>
                  </a:moveTo>
                  <a:cubicBezTo>
                    <a:pt x="0" y="280035"/>
                    <a:pt x="279019" y="0"/>
                    <a:pt x="623316" y="0"/>
                  </a:cubicBezTo>
                  <a:cubicBezTo>
                    <a:pt x="967613" y="0"/>
                    <a:pt x="1246632" y="280035"/>
                    <a:pt x="1246632" y="625348"/>
                  </a:cubicBezTo>
                  <a:lnTo>
                    <a:pt x="1246632" y="1244727"/>
                  </a:lnTo>
                  <a:cubicBezTo>
                    <a:pt x="1246632" y="1590167"/>
                    <a:pt x="967613" y="1870075"/>
                    <a:pt x="623316" y="1870075"/>
                  </a:cubicBezTo>
                  <a:cubicBezTo>
                    <a:pt x="279019" y="1870075"/>
                    <a:pt x="0" y="1590040"/>
                    <a:pt x="0" y="1244727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9332" cy="1882775"/>
            </a:xfrm>
            <a:custGeom>
              <a:avLst/>
              <a:gdLst/>
              <a:ahLst/>
              <a:cxnLst/>
              <a:rect r="r" b="b" t="t" l="l"/>
              <a:pathLst>
                <a:path h="1882775" w="1259332">
                  <a:moveTo>
                    <a:pt x="0" y="631698"/>
                  </a:moveTo>
                  <a:cubicBezTo>
                    <a:pt x="0" y="282829"/>
                    <a:pt x="281940" y="0"/>
                    <a:pt x="629666" y="0"/>
                  </a:cubicBezTo>
                  <a:cubicBezTo>
                    <a:pt x="631571" y="0"/>
                    <a:pt x="633476" y="889"/>
                    <a:pt x="634619" y="2413"/>
                  </a:cubicBezTo>
                  <a:lnTo>
                    <a:pt x="629666" y="6350"/>
                  </a:lnTo>
                  <a:lnTo>
                    <a:pt x="629666" y="0"/>
                  </a:lnTo>
                  <a:lnTo>
                    <a:pt x="629666" y="6350"/>
                  </a:lnTo>
                  <a:lnTo>
                    <a:pt x="629666" y="0"/>
                  </a:lnTo>
                  <a:cubicBezTo>
                    <a:pt x="977392" y="0"/>
                    <a:pt x="1259332" y="282829"/>
                    <a:pt x="1259332" y="631698"/>
                  </a:cubicBezTo>
                  <a:lnTo>
                    <a:pt x="1259332" y="1251077"/>
                  </a:lnTo>
                  <a:lnTo>
                    <a:pt x="1252982" y="1251077"/>
                  </a:lnTo>
                  <a:lnTo>
                    <a:pt x="1259332" y="1251077"/>
                  </a:lnTo>
                  <a:cubicBezTo>
                    <a:pt x="1259332" y="1599946"/>
                    <a:pt x="977392" y="1882775"/>
                    <a:pt x="629666" y="1882775"/>
                  </a:cubicBezTo>
                  <a:lnTo>
                    <a:pt x="629666" y="1876425"/>
                  </a:lnTo>
                  <a:lnTo>
                    <a:pt x="629666" y="1882775"/>
                  </a:lnTo>
                  <a:cubicBezTo>
                    <a:pt x="281940" y="1882775"/>
                    <a:pt x="0" y="1599946"/>
                    <a:pt x="0" y="1251077"/>
                  </a:cubicBezTo>
                  <a:lnTo>
                    <a:pt x="0" y="631698"/>
                  </a:lnTo>
                  <a:lnTo>
                    <a:pt x="6350" y="631698"/>
                  </a:lnTo>
                  <a:lnTo>
                    <a:pt x="0" y="631698"/>
                  </a:lnTo>
                  <a:moveTo>
                    <a:pt x="12700" y="631698"/>
                  </a:moveTo>
                  <a:lnTo>
                    <a:pt x="12700" y="1251077"/>
                  </a:lnTo>
                  <a:lnTo>
                    <a:pt x="6350" y="1251077"/>
                  </a:lnTo>
                  <a:lnTo>
                    <a:pt x="12700" y="1251077"/>
                  </a:lnTo>
                  <a:cubicBezTo>
                    <a:pt x="12700" y="1592961"/>
                    <a:pt x="288925" y="1870075"/>
                    <a:pt x="629666" y="1870075"/>
                  </a:cubicBezTo>
                  <a:cubicBezTo>
                    <a:pt x="970407" y="1870075"/>
                    <a:pt x="1246632" y="1592961"/>
                    <a:pt x="1246632" y="1251077"/>
                  </a:cubicBezTo>
                  <a:lnTo>
                    <a:pt x="1246632" y="631698"/>
                  </a:lnTo>
                  <a:lnTo>
                    <a:pt x="1252982" y="631698"/>
                  </a:lnTo>
                  <a:lnTo>
                    <a:pt x="1246632" y="631698"/>
                  </a:lnTo>
                  <a:cubicBezTo>
                    <a:pt x="1246632" y="289814"/>
                    <a:pt x="970407" y="12700"/>
                    <a:pt x="629666" y="12700"/>
                  </a:cubicBezTo>
                  <a:cubicBezTo>
                    <a:pt x="627761" y="12700"/>
                    <a:pt x="625856" y="11811"/>
                    <a:pt x="624713" y="10287"/>
                  </a:cubicBezTo>
                  <a:lnTo>
                    <a:pt x="629666" y="6350"/>
                  </a:lnTo>
                  <a:lnTo>
                    <a:pt x="629666" y="12700"/>
                  </a:lnTo>
                  <a:cubicBezTo>
                    <a:pt x="288925" y="12700"/>
                    <a:pt x="12700" y="289814"/>
                    <a:pt x="12700" y="631698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845469" y="5507831"/>
            <a:ext cx="350634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70867" y="5192763"/>
            <a:ext cx="3609823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Generate Association Rules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70867" y="5617521"/>
            <a:ext cx="14063662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Derive "If X, then Y" rules from itemsets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548555" y="6549028"/>
            <a:ext cx="944461" cy="1412081"/>
            <a:chOff x="0" y="0"/>
            <a:chExt cx="1259281" cy="18827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1246632" cy="1870075"/>
            </a:xfrm>
            <a:custGeom>
              <a:avLst/>
              <a:gdLst/>
              <a:ahLst/>
              <a:cxnLst/>
              <a:rect r="r" b="b" t="t" l="l"/>
              <a:pathLst>
                <a:path h="1870075" w="1246632">
                  <a:moveTo>
                    <a:pt x="0" y="625348"/>
                  </a:moveTo>
                  <a:cubicBezTo>
                    <a:pt x="0" y="280035"/>
                    <a:pt x="279019" y="0"/>
                    <a:pt x="623316" y="0"/>
                  </a:cubicBezTo>
                  <a:cubicBezTo>
                    <a:pt x="967613" y="0"/>
                    <a:pt x="1246632" y="280035"/>
                    <a:pt x="1246632" y="625348"/>
                  </a:cubicBezTo>
                  <a:lnTo>
                    <a:pt x="1246632" y="1244727"/>
                  </a:lnTo>
                  <a:cubicBezTo>
                    <a:pt x="1246632" y="1590167"/>
                    <a:pt x="967613" y="1870075"/>
                    <a:pt x="623316" y="1870075"/>
                  </a:cubicBezTo>
                  <a:cubicBezTo>
                    <a:pt x="279019" y="1870075"/>
                    <a:pt x="0" y="1590040"/>
                    <a:pt x="0" y="1244727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59332" cy="1882775"/>
            </a:xfrm>
            <a:custGeom>
              <a:avLst/>
              <a:gdLst/>
              <a:ahLst/>
              <a:cxnLst/>
              <a:rect r="r" b="b" t="t" l="l"/>
              <a:pathLst>
                <a:path h="1882775" w="1259332">
                  <a:moveTo>
                    <a:pt x="0" y="631698"/>
                  </a:moveTo>
                  <a:cubicBezTo>
                    <a:pt x="0" y="282829"/>
                    <a:pt x="281940" y="0"/>
                    <a:pt x="629666" y="0"/>
                  </a:cubicBezTo>
                  <a:cubicBezTo>
                    <a:pt x="631571" y="0"/>
                    <a:pt x="633476" y="889"/>
                    <a:pt x="634619" y="2413"/>
                  </a:cubicBezTo>
                  <a:lnTo>
                    <a:pt x="629666" y="6350"/>
                  </a:lnTo>
                  <a:lnTo>
                    <a:pt x="629666" y="0"/>
                  </a:lnTo>
                  <a:lnTo>
                    <a:pt x="629666" y="6350"/>
                  </a:lnTo>
                  <a:lnTo>
                    <a:pt x="629666" y="0"/>
                  </a:lnTo>
                  <a:cubicBezTo>
                    <a:pt x="977392" y="0"/>
                    <a:pt x="1259332" y="282829"/>
                    <a:pt x="1259332" y="631698"/>
                  </a:cubicBezTo>
                  <a:lnTo>
                    <a:pt x="1259332" y="1251077"/>
                  </a:lnTo>
                  <a:lnTo>
                    <a:pt x="1252982" y="1251077"/>
                  </a:lnTo>
                  <a:lnTo>
                    <a:pt x="1259332" y="1251077"/>
                  </a:lnTo>
                  <a:cubicBezTo>
                    <a:pt x="1259332" y="1599946"/>
                    <a:pt x="977392" y="1882775"/>
                    <a:pt x="629666" y="1882775"/>
                  </a:cubicBezTo>
                  <a:lnTo>
                    <a:pt x="629666" y="1876425"/>
                  </a:lnTo>
                  <a:lnTo>
                    <a:pt x="629666" y="1882775"/>
                  </a:lnTo>
                  <a:cubicBezTo>
                    <a:pt x="281940" y="1882775"/>
                    <a:pt x="0" y="1599946"/>
                    <a:pt x="0" y="1251077"/>
                  </a:cubicBezTo>
                  <a:lnTo>
                    <a:pt x="0" y="631698"/>
                  </a:lnTo>
                  <a:lnTo>
                    <a:pt x="6350" y="631698"/>
                  </a:lnTo>
                  <a:lnTo>
                    <a:pt x="0" y="631698"/>
                  </a:lnTo>
                  <a:moveTo>
                    <a:pt x="12700" y="631698"/>
                  </a:moveTo>
                  <a:lnTo>
                    <a:pt x="12700" y="1251077"/>
                  </a:lnTo>
                  <a:lnTo>
                    <a:pt x="6350" y="1251077"/>
                  </a:lnTo>
                  <a:lnTo>
                    <a:pt x="12700" y="1251077"/>
                  </a:lnTo>
                  <a:cubicBezTo>
                    <a:pt x="12700" y="1592961"/>
                    <a:pt x="288925" y="1870075"/>
                    <a:pt x="629666" y="1870075"/>
                  </a:cubicBezTo>
                  <a:cubicBezTo>
                    <a:pt x="970407" y="1870075"/>
                    <a:pt x="1246632" y="1592961"/>
                    <a:pt x="1246632" y="1251077"/>
                  </a:cubicBezTo>
                  <a:lnTo>
                    <a:pt x="1246632" y="631698"/>
                  </a:lnTo>
                  <a:lnTo>
                    <a:pt x="1252982" y="631698"/>
                  </a:lnTo>
                  <a:lnTo>
                    <a:pt x="1246632" y="631698"/>
                  </a:lnTo>
                  <a:cubicBezTo>
                    <a:pt x="1246632" y="289814"/>
                    <a:pt x="970407" y="12700"/>
                    <a:pt x="629666" y="12700"/>
                  </a:cubicBezTo>
                  <a:cubicBezTo>
                    <a:pt x="627761" y="12700"/>
                    <a:pt x="625856" y="11811"/>
                    <a:pt x="624713" y="10287"/>
                  </a:cubicBezTo>
                  <a:lnTo>
                    <a:pt x="629666" y="6350"/>
                  </a:lnTo>
                  <a:lnTo>
                    <a:pt x="629666" y="12700"/>
                  </a:lnTo>
                  <a:cubicBezTo>
                    <a:pt x="288925" y="12700"/>
                    <a:pt x="12700" y="289814"/>
                    <a:pt x="12700" y="631698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845469" y="7093001"/>
            <a:ext cx="350634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670867" y="6777933"/>
            <a:ext cx="2750191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Evaluate Rules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70867" y="7202691"/>
            <a:ext cx="14063662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Assess rules using support and confidence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48555" y="8134198"/>
            <a:ext cx="944461" cy="1412081"/>
            <a:chOff x="0" y="0"/>
            <a:chExt cx="1259281" cy="18827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1246632" cy="1870075"/>
            </a:xfrm>
            <a:custGeom>
              <a:avLst/>
              <a:gdLst/>
              <a:ahLst/>
              <a:cxnLst/>
              <a:rect r="r" b="b" t="t" l="l"/>
              <a:pathLst>
                <a:path h="1870075" w="1246632">
                  <a:moveTo>
                    <a:pt x="0" y="625348"/>
                  </a:moveTo>
                  <a:cubicBezTo>
                    <a:pt x="0" y="280035"/>
                    <a:pt x="279019" y="0"/>
                    <a:pt x="623316" y="0"/>
                  </a:cubicBezTo>
                  <a:cubicBezTo>
                    <a:pt x="967613" y="0"/>
                    <a:pt x="1246632" y="280035"/>
                    <a:pt x="1246632" y="625348"/>
                  </a:cubicBezTo>
                  <a:lnTo>
                    <a:pt x="1246632" y="1244727"/>
                  </a:lnTo>
                  <a:cubicBezTo>
                    <a:pt x="1246632" y="1590167"/>
                    <a:pt x="967613" y="1870075"/>
                    <a:pt x="623316" y="1870075"/>
                  </a:cubicBezTo>
                  <a:cubicBezTo>
                    <a:pt x="279019" y="1870075"/>
                    <a:pt x="0" y="1590040"/>
                    <a:pt x="0" y="1244727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59332" cy="1882775"/>
            </a:xfrm>
            <a:custGeom>
              <a:avLst/>
              <a:gdLst/>
              <a:ahLst/>
              <a:cxnLst/>
              <a:rect r="r" b="b" t="t" l="l"/>
              <a:pathLst>
                <a:path h="1882775" w="1259332">
                  <a:moveTo>
                    <a:pt x="0" y="631698"/>
                  </a:moveTo>
                  <a:cubicBezTo>
                    <a:pt x="0" y="282829"/>
                    <a:pt x="281940" y="0"/>
                    <a:pt x="629666" y="0"/>
                  </a:cubicBezTo>
                  <a:cubicBezTo>
                    <a:pt x="631571" y="0"/>
                    <a:pt x="633476" y="889"/>
                    <a:pt x="634619" y="2413"/>
                  </a:cubicBezTo>
                  <a:lnTo>
                    <a:pt x="629666" y="6350"/>
                  </a:lnTo>
                  <a:lnTo>
                    <a:pt x="629666" y="0"/>
                  </a:lnTo>
                  <a:lnTo>
                    <a:pt x="629666" y="6350"/>
                  </a:lnTo>
                  <a:lnTo>
                    <a:pt x="629666" y="0"/>
                  </a:lnTo>
                  <a:cubicBezTo>
                    <a:pt x="977392" y="0"/>
                    <a:pt x="1259332" y="282829"/>
                    <a:pt x="1259332" y="631698"/>
                  </a:cubicBezTo>
                  <a:lnTo>
                    <a:pt x="1259332" y="1251077"/>
                  </a:lnTo>
                  <a:lnTo>
                    <a:pt x="1252982" y="1251077"/>
                  </a:lnTo>
                  <a:lnTo>
                    <a:pt x="1259332" y="1251077"/>
                  </a:lnTo>
                  <a:cubicBezTo>
                    <a:pt x="1259332" y="1599946"/>
                    <a:pt x="977392" y="1882775"/>
                    <a:pt x="629666" y="1882775"/>
                  </a:cubicBezTo>
                  <a:lnTo>
                    <a:pt x="629666" y="1876425"/>
                  </a:lnTo>
                  <a:lnTo>
                    <a:pt x="629666" y="1882775"/>
                  </a:lnTo>
                  <a:cubicBezTo>
                    <a:pt x="281940" y="1882775"/>
                    <a:pt x="0" y="1599946"/>
                    <a:pt x="0" y="1251077"/>
                  </a:cubicBezTo>
                  <a:lnTo>
                    <a:pt x="0" y="631698"/>
                  </a:lnTo>
                  <a:lnTo>
                    <a:pt x="6350" y="631698"/>
                  </a:lnTo>
                  <a:lnTo>
                    <a:pt x="0" y="631698"/>
                  </a:lnTo>
                  <a:moveTo>
                    <a:pt x="12700" y="631698"/>
                  </a:moveTo>
                  <a:lnTo>
                    <a:pt x="12700" y="1251077"/>
                  </a:lnTo>
                  <a:lnTo>
                    <a:pt x="6350" y="1251077"/>
                  </a:lnTo>
                  <a:lnTo>
                    <a:pt x="12700" y="1251077"/>
                  </a:lnTo>
                  <a:cubicBezTo>
                    <a:pt x="12700" y="1592961"/>
                    <a:pt x="288925" y="1870075"/>
                    <a:pt x="629666" y="1870075"/>
                  </a:cubicBezTo>
                  <a:cubicBezTo>
                    <a:pt x="970407" y="1870075"/>
                    <a:pt x="1246632" y="1592961"/>
                    <a:pt x="1246632" y="1251077"/>
                  </a:cubicBezTo>
                  <a:lnTo>
                    <a:pt x="1246632" y="631698"/>
                  </a:lnTo>
                  <a:lnTo>
                    <a:pt x="1252982" y="631698"/>
                  </a:lnTo>
                  <a:lnTo>
                    <a:pt x="1246632" y="631698"/>
                  </a:lnTo>
                  <a:cubicBezTo>
                    <a:pt x="1246632" y="289814"/>
                    <a:pt x="970407" y="12700"/>
                    <a:pt x="629666" y="12700"/>
                  </a:cubicBezTo>
                  <a:cubicBezTo>
                    <a:pt x="627761" y="12700"/>
                    <a:pt x="625856" y="11811"/>
                    <a:pt x="624713" y="10287"/>
                  </a:cubicBezTo>
                  <a:lnTo>
                    <a:pt x="629666" y="6350"/>
                  </a:lnTo>
                  <a:lnTo>
                    <a:pt x="629666" y="12700"/>
                  </a:lnTo>
                  <a:cubicBezTo>
                    <a:pt x="288925" y="12700"/>
                    <a:pt x="12700" y="289814"/>
                    <a:pt x="12700" y="631698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845469" y="8678170"/>
            <a:ext cx="350634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750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70867" y="8363102"/>
            <a:ext cx="2750191" cy="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Select Strong Rules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70867" y="8787851"/>
            <a:ext cx="14063662" cy="37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12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Keep only the most useful and actionable rules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01518" y="682228"/>
            <a:ext cx="5610377" cy="72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Popular Algorithms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01518" y="1910801"/>
            <a:ext cx="7451522" cy="7451522"/>
            <a:chOff x="0" y="0"/>
            <a:chExt cx="9935362" cy="993536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935337" cy="9935337"/>
            </a:xfrm>
            <a:custGeom>
              <a:avLst/>
              <a:gdLst/>
              <a:ahLst/>
              <a:cxnLst/>
              <a:rect r="r" b="b" t="t" l="l"/>
              <a:pathLst>
                <a:path h="9935337" w="9935337">
                  <a:moveTo>
                    <a:pt x="0" y="0"/>
                  </a:moveTo>
                  <a:lnTo>
                    <a:pt x="9935337" y="0"/>
                  </a:lnTo>
                  <a:lnTo>
                    <a:pt x="9935337" y="9935337"/>
                  </a:lnTo>
                  <a:lnTo>
                    <a:pt x="0" y="99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1518" y="1910801"/>
            <a:ext cx="7451522" cy="7451522"/>
            <a:chOff x="0" y="0"/>
            <a:chExt cx="9935362" cy="993536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9935337" cy="9935337"/>
            </a:xfrm>
            <a:custGeom>
              <a:avLst/>
              <a:gdLst/>
              <a:ahLst/>
              <a:cxnLst/>
              <a:rect r="r" b="b" t="t" l="l"/>
              <a:pathLst>
                <a:path h="9935337" w="9935337">
                  <a:moveTo>
                    <a:pt x="0" y="0"/>
                  </a:moveTo>
                  <a:lnTo>
                    <a:pt x="9935337" y="0"/>
                  </a:lnTo>
                  <a:lnTo>
                    <a:pt x="9935337" y="9935337"/>
                  </a:lnTo>
                  <a:lnTo>
                    <a:pt x="0" y="9935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444190" y="3973116"/>
            <a:ext cx="2805112" cy="36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Apriori Algorithm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44190" y="4485084"/>
            <a:ext cx="7451522" cy="106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Works level by level, generating candidate itemsets and pruning those below a support threshold. Simple to understand but can be slow on very large datasets.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44190" y="5731373"/>
            <a:ext cx="2927594" cy="36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FP-Growth Algorithm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44190" y="6243342"/>
            <a:ext cx="7451522" cy="106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Builds a compact tree structure (FP-tree) to mine frequent patterns without candidate generation. Significantly faster and more memory-efficient than Apriori.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1738" y="1015155"/>
            <a:ext cx="9763420" cy="69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4187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Advantages of Market Basket Analysis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801738" y="1970932"/>
            <a:ext cx="572691" cy="572691"/>
          </a:xfrm>
          <a:custGeom>
            <a:avLst/>
            <a:gdLst/>
            <a:ahLst/>
            <a:cxnLst/>
            <a:rect r="r" b="b" t="t" l="l"/>
            <a:pathLst>
              <a:path h="572691" w="572691">
                <a:moveTo>
                  <a:pt x="0" y="0"/>
                </a:moveTo>
                <a:lnTo>
                  <a:pt x="572691" y="0"/>
                </a:lnTo>
                <a:lnTo>
                  <a:pt x="572691" y="572691"/>
                </a:lnTo>
                <a:lnTo>
                  <a:pt x="0" y="5726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278" t="0" r="-3279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01738" y="2734266"/>
            <a:ext cx="3326606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Better Product Placement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1738" y="3166767"/>
            <a:ext cx="9826523" cy="3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Group related items strategically to increase visibility and sales.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801738" y="3879056"/>
            <a:ext cx="572691" cy="572691"/>
          </a:xfrm>
          <a:custGeom>
            <a:avLst/>
            <a:gdLst/>
            <a:ahLst/>
            <a:cxnLst/>
            <a:rect r="r" b="b" t="t" l="l"/>
            <a:pathLst>
              <a:path h="572691" w="572691">
                <a:moveTo>
                  <a:pt x="0" y="0"/>
                </a:moveTo>
                <a:lnTo>
                  <a:pt x="572691" y="0"/>
                </a:lnTo>
                <a:lnTo>
                  <a:pt x="572691" y="572691"/>
                </a:lnTo>
                <a:lnTo>
                  <a:pt x="0" y="5726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819" r="0" b="-81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01738" y="4642399"/>
            <a:ext cx="3260379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Cross-Selling &amp; Upselling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1738" y="5074891"/>
            <a:ext cx="9826523" cy="3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Recommend complementary products to boost average transaction value.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801738" y="5787180"/>
            <a:ext cx="572691" cy="572691"/>
          </a:xfrm>
          <a:custGeom>
            <a:avLst/>
            <a:gdLst/>
            <a:ahLst/>
            <a:cxnLst/>
            <a:rect r="r" b="b" t="t" l="l"/>
            <a:pathLst>
              <a:path h="572691" w="572691">
                <a:moveTo>
                  <a:pt x="0" y="0"/>
                </a:moveTo>
                <a:lnTo>
                  <a:pt x="572691" y="0"/>
                </a:lnTo>
                <a:lnTo>
                  <a:pt x="572691" y="572691"/>
                </a:lnTo>
                <a:lnTo>
                  <a:pt x="0" y="5726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01738" y="6550523"/>
            <a:ext cx="4157367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Enhanced Customer Experience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1738" y="6983016"/>
            <a:ext cx="9826523" cy="3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Personalise shopping experiences based on discovered buying patterns.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801738" y="7695305"/>
            <a:ext cx="572691" cy="572691"/>
          </a:xfrm>
          <a:custGeom>
            <a:avLst/>
            <a:gdLst/>
            <a:ahLst/>
            <a:cxnLst/>
            <a:rect r="r" b="b" t="t" l="l"/>
            <a:pathLst>
              <a:path h="572691" w="572691">
                <a:moveTo>
                  <a:pt x="0" y="0"/>
                </a:moveTo>
                <a:lnTo>
                  <a:pt x="572691" y="0"/>
                </a:lnTo>
                <a:lnTo>
                  <a:pt x="572691" y="572690"/>
                </a:lnTo>
                <a:lnTo>
                  <a:pt x="0" y="5726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01738" y="8458648"/>
            <a:ext cx="2890838" cy="36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062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Data-Driven Decisions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1738" y="8891140"/>
            <a:ext cx="9826523" cy="3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Replace guesswork with evidence-based strategies for inventory and marketing.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49709" y="666159"/>
            <a:ext cx="6494564" cy="73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Limitations to Consider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9709" y="2800198"/>
            <a:ext cx="10054981" cy="5697741"/>
            <a:chOff x="0" y="0"/>
            <a:chExt cx="13406641" cy="759698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406628" cy="7597013"/>
            </a:xfrm>
            <a:custGeom>
              <a:avLst/>
              <a:gdLst/>
              <a:ahLst/>
              <a:cxnLst/>
              <a:rect r="r" b="b" t="t" l="l"/>
              <a:pathLst>
                <a:path h="7597013" w="13406628">
                  <a:moveTo>
                    <a:pt x="0" y="0"/>
                  </a:moveTo>
                  <a:lnTo>
                    <a:pt x="13406628" y="0"/>
                  </a:lnTo>
                  <a:lnTo>
                    <a:pt x="13406628" y="7597013"/>
                  </a:lnTo>
                  <a:lnTo>
                    <a:pt x="0" y="7597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2" t="0" r="-3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07145" y="1826571"/>
            <a:ext cx="5140528" cy="110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While powerful, Market Basket Analysis has notable constraints that practitioners must account for.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1998223" y="3161633"/>
            <a:ext cx="364627" cy="364627"/>
          </a:xfrm>
          <a:custGeom>
            <a:avLst/>
            <a:gdLst/>
            <a:ahLst/>
            <a:cxnLst/>
            <a:rect r="r" b="b" t="t" l="l"/>
            <a:pathLst>
              <a:path h="364627" w="364627">
                <a:moveTo>
                  <a:pt x="0" y="0"/>
                </a:moveTo>
                <a:lnTo>
                  <a:pt x="364627" y="0"/>
                </a:lnTo>
                <a:lnTo>
                  <a:pt x="364627" y="364627"/>
                </a:lnTo>
                <a:lnTo>
                  <a:pt x="0" y="3646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693" t="0" r="-769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697120" y="3135068"/>
            <a:ext cx="3345656" cy="3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Large Datasets Required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7120" y="3661467"/>
            <a:ext cx="4350544" cy="75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Small datasets may not yield statistically meaningful patterns.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1998223" y="4816745"/>
            <a:ext cx="364627" cy="364627"/>
          </a:xfrm>
          <a:custGeom>
            <a:avLst/>
            <a:gdLst/>
            <a:ahLst/>
            <a:cxnLst/>
            <a:rect r="r" b="b" t="t" l="l"/>
            <a:pathLst>
              <a:path h="364627" w="364627">
                <a:moveTo>
                  <a:pt x="0" y="0"/>
                </a:moveTo>
                <a:lnTo>
                  <a:pt x="364627" y="0"/>
                </a:lnTo>
                <a:lnTo>
                  <a:pt x="364627" y="364626"/>
                </a:lnTo>
                <a:lnTo>
                  <a:pt x="0" y="3646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693" t="0" r="-7693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697120" y="4790180"/>
            <a:ext cx="2860177" cy="3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Rule Overload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97120" y="5316588"/>
            <a:ext cx="4350544" cy="75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Can generate thousands of rules, many of which are trivial or redundant.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1998223" y="6471866"/>
            <a:ext cx="364627" cy="364627"/>
          </a:xfrm>
          <a:custGeom>
            <a:avLst/>
            <a:gdLst/>
            <a:ahLst/>
            <a:cxnLst/>
            <a:rect r="r" b="b" t="t" l="l"/>
            <a:pathLst>
              <a:path h="364627" w="364627">
                <a:moveTo>
                  <a:pt x="0" y="0"/>
                </a:moveTo>
                <a:lnTo>
                  <a:pt x="364627" y="0"/>
                </a:lnTo>
                <a:lnTo>
                  <a:pt x="364627" y="364627"/>
                </a:lnTo>
                <a:lnTo>
                  <a:pt x="0" y="3646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693" t="0" r="-7693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697120" y="6445301"/>
            <a:ext cx="3302203" cy="3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No Sequence Awareness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97120" y="6971709"/>
            <a:ext cx="4350544" cy="75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Does not account for the order in which items are purchased.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1998223" y="8126987"/>
            <a:ext cx="364627" cy="364627"/>
          </a:xfrm>
          <a:custGeom>
            <a:avLst/>
            <a:gdLst/>
            <a:ahLst/>
            <a:cxnLst/>
            <a:rect r="r" b="b" t="t" l="l"/>
            <a:pathLst>
              <a:path h="364627" w="364627">
                <a:moveTo>
                  <a:pt x="0" y="0"/>
                </a:moveTo>
                <a:lnTo>
                  <a:pt x="364627" y="0"/>
                </a:lnTo>
                <a:lnTo>
                  <a:pt x="364627" y="364627"/>
                </a:lnTo>
                <a:lnTo>
                  <a:pt x="0" y="3646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693" t="0" r="-7693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697120" y="8100422"/>
            <a:ext cx="2860177" cy="37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Computational Cost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97120" y="8626821"/>
            <a:ext cx="4350544" cy="75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Can be expensive to run on very large transaction databases.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14565" y="1236907"/>
            <a:ext cx="8689181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12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Applications &amp;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4565" y="2800798"/>
            <a:ext cx="3410245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Where MBA Is Used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9802" y="3556997"/>
            <a:ext cx="3757022" cy="2654198"/>
            <a:chOff x="0" y="0"/>
            <a:chExt cx="5009363" cy="35389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4996688" cy="3526155"/>
            </a:xfrm>
            <a:custGeom>
              <a:avLst/>
              <a:gdLst/>
              <a:ahLst/>
              <a:cxnLst/>
              <a:rect r="r" b="b" t="t" l="l"/>
              <a:pathLst>
                <a:path h="3526155" w="4996688">
                  <a:moveTo>
                    <a:pt x="0" y="162306"/>
                  </a:moveTo>
                  <a:cubicBezTo>
                    <a:pt x="0" y="72644"/>
                    <a:pt x="72771" y="0"/>
                    <a:pt x="162560" y="0"/>
                  </a:cubicBezTo>
                  <a:lnTo>
                    <a:pt x="4834128" y="0"/>
                  </a:lnTo>
                  <a:cubicBezTo>
                    <a:pt x="4923917" y="0"/>
                    <a:pt x="4996688" y="72644"/>
                    <a:pt x="4996688" y="162306"/>
                  </a:cubicBezTo>
                  <a:lnTo>
                    <a:pt x="4996688" y="3363849"/>
                  </a:lnTo>
                  <a:cubicBezTo>
                    <a:pt x="4996688" y="3453511"/>
                    <a:pt x="4923917" y="3526155"/>
                    <a:pt x="4834128" y="3526155"/>
                  </a:cubicBezTo>
                  <a:lnTo>
                    <a:pt x="162560" y="3526155"/>
                  </a:lnTo>
                  <a:cubicBezTo>
                    <a:pt x="72771" y="3526155"/>
                    <a:pt x="0" y="3453511"/>
                    <a:pt x="0" y="3363849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09388" cy="3538855"/>
            </a:xfrm>
            <a:custGeom>
              <a:avLst/>
              <a:gdLst/>
              <a:ahLst/>
              <a:cxnLst/>
              <a:rect r="r" b="b" t="t" l="l"/>
              <a:pathLst>
                <a:path h="3538855" w="5009388">
                  <a:moveTo>
                    <a:pt x="0" y="168656"/>
                  </a:moveTo>
                  <a:cubicBezTo>
                    <a:pt x="0" y="75565"/>
                    <a:pt x="75565" y="0"/>
                    <a:pt x="168910" y="0"/>
                  </a:cubicBezTo>
                  <a:lnTo>
                    <a:pt x="4840478" y="0"/>
                  </a:lnTo>
                  <a:lnTo>
                    <a:pt x="4840478" y="6350"/>
                  </a:lnTo>
                  <a:lnTo>
                    <a:pt x="4840478" y="0"/>
                  </a:lnTo>
                  <a:cubicBezTo>
                    <a:pt x="4933696" y="0"/>
                    <a:pt x="5009388" y="75565"/>
                    <a:pt x="5009388" y="168656"/>
                  </a:cubicBezTo>
                  <a:lnTo>
                    <a:pt x="5003038" y="168656"/>
                  </a:lnTo>
                  <a:lnTo>
                    <a:pt x="5009388" y="168656"/>
                  </a:lnTo>
                  <a:lnTo>
                    <a:pt x="5009388" y="3370199"/>
                  </a:lnTo>
                  <a:lnTo>
                    <a:pt x="5003038" y="3370199"/>
                  </a:lnTo>
                  <a:lnTo>
                    <a:pt x="5009388" y="3370199"/>
                  </a:lnTo>
                  <a:cubicBezTo>
                    <a:pt x="5009388" y="3463417"/>
                    <a:pt x="4933823" y="3538855"/>
                    <a:pt x="4840478" y="3538855"/>
                  </a:cubicBezTo>
                  <a:lnTo>
                    <a:pt x="4840478" y="3532505"/>
                  </a:lnTo>
                  <a:lnTo>
                    <a:pt x="4840478" y="3538855"/>
                  </a:lnTo>
                  <a:lnTo>
                    <a:pt x="168910" y="3538855"/>
                  </a:lnTo>
                  <a:lnTo>
                    <a:pt x="168910" y="3532505"/>
                  </a:lnTo>
                  <a:lnTo>
                    <a:pt x="168910" y="3538855"/>
                  </a:lnTo>
                  <a:cubicBezTo>
                    <a:pt x="75692" y="3538855"/>
                    <a:pt x="0" y="3463290"/>
                    <a:pt x="0" y="3370199"/>
                  </a:cubicBezTo>
                  <a:lnTo>
                    <a:pt x="0" y="168656"/>
                  </a:lnTo>
                  <a:lnTo>
                    <a:pt x="6350" y="168656"/>
                  </a:lnTo>
                  <a:lnTo>
                    <a:pt x="0" y="168656"/>
                  </a:lnTo>
                  <a:moveTo>
                    <a:pt x="12700" y="168656"/>
                  </a:moveTo>
                  <a:lnTo>
                    <a:pt x="12700" y="3370199"/>
                  </a:lnTo>
                  <a:lnTo>
                    <a:pt x="6350" y="3370199"/>
                  </a:lnTo>
                  <a:lnTo>
                    <a:pt x="12700" y="3370199"/>
                  </a:lnTo>
                  <a:cubicBezTo>
                    <a:pt x="12700" y="3456305"/>
                    <a:pt x="82550" y="3526155"/>
                    <a:pt x="168910" y="3526155"/>
                  </a:cubicBezTo>
                  <a:lnTo>
                    <a:pt x="4840478" y="3526155"/>
                  </a:lnTo>
                  <a:cubicBezTo>
                    <a:pt x="4926711" y="3526155"/>
                    <a:pt x="4996688" y="3456305"/>
                    <a:pt x="4996688" y="3370199"/>
                  </a:cubicBezTo>
                  <a:lnTo>
                    <a:pt x="4996688" y="168656"/>
                  </a:lnTo>
                  <a:cubicBezTo>
                    <a:pt x="4996688" y="82550"/>
                    <a:pt x="4926838" y="12700"/>
                    <a:pt x="4840478" y="12700"/>
                  </a:cubicBezTo>
                  <a:lnTo>
                    <a:pt x="168910" y="12700"/>
                  </a:lnTo>
                  <a:lnTo>
                    <a:pt x="168910" y="6350"/>
                  </a:lnTo>
                  <a:lnTo>
                    <a:pt x="168910" y="12700"/>
                  </a:lnTo>
                  <a:cubicBezTo>
                    <a:pt x="82550" y="12700"/>
                    <a:pt x="12700" y="82550"/>
                    <a:pt x="12700" y="168656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13859" y="3841994"/>
            <a:ext cx="3148908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🛒</a:t>
            </a:r>
            <a:r>
              <a:rPr lang="en-US" sz="26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Retail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3859" y="4491628"/>
            <a:ext cx="3148908" cy="989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249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Supermarkets and e-commerce platforms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037982" y="3556997"/>
            <a:ext cx="3757165" cy="2654198"/>
            <a:chOff x="0" y="0"/>
            <a:chExt cx="5009553" cy="35389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4996942" cy="3526155"/>
            </a:xfrm>
            <a:custGeom>
              <a:avLst/>
              <a:gdLst/>
              <a:ahLst/>
              <a:cxnLst/>
              <a:rect r="r" b="b" t="t" l="l"/>
              <a:pathLst>
                <a:path h="3526155" w="4996942">
                  <a:moveTo>
                    <a:pt x="0" y="162306"/>
                  </a:moveTo>
                  <a:cubicBezTo>
                    <a:pt x="0" y="72644"/>
                    <a:pt x="72771" y="0"/>
                    <a:pt x="162560" y="0"/>
                  </a:cubicBezTo>
                  <a:lnTo>
                    <a:pt x="4834382" y="0"/>
                  </a:lnTo>
                  <a:cubicBezTo>
                    <a:pt x="4924171" y="0"/>
                    <a:pt x="4996942" y="72644"/>
                    <a:pt x="4996942" y="162306"/>
                  </a:cubicBezTo>
                  <a:lnTo>
                    <a:pt x="4996942" y="3363849"/>
                  </a:lnTo>
                  <a:cubicBezTo>
                    <a:pt x="4996942" y="3453511"/>
                    <a:pt x="4924171" y="3526155"/>
                    <a:pt x="4834382" y="3526155"/>
                  </a:cubicBezTo>
                  <a:lnTo>
                    <a:pt x="162560" y="3526155"/>
                  </a:lnTo>
                  <a:cubicBezTo>
                    <a:pt x="72771" y="3526155"/>
                    <a:pt x="0" y="3453511"/>
                    <a:pt x="0" y="3363849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09642" cy="3538855"/>
            </a:xfrm>
            <a:custGeom>
              <a:avLst/>
              <a:gdLst/>
              <a:ahLst/>
              <a:cxnLst/>
              <a:rect r="r" b="b" t="t" l="l"/>
              <a:pathLst>
                <a:path h="3538855" w="5009642">
                  <a:moveTo>
                    <a:pt x="0" y="168656"/>
                  </a:moveTo>
                  <a:cubicBezTo>
                    <a:pt x="0" y="75565"/>
                    <a:pt x="75565" y="0"/>
                    <a:pt x="168910" y="0"/>
                  </a:cubicBezTo>
                  <a:lnTo>
                    <a:pt x="4840732" y="0"/>
                  </a:lnTo>
                  <a:lnTo>
                    <a:pt x="4840732" y="6350"/>
                  </a:lnTo>
                  <a:lnTo>
                    <a:pt x="4840732" y="0"/>
                  </a:lnTo>
                  <a:cubicBezTo>
                    <a:pt x="4933950" y="0"/>
                    <a:pt x="5009642" y="75565"/>
                    <a:pt x="5009642" y="168656"/>
                  </a:cubicBezTo>
                  <a:lnTo>
                    <a:pt x="5003292" y="168656"/>
                  </a:lnTo>
                  <a:lnTo>
                    <a:pt x="5009642" y="168656"/>
                  </a:lnTo>
                  <a:lnTo>
                    <a:pt x="5009642" y="3370199"/>
                  </a:lnTo>
                  <a:lnTo>
                    <a:pt x="5003292" y="3370199"/>
                  </a:lnTo>
                  <a:lnTo>
                    <a:pt x="5009642" y="3370199"/>
                  </a:lnTo>
                  <a:cubicBezTo>
                    <a:pt x="5009642" y="3463417"/>
                    <a:pt x="4934077" y="3538855"/>
                    <a:pt x="4840732" y="3538855"/>
                  </a:cubicBezTo>
                  <a:lnTo>
                    <a:pt x="4840732" y="3532505"/>
                  </a:lnTo>
                  <a:lnTo>
                    <a:pt x="4840732" y="3538855"/>
                  </a:lnTo>
                  <a:lnTo>
                    <a:pt x="168910" y="3538855"/>
                  </a:lnTo>
                  <a:lnTo>
                    <a:pt x="168910" y="3532505"/>
                  </a:lnTo>
                  <a:lnTo>
                    <a:pt x="168910" y="3538855"/>
                  </a:lnTo>
                  <a:cubicBezTo>
                    <a:pt x="75692" y="3538855"/>
                    <a:pt x="0" y="3463290"/>
                    <a:pt x="0" y="3370199"/>
                  </a:cubicBezTo>
                  <a:lnTo>
                    <a:pt x="0" y="168656"/>
                  </a:lnTo>
                  <a:lnTo>
                    <a:pt x="6350" y="168656"/>
                  </a:lnTo>
                  <a:lnTo>
                    <a:pt x="0" y="168656"/>
                  </a:lnTo>
                  <a:moveTo>
                    <a:pt x="12700" y="168656"/>
                  </a:moveTo>
                  <a:lnTo>
                    <a:pt x="12700" y="3370199"/>
                  </a:lnTo>
                  <a:lnTo>
                    <a:pt x="6350" y="3370199"/>
                  </a:lnTo>
                  <a:lnTo>
                    <a:pt x="12700" y="3370199"/>
                  </a:lnTo>
                  <a:cubicBezTo>
                    <a:pt x="12700" y="3456305"/>
                    <a:pt x="82550" y="3526155"/>
                    <a:pt x="168910" y="3526155"/>
                  </a:cubicBezTo>
                  <a:lnTo>
                    <a:pt x="4840732" y="3526155"/>
                  </a:lnTo>
                  <a:cubicBezTo>
                    <a:pt x="4926965" y="3526155"/>
                    <a:pt x="4996942" y="3456305"/>
                    <a:pt x="4996942" y="3370199"/>
                  </a:cubicBezTo>
                  <a:lnTo>
                    <a:pt x="4996942" y="168656"/>
                  </a:lnTo>
                  <a:cubicBezTo>
                    <a:pt x="4996942" y="82550"/>
                    <a:pt x="4927092" y="12700"/>
                    <a:pt x="4840732" y="12700"/>
                  </a:cubicBezTo>
                  <a:lnTo>
                    <a:pt x="168910" y="12700"/>
                  </a:lnTo>
                  <a:lnTo>
                    <a:pt x="168910" y="6350"/>
                  </a:lnTo>
                  <a:lnTo>
                    <a:pt x="168910" y="12700"/>
                  </a:lnTo>
                  <a:cubicBezTo>
                    <a:pt x="82550" y="12700"/>
                    <a:pt x="12700" y="82550"/>
                    <a:pt x="12700" y="168656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342039" y="3841994"/>
            <a:ext cx="3149051" cy="87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🎯</a:t>
            </a:r>
            <a:r>
              <a:rPr lang="en-US" sz="26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Recommendations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42039" y="4917729"/>
            <a:ext cx="3149051" cy="989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249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Product recommendation engines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9802" y="6482353"/>
            <a:ext cx="3757022" cy="2228107"/>
            <a:chOff x="0" y="0"/>
            <a:chExt cx="5009363" cy="29708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4996688" cy="2958084"/>
            </a:xfrm>
            <a:custGeom>
              <a:avLst/>
              <a:gdLst/>
              <a:ahLst/>
              <a:cxnLst/>
              <a:rect r="r" b="b" t="t" l="l"/>
              <a:pathLst>
                <a:path h="2958084" w="4996688">
                  <a:moveTo>
                    <a:pt x="0" y="162306"/>
                  </a:moveTo>
                  <a:cubicBezTo>
                    <a:pt x="0" y="72644"/>
                    <a:pt x="72771" y="0"/>
                    <a:pt x="162687" y="0"/>
                  </a:cubicBezTo>
                  <a:lnTo>
                    <a:pt x="4834001" y="0"/>
                  </a:lnTo>
                  <a:cubicBezTo>
                    <a:pt x="4923790" y="0"/>
                    <a:pt x="4996688" y="72644"/>
                    <a:pt x="4996688" y="162306"/>
                  </a:cubicBezTo>
                  <a:lnTo>
                    <a:pt x="4996688" y="2795778"/>
                  </a:lnTo>
                  <a:cubicBezTo>
                    <a:pt x="4996688" y="2885440"/>
                    <a:pt x="4923917" y="2958084"/>
                    <a:pt x="4834001" y="2958084"/>
                  </a:cubicBezTo>
                  <a:lnTo>
                    <a:pt x="162687" y="2958084"/>
                  </a:lnTo>
                  <a:cubicBezTo>
                    <a:pt x="72771" y="2958084"/>
                    <a:pt x="0" y="2885440"/>
                    <a:pt x="0" y="2795778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09388" cy="2970784"/>
            </a:xfrm>
            <a:custGeom>
              <a:avLst/>
              <a:gdLst/>
              <a:ahLst/>
              <a:cxnLst/>
              <a:rect r="r" b="b" t="t" l="l"/>
              <a:pathLst>
                <a:path h="2970784" w="5009388">
                  <a:moveTo>
                    <a:pt x="0" y="168656"/>
                  </a:moveTo>
                  <a:cubicBezTo>
                    <a:pt x="0" y="75565"/>
                    <a:pt x="75692" y="0"/>
                    <a:pt x="169037" y="0"/>
                  </a:cubicBezTo>
                  <a:lnTo>
                    <a:pt x="4840351" y="0"/>
                  </a:lnTo>
                  <a:lnTo>
                    <a:pt x="4840351" y="6350"/>
                  </a:lnTo>
                  <a:lnTo>
                    <a:pt x="4840351" y="0"/>
                  </a:lnTo>
                  <a:cubicBezTo>
                    <a:pt x="4933696" y="0"/>
                    <a:pt x="5009388" y="75565"/>
                    <a:pt x="5009388" y="168656"/>
                  </a:cubicBezTo>
                  <a:lnTo>
                    <a:pt x="5003038" y="168656"/>
                  </a:lnTo>
                  <a:lnTo>
                    <a:pt x="5009388" y="168656"/>
                  </a:lnTo>
                  <a:lnTo>
                    <a:pt x="5009388" y="2802128"/>
                  </a:lnTo>
                  <a:lnTo>
                    <a:pt x="5003038" y="2802128"/>
                  </a:lnTo>
                  <a:lnTo>
                    <a:pt x="5009388" y="2802128"/>
                  </a:lnTo>
                  <a:cubicBezTo>
                    <a:pt x="5009388" y="2895346"/>
                    <a:pt x="4933696" y="2970784"/>
                    <a:pt x="4840351" y="2970784"/>
                  </a:cubicBezTo>
                  <a:lnTo>
                    <a:pt x="4840351" y="2964434"/>
                  </a:lnTo>
                  <a:lnTo>
                    <a:pt x="4840351" y="2970784"/>
                  </a:lnTo>
                  <a:lnTo>
                    <a:pt x="169037" y="2970784"/>
                  </a:lnTo>
                  <a:lnTo>
                    <a:pt x="169037" y="2964434"/>
                  </a:lnTo>
                  <a:lnTo>
                    <a:pt x="169037" y="2970784"/>
                  </a:lnTo>
                  <a:cubicBezTo>
                    <a:pt x="75692" y="2970784"/>
                    <a:pt x="0" y="2895346"/>
                    <a:pt x="0" y="2802128"/>
                  </a:cubicBezTo>
                  <a:lnTo>
                    <a:pt x="0" y="168656"/>
                  </a:lnTo>
                  <a:lnTo>
                    <a:pt x="6350" y="168656"/>
                  </a:lnTo>
                  <a:lnTo>
                    <a:pt x="0" y="168656"/>
                  </a:lnTo>
                  <a:moveTo>
                    <a:pt x="12700" y="168656"/>
                  </a:moveTo>
                  <a:lnTo>
                    <a:pt x="12700" y="2802128"/>
                  </a:lnTo>
                  <a:lnTo>
                    <a:pt x="6350" y="2802128"/>
                  </a:lnTo>
                  <a:lnTo>
                    <a:pt x="12700" y="2802128"/>
                  </a:lnTo>
                  <a:cubicBezTo>
                    <a:pt x="12700" y="2888234"/>
                    <a:pt x="82677" y="2958084"/>
                    <a:pt x="169037" y="2958084"/>
                  </a:cubicBezTo>
                  <a:lnTo>
                    <a:pt x="4840351" y="2958084"/>
                  </a:lnTo>
                  <a:cubicBezTo>
                    <a:pt x="4926711" y="2958084"/>
                    <a:pt x="4996688" y="2888234"/>
                    <a:pt x="4996688" y="2802128"/>
                  </a:cubicBezTo>
                  <a:lnTo>
                    <a:pt x="4996688" y="168656"/>
                  </a:lnTo>
                  <a:cubicBezTo>
                    <a:pt x="4996688" y="82550"/>
                    <a:pt x="4926711" y="12700"/>
                    <a:pt x="4840351" y="12700"/>
                  </a:cubicBezTo>
                  <a:lnTo>
                    <a:pt x="169037" y="12700"/>
                  </a:lnTo>
                  <a:lnTo>
                    <a:pt x="169037" y="6350"/>
                  </a:lnTo>
                  <a:lnTo>
                    <a:pt x="169037" y="12700"/>
                  </a:lnTo>
                  <a:cubicBezTo>
                    <a:pt x="82677" y="12700"/>
                    <a:pt x="12700" y="82550"/>
                    <a:pt x="12700" y="168656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13859" y="6767360"/>
            <a:ext cx="3148908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📦</a:t>
            </a:r>
            <a:r>
              <a:rPr lang="en-US" sz="26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Inventory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3859" y="7417003"/>
            <a:ext cx="3148908" cy="989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249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Stock and supply chain management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037982" y="6482353"/>
            <a:ext cx="3757165" cy="2228107"/>
            <a:chOff x="0" y="0"/>
            <a:chExt cx="5009553" cy="29708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4996942" cy="2958084"/>
            </a:xfrm>
            <a:custGeom>
              <a:avLst/>
              <a:gdLst/>
              <a:ahLst/>
              <a:cxnLst/>
              <a:rect r="r" b="b" t="t" l="l"/>
              <a:pathLst>
                <a:path h="2958084" w="4996942">
                  <a:moveTo>
                    <a:pt x="0" y="162306"/>
                  </a:moveTo>
                  <a:cubicBezTo>
                    <a:pt x="0" y="72644"/>
                    <a:pt x="72771" y="0"/>
                    <a:pt x="162687" y="0"/>
                  </a:cubicBezTo>
                  <a:lnTo>
                    <a:pt x="4834255" y="0"/>
                  </a:lnTo>
                  <a:cubicBezTo>
                    <a:pt x="4924044" y="0"/>
                    <a:pt x="4996942" y="72644"/>
                    <a:pt x="4996942" y="162306"/>
                  </a:cubicBezTo>
                  <a:lnTo>
                    <a:pt x="4996942" y="2795778"/>
                  </a:lnTo>
                  <a:cubicBezTo>
                    <a:pt x="4996942" y="2885440"/>
                    <a:pt x="4924171" y="2958084"/>
                    <a:pt x="4834255" y="2958084"/>
                  </a:cubicBezTo>
                  <a:lnTo>
                    <a:pt x="162687" y="2958084"/>
                  </a:lnTo>
                  <a:cubicBezTo>
                    <a:pt x="72771" y="2958084"/>
                    <a:pt x="0" y="2885440"/>
                    <a:pt x="0" y="2795778"/>
                  </a:cubicBezTo>
                  <a:close/>
                </a:path>
              </a:pathLst>
            </a:custGeom>
            <a:solidFill>
              <a:srgbClr val="F4D4F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09642" cy="2970784"/>
            </a:xfrm>
            <a:custGeom>
              <a:avLst/>
              <a:gdLst/>
              <a:ahLst/>
              <a:cxnLst/>
              <a:rect r="r" b="b" t="t" l="l"/>
              <a:pathLst>
                <a:path h="2970784" w="5009642">
                  <a:moveTo>
                    <a:pt x="0" y="168656"/>
                  </a:moveTo>
                  <a:cubicBezTo>
                    <a:pt x="0" y="75565"/>
                    <a:pt x="75692" y="0"/>
                    <a:pt x="169037" y="0"/>
                  </a:cubicBezTo>
                  <a:lnTo>
                    <a:pt x="4840605" y="0"/>
                  </a:lnTo>
                  <a:lnTo>
                    <a:pt x="4840605" y="6350"/>
                  </a:lnTo>
                  <a:lnTo>
                    <a:pt x="4840605" y="0"/>
                  </a:lnTo>
                  <a:cubicBezTo>
                    <a:pt x="4933950" y="0"/>
                    <a:pt x="5009642" y="75565"/>
                    <a:pt x="5009642" y="168656"/>
                  </a:cubicBezTo>
                  <a:lnTo>
                    <a:pt x="5003292" y="168656"/>
                  </a:lnTo>
                  <a:lnTo>
                    <a:pt x="5009642" y="168656"/>
                  </a:lnTo>
                  <a:lnTo>
                    <a:pt x="5009642" y="2802128"/>
                  </a:lnTo>
                  <a:lnTo>
                    <a:pt x="5003292" y="2802128"/>
                  </a:lnTo>
                  <a:lnTo>
                    <a:pt x="5009642" y="2802128"/>
                  </a:lnTo>
                  <a:cubicBezTo>
                    <a:pt x="5009642" y="2895346"/>
                    <a:pt x="4933950" y="2970784"/>
                    <a:pt x="4840605" y="2970784"/>
                  </a:cubicBezTo>
                  <a:lnTo>
                    <a:pt x="4840605" y="2964434"/>
                  </a:lnTo>
                  <a:lnTo>
                    <a:pt x="4840605" y="2970784"/>
                  </a:lnTo>
                  <a:lnTo>
                    <a:pt x="169037" y="2970784"/>
                  </a:lnTo>
                  <a:lnTo>
                    <a:pt x="169037" y="2964434"/>
                  </a:lnTo>
                  <a:lnTo>
                    <a:pt x="169037" y="2970784"/>
                  </a:lnTo>
                  <a:cubicBezTo>
                    <a:pt x="75692" y="2970784"/>
                    <a:pt x="0" y="2895346"/>
                    <a:pt x="0" y="2802128"/>
                  </a:cubicBezTo>
                  <a:lnTo>
                    <a:pt x="0" y="168656"/>
                  </a:lnTo>
                  <a:lnTo>
                    <a:pt x="6350" y="168656"/>
                  </a:lnTo>
                  <a:lnTo>
                    <a:pt x="0" y="168656"/>
                  </a:lnTo>
                  <a:moveTo>
                    <a:pt x="12700" y="168656"/>
                  </a:moveTo>
                  <a:lnTo>
                    <a:pt x="12700" y="2802128"/>
                  </a:lnTo>
                  <a:lnTo>
                    <a:pt x="6350" y="2802128"/>
                  </a:lnTo>
                  <a:lnTo>
                    <a:pt x="12700" y="2802128"/>
                  </a:lnTo>
                  <a:cubicBezTo>
                    <a:pt x="12700" y="2888234"/>
                    <a:pt x="82677" y="2958084"/>
                    <a:pt x="169037" y="2958084"/>
                  </a:cubicBezTo>
                  <a:lnTo>
                    <a:pt x="4840605" y="2958084"/>
                  </a:lnTo>
                  <a:cubicBezTo>
                    <a:pt x="4926965" y="2958084"/>
                    <a:pt x="4996942" y="2888234"/>
                    <a:pt x="4996942" y="2802128"/>
                  </a:cubicBezTo>
                  <a:lnTo>
                    <a:pt x="4996942" y="168656"/>
                  </a:lnTo>
                  <a:cubicBezTo>
                    <a:pt x="4996815" y="82550"/>
                    <a:pt x="4926838" y="12700"/>
                    <a:pt x="4840605" y="12700"/>
                  </a:cubicBezTo>
                  <a:lnTo>
                    <a:pt x="169037" y="12700"/>
                  </a:lnTo>
                  <a:lnTo>
                    <a:pt x="169037" y="6350"/>
                  </a:lnTo>
                  <a:lnTo>
                    <a:pt x="169037" y="12700"/>
                  </a:lnTo>
                  <a:cubicBezTo>
                    <a:pt x="82677" y="12700"/>
                    <a:pt x="12700" y="82550"/>
                    <a:pt x="12700" y="168656"/>
                  </a:cubicBezTo>
                  <a:close/>
                </a:path>
              </a:pathLst>
            </a:custGeom>
            <a:solidFill>
              <a:srgbClr val="DABADD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342039" y="6767360"/>
            <a:ext cx="3149051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🌐</a:t>
            </a:r>
            <a:r>
              <a:rPr lang="en-US" sz="2625" b="true">
                <a:solidFill>
                  <a:srgbClr val="272525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 Web Analytics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42039" y="7417003"/>
            <a:ext cx="3149051" cy="989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249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Website usage and clickstream analysis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07141" y="2800798"/>
            <a:ext cx="3410245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D73AD7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Key Takeaways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07141" y="3450431"/>
            <a:ext cx="7775819" cy="235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249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Market Basket Analysis is a </a:t>
            </a:r>
            <a:r>
              <a:rPr lang="en-US" sz="2249" b="true">
                <a:solidFill>
                  <a:srgbClr val="272525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powerful and widely adopted</a:t>
            </a:r>
            <a:r>
              <a:rPr lang="en-US" sz="2249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tool for discovering associations in transactional data. When applied correctly, it helps businesses </a:t>
            </a:r>
            <a:r>
              <a:rPr lang="en-US" sz="2249">
                <a:solidFill>
                  <a:srgbClr val="D75BE2"/>
                </a:solidFill>
                <a:latin typeface="Source Sans 3"/>
                <a:ea typeface="Source Sans 3"/>
                <a:cs typeface="Source Sans 3"/>
                <a:sym typeface="Source Sans 3"/>
              </a:rPr>
              <a:t>increase sales, improve customer satisfaction,</a:t>
            </a:r>
            <a:r>
              <a:rPr lang="en-US" sz="2249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and make smarter, data-driven decisions across modern analytics pipelines.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35272" y="1212298"/>
            <a:ext cx="6882527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  <a:p>
            <a:pPr algn="ctr">
              <a:lnSpc>
                <a:spcPts val="128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907048" y="4652327"/>
            <a:ext cx="6473904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Jahanvi Srivastava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(RA2311003011082)</a:t>
            </a:r>
          </a:p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DAHG6Wf85fM</dc:identifier>
  <dcterms:modified xsi:type="dcterms:W3CDTF">2011-08-01T06:04:30Z</dcterms:modified>
  <cp:revision>1</cp:revision>
  <dc:title>Unit 2 DMA (2).pptx</dc:title>
</cp:coreProperties>
</file>