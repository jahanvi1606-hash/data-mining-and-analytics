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mo" charset="1" panose="020B0604020202020204"/>
      <p:regular r:id="rId20"/>
    </p:embeddedFont>
    <p:embeddedFont>
      <p:font typeface="Poppins" charset="1" panose="00000500000000000000"/>
      <p:regular r:id="rId21"/>
    </p:embeddedFont>
    <p:embeddedFont>
      <p:font typeface="Poppins Bold" charset="1" panose="00000800000000000000"/>
      <p:regular r:id="rId23"/>
    </p:embeddedFont>
    <p:embeddedFont>
      <p:font typeface="Canva Sans Bold" charset="1" panose="020B0803030501040103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13" Target="../media/image28.png" Type="http://schemas.openxmlformats.org/officeDocument/2006/relationships/image"/><Relationship Id="rId14" Target="../media/image29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11416" y="3318272"/>
            <a:ext cx="9807178" cy="2149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7"/>
              </a:lnSpc>
            </a:pPr>
            <a:r>
              <a:rPr lang="en-US" sz="6500">
                <a:solidFill>
                  <a:srgbClr val="787878"/>
                </a:solidFill>
                <a:latin typeface="Arimo"/>
                <a:ea typeface="Arimo"/>
                <a:cs typeface="Arimo"/>
                <a:sym typeface="Arimo"/>
              </a:rPr>
              <a:t>Classification by Backpropagation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1416" y="5739403"/>
            <a:ext cx="9807178" cy="447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Data Mining Technique using Neural Networks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11416" y="6456759"/>
            <a:ext cx="1464916" cy="435616"/>
            <a:chOff x="0" y="0"/>
            <a:chExt cx="1953222" cy="5808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3260" cy="580898"/>
            </a:xfrm>
            <a:custGeom>
              <a:avLst/>
              <a:gdLst/>
              <a:ahLst/>
              <a:cxnLst/>
              <a:rect r="r" b="b" t="t" l="l"/>
              <a:pathLst>
                <a:path h="580898" w="1953260">
                  <a:moveTo>
                    <a:pt x="0" y="290449"/>
                  </a:moveTo>
                  <a:cubicBezTo>
                    <a:pt x="0" y="130048"/>
                    <a:pt x="130048" y="0"/>
                    <a:pt x="290449" y="0"/>
                  </a:cubicBezTo>
                  <a:lnTo>
                    <a:pt x="1662811" y="0"/>
                  </a:lnTo>
                  <a:cubicBezTo>
                    <a:pt x="1823212" y="0"/>
                    <a:pt x="1953260" y="130048"/>
                    <a:pt x="1953260" y="290449"/>
                  </a:cubicBezTo>
                  <a:cubicBezTo>
                    <a:pt x="1953260" y="450850"/>
                    <a:pt x="1823212" y="580898"/>
                    <a:pt x="1662811" y="580898"/>
                  </a:cubicBezTo>
                  <a:lnTo>
                    <a:pt x="290449" y="580898"/>
                  </a:lnTo>
                  <a:cubicBezTo>
                    <a:pt x="130048" y="580771"/>
                    <a:pt x="0" y="450850"/>
                    <a:pt x="0" y="290449"/>
                  </a:cubicBezTo>
                  <a:close/>
                </a:path>
              </a:pathLst>
            </a:custGeom>
            <a:solidFill>
              <a:srgbClr val="ECDFE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50414" y="6459588"/>
            <a:ext cx="1186901" cy="363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DATA MINING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387356" y="6442472"/>
            <a:ext cx="2009927" cy="464191"/>
            <a:chOff x="0" y="0"/>
            <a:chExt cx="2679903" cy="6189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79827" cy="618998"/>
            </a:xfrm>
            <a:custGeom>
              <a:avLst/>
              <a:gdLst/>
              <a:ahLst/>
              <a:cxnLst/>
              <a:rect r="r" b="b" t="t" l="l"/>
              <a:pathLst>
                <a:path h="618998" w="2679827">
                  <a:moveTo>
                    <a:pt x="0" y="309499"/>
                  </a:moveTo>
                  <a:cubicBezTo>
                    <a:pt x="0" y="138430"/>
                    <a:pt x="140843" y="0"/>
                    <a:pt x="314325" y="0"/>
                  </a:cubicBezTo>
                  <a:lnTo>
                    <a:pt x="2365502" y="0"/>
                  </a:lnTo>
                  <a:lnTo>
                    <a:pt x="2365502" y="6350"/>
                  </a:lnTo>
                  <a:lnTo>
                    <a:pt x="2365502" y="0"/>
                  </a:lnTo>
                  <a:cubicBezTo>
                    <a:pt x="2538984" y="0"/>
                    <a:pt x="2679827" y="138430"/>
                    <a:pt x="2679827" y="309499"/>
                  </a:cubicBezTo>
                  <a:lnTo>
                    <a:pt x="2673477" y="309499"/>
                  </a:lnTo>
                  <a:lnTo>
                    <a:pt x="2679827" y="309499"/>
                  </a:lnTo>
                  <a:lnTo>
                    <a:pt x="2673477" y="309499"/>
                  </a:lnTo>
                  <a:lnTo>
                    <a:pt x="2679827" y="309499"/>
                  </a:lnTo>
                  <a:cubicBezTo>
                    <a:pt x="2679827" y="480568"/>
                    <a:pt x="2538984" y="618998"/>
                    <a:pt x="2365502" y="618998"/>
                  </a:cubicBezTo>
                  <a:lnTo>
                    <a:pt x="2365502" y="612648"/>
                  </a:lnTo>
                  <a:lnTo>
                    <a:pt x="2365502" y="618998"/>
                  </a:lnTo>
                  <a:lnTo>
                    <a:pt x="314325" y="618998"/>
                  </a:lnTo>
                  <a:lnTo>
                    <a:pt x="314325" y="612648"/>
                  </a:lnTo>
                  <a:lnTo>
                    <a:pt x="314325" y="618998"/>
                  </a:lnTo>
                  <a:cubicBezTo>
                    <a:pt x="140843" y="618871"/>
                    <a:pt x="0" y="480441"/>
                    <a:pt x="0" y="309499"/>
                  </a:cubicBezTo>
                  <a:lnTo>
                    <a:pt x="6350" y="309499"/>
                  </a:lnTo>
                  <a:lnTo>
                    <a:pt x="0" y="309499"/>
                  </a:lnTo>
                  <a:moveTo>
                    <a:pt x="12700" y="309499"/>
                  </a:moveTo>
                  <a:lnTo>
                    <a:pt x="6350" y="309499"/>
                  </a:lnTo>
                  <a:lnTo>
                    <a:pt x="12700" y="309499"/>
                  </a:lnTo>
                  <a:cubicBezTo>
                    <a:pt x="12700" y="473329"/>
                    <a:pt x="147701" y="606298"/>
                    <a:pt x="314325" y="606298"/>
                  </a:cubicBezTo>
                  <a:lnTo>
                    <a:pt x="2365502" y="606298"/>
                  </a:lnTo>
                  <a:cubicBezTo>
                    <a:pt x="2532253" y="606298"/>
                    <a:pt x="2667127" y="473329"/>
                    <a:pt x="2667127" y="309499"/>
                  </a:cubicBezTo>
                  <a:cubicBezTo>
                    <a:pt x="2667127" y="145669"/>
                    <a:pt x="2532253" y="12700"/>
                    <a:pt x="2365502" y="12700"/>
                  </a:cubicBezTo>
                  <a:lnTo>
                    <a:pt x="314325" y="12700"/>
                  </a:lnTo>
                  <a:lnTo>
                    <a:pt x="314325" y="6350"/>
                  </a:lnTo>
                  <a:lnTo>
                    <a:pt x="314325" y="12700"/>
                  </a:lnTo>
                  <a:cubicBezTo>
                    <a:pt x="147701" y="12700"/>
                    <a:pt x="12700" y="145669"/>
                    <a:pt x="12700" y="309499"/>
                  </a:cubicBezTo>
                  <a:close/>
                </a:path>
              </a:pathLst>
            </a:custGeom>
            <a:solidFill>
              <a:srgbClr val="C7A2A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540641" y="6459588"/>
            <a:ext cx="1703337" cy="363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C7A2AC"/>
                </a:solidFill>
                <a:latin typeface="Poppins"/>
                <a:ea typeface="Poppins"/>
                <a:cs typeface="Poppins"/>
                <a:sym typeface="Poppins"/>
              </a:rPr>
              <a:t>NEURAL NETWORKS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606008" y="860822"/>
            <a:ext cx="9884416" cy="100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9"/>
              </a:lnSpc>
            </a:pPr>
            <a:r>
              <a:rPr lang="en-US" sz="6000">
                <a:solidFill>
                  <a:srgbClr val="787878"/>
                </a:solidFill>
                <a:latin typeface="Arimo"/>
                <a:ea typeface="Arimo"/>
                <a:cs typeface="Arimo"/>
                <a:sym typeface="Arimo"/>
              </a:rPr>
              <a:t>Introduction to Classification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06008" y="2097291"/>
            <a:ext cx="9933984" cy="105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Classification is a </a:t>
            </a:r>
            <a:r>
              <a:rPr lang="en-US" sz="1625" b="true">
                <a:solidFill>
                  <a:srgbClr val="6E6666"/>
                </a:solidFill>
                <a:latin typeface="Poppins Bold"/>
                <a:ea typeface="Poppins Bold"/>
                <a:cs typeface="Poppins Bold"/>
                <a:sym typeface="Poppins Bold"/>
              </a:rPr>
              <a:t>supervised learning method</a:t>
            </a:r>
            <a:r>
              <a:rPr lang="en-US" sz="1625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 that assigns data objects to predefined categories. The model learns from labeled examples, then predicts the class of new, unseen data.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606008" y="3370955"/>
            <a:ext cx="9933984" cy="1354188"/>
            <a:chOff x="0" y="0"/>
            <a:chExt cx="13245313" cy="18055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245337" cy="1805559"/>
            </a:xfrm>
            <a:custGeom>
              <a:avLst/>
              <a:gdLst/>
              <a:ahLst/>
              <a:cxnLst/>
              <a:rect r="r" b="b" t="t" l="l"/>
              <a:pathLst>
                <a:path h="1805559" w="13245337">
                  <a:moveTo>
                    <a:pt x="0" y="427482"/>
                  </a:moveTo>
                  <a:cubicBezTo>
                    <a:pt x="0" y="191389"/>
                    <a:pt x="191389" y="0"/>
                    <a:pt x="427482" y="0"/>
                  </a:cubicBezTo>
                  <a:lnTo>
                    <a:pt x="12817856" y="0"/>
                  </a:lnTo>
                  <a:cubicBezTo>
                    <a:pt x="13053949" y="0"/>
                    <a:pt x="13245337" y="191389"/>
                    <a:pt x="13245337" y="427482"/>
                  </a:cubicBezTo>
                  <a:lnTo>
                    <a:pt x="13245337" y="1378077"/>
                  </a:lnTo>
                  <a:cubicBezTo>
                    <a:pt x="13245337" y="1614170"/>
                    <a:pt x="13053949" y="1805559"/>
                    <a:pt x="12817856" y="1805559"/>
                  </a:cubicBezTo>
                  <a:lnTo>
                    <a:pt x="427482" y="1805559"/>
                  </a:lnTo>
                  <a:cubicBezTo>
                    <a:pt x="191389" y="1805559"/>
                    <a:pt x="0" y="1614170"/>
                    <a:pt x="0" y="1378077"/>
                  </a:cubicBezTo>
                  <a:close/>
                </a:path>
              </a:pathLst>
            </a:custGeom>
            <a:solidFill>
              <a:srgbClr val="ECDFE3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819730" y="3556102"/>
            <a:ext cx="3840661" cy="50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Supervised Learning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19730" y="4116286"/>
            <a:ext cx="9506541" cy="39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Trained on labeled data with known outcomes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606008" y="4922044"/>
            <a:ext cx="9933984" cy="1354188"/>
            <a:chOff x="0" y="0"/>
            <a:chExt cx="13245313" cy="18055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245337" cy="1805559"/>
            </a:xfrm>
            <a:custGeom>
              <a:avLst/>
              <a:gdLst/>
              <a:ahLst/>
              <a:cxnLst/>
              <a:rect r="r" b="b" t="t" l="l"/>
              <a:pathLst>
                <a:path h="1805559" w="13245337">
                  <a:moveTo>
                    <a:pt x="0" y="427482"/>
                  </a:moveTo>
                  <a:cubicBezTo>
                    <a:pt x="0" y="191389"/>
                    <a:pt x="191389" y="0"/>
                    <a:pt x="427482" y="0"/>
                  </a:cubicBezTo>
                  <a:lnTo>
                    <a:pt x="12817856" y="0"/>
                  </a:lnTo>
                  <a:cubicBezTo>
                    <a:pt x="13053949" y="0"/>
                    <a:pt x="13245337" y="191389"/>
                    <a:pt x="13245337" y="427482"/>
                  </a:cubicBezTo>
                  <a:lnTo>
                    <a:pt x="13245337" y="1378077"/>
                  </a:lnTo>
                  <a:cubicBezTo>
                    <a:pt x="13245337" y="1614170"/>
                    <a:pt x="13053949" y="1805559"/>
                    <a:pt x="12817856" y="1805559"/>
                  </a:cubicBezTo>
                  <a:lnTo>
                    <a:pt x="427482" y="1805559"/>
                  </a:lnTo>
                  <a:cubicBezTo>
                    <a:pt x="191389" y="1805559"/>
                    <a:pt x="0" y="1614170"/>
                    <a:pt x="0" y="1378077"/>
                  </a:cubicBezTo>
                  <a:close/>
                </a:path>
              </a:pathLst>
            </a:custGeom>
            <a:solidFill>
              <a:srgbClr val="ECDFE3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819730" y="5107191"/>
            <a:ext cx="3840661" cy="50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Predefined Classes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19730" y="5667375"/>
            <a:ext cx="9506541" cy="39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Objects mapped to fixed categories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606008" y="6473133"/>
            <a:ext cx="9933984" cy="1354188"/>
            <a:chOff x="0" y="0"/>
            <a:chExt cx="13245313" cy="18055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245337" cy="1805559"/>
            </a:xfrm>
            <a:custGeom>
              <a:avLst/>
              <a:gdLst/>
              <a:ahLst/>
              <a:cxnLst/>
              <a:rect r="r" b="b" t="t" l="l"/>
              <a:pathLst>
                <a:path h="1805559" w="13245337">
                  <a:moveTo>
                    <a:pt x="0" y="427482"/>
                  </a:moveTo>
                  <a:cubicBezTo>
                    <a:pt x="0" y="191389"/>
                    <a:pt x="191389" y="0"/>
                    <a:pt x="427482" y="0"/>
                  </a:cubicBezTo>
                  <a:lnTo>
                    <a:pt x="12817856" y="0"/>
                  </a:lnTo>
                  <a:cubicBezTo>
                    <a:pt x="13053949" y="0"/>
                    <a:pt x="13245337" y="191389"/>
                    <a:pt x="13245337" y="427482"/>
                  </a:cubicBezTo>
                  <a:lnTo>
                    <a:pt x="13245337" y="1378077"/>
                  </a:lnTo>
                  <a:cubicBezTo>
                    <a:pt x="13245337" y="1614170"/>
                    <a:pt x="13053949" y="1805559"/>
                    <a:pt x="12817856" y="1805559"/>
                  </a:cubicBezTo>
                  <a:lnTo>
                    <a:pt x="427482" y="1805559"/>
                  </a:lnTo>
                  <a:cubicBezTo>
                    <a:pt x="191389" y="1805559"/>
                    <a:pt x="0" y="1614170"/>
                    <a:pt x="0" y="1378077"/>
                  </a:cubicBezTo>
                  <a:close/>
                </a:path>
              </a:pathLst>
            </a:custGeom>
            <a:solidFill>
              <a:srgbClr val="ECDFE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819730" y="6658270"/>
            <a:ext cx="3840661" cy="50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Prediction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19730" y="7218464"/>
            <a:ext cx="9506541" cy="39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Classifies new, unseen data accurately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606008" y="8024222"/>
            <a:ext cx="9933984" cy="1354188"/>
            <a:chOff x="0" y="0"/>
            <a:chExt cx="13245313" cy="18055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245337" cy="1805559"/>
            </a:xfrm>
            <a:custGeom>
              <a:avLst/>
              <a:gdLst/>
              <a:ahLst/>
              <a:cxnLst/>
              <a:rect r="r" b="b" t="t" l="l"/>
              <a:pathLst>
                <a:path h="1805559" w="13245337">
                  <a:moveTo>
                    <a:pt x="0" y="427482"/>
                  </a:moveTo>
                  <a:cubicBezTo>
                    <a:pt x="0" y="191389"/>
                    <a:pt x="191389" y="0"/>
                    <a:pt x="427482" y="0"/>
                  </a:cubicBezTo>
                  <a:lnTo>
                    <a:pt x="12817856" y="0"/>
                  </a:lnTo>
                  <a:cubicBezTo>
                    <a:pt x="13053949" y="0"/>
                    <a:pt x="13245337" y="191389"/>
                    <a:pt x="13245337" y="427482"/>
                  </a:cubicBezTo>
                  <a:lnTo>
                    <a:pt x="13245337" y="1378077"/>
                  </a:lnTo>
                  <a:cubicBezTo>
                    <a:pt x="13245337" y="1614170"/>
                    <a:pt x="13053949" y="1805559"/>
                    <a:pt x="12817856" y="1805559"/>
                  </a:cubicBezTo>
                  <a:lnTo>
                    <a:pt x="427482" y="1805559"/>
                  </a:lnTo>
                  <a:cubicBezTo>
                    <a:pt x="191389" y="1805559"/>
                    <a:pt x="0" y="1614170"/>
                    <a:pt x="0" y="1378077"/>
                  </a:cubicBezTo>
                  <a:close/>
                </a:path>
              </a:pathLst>
            </a:custGeom>
            <a:solidFill>
              <a:srgbClr val="ECDFE3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819730" y="8209359"/>
            <a:ext cx="3840661" cy="50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Decision Systems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19730" y="8769553"/>
            <a:ext cx="9506541" cy="39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Widely used in automated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97259" y="507654"/>
            <a:ext cx="8966892" cy="952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5625">
                <a:solidFill>
                  <a:srgbClr val="787878"/>
                </a:solidFill>
                <a:latin typeface="Arimo"/>
                <a:ea typeface="Arimo"/>
                <a:cs typeface="Arimo"/>
                <a:sym typeface="Arimo"/>
              </a:rPr>
              <a:t>Concept of Neural Networks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97259" y="1909020"/>
            <a:ext cx="10810580" cy="6125918"/>
            <a:chOff x="0" y="0"/>
            <a:chExt cx="14414106" cy="816789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4414119" cy="8167878"/>
            </a:xfrm>
            <a:custGeom>
              <a:avLst/>
              <a:gdLst/>
              <a:ahLst/>
              <a:cxnLst/>
              <a:rect r="r" b="b" t="t" l="l"/>
              <a:pathLst>
                <a:path h="8167878" w="14414119">
                  <a:moveTo>
                    <a:pt x="0" y="0"/>
                  </a:moveTo>
                  <a:lnTo>
                    <a:pt x="14414119" y="0"/>
                  </a:lnTo>
                  <a:lnTo>
                    <a:pt x="14414119" y="8167878"/>
                  </a:lnTo>
                  <a:lnTo>
                    <a:pt x="0" y="8167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" t="0" r="-12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003434" y="4470349"/>
            <a:ext cx="5596680" cy="946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562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Neural networks are computational models </a:t>
            </a:r>
            <a:r>
              <a:rPr lang="en-US" sz="1562" b="true">
                <a:solidFill>
                  <a:srgbClr val="6E6666"/>
                </a:solidFill>
                <a:latin typeface="Poppins Bold"/>
                <a:ea typeface="Poppins Bold"/>
                <a:cs typeface="Poppins Bold"/>
                <a:sym typeface="Poppins Bold"/>
              </a:rPr>
              <a:t>inspired by the human brain</a:t>
            </a:r>
            <a:r>
              <a:rPr lang="en-US" sz="1562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, consisting of interconnected processing units called </a:t>
            </a:r>
            <a:r>
              <a:rPr lang="en-US" sz="1562" b="true">
                <a:solidFill>
                  <a:srgbClr val="6E6666"/>
                </a:solidFill>
                <a:latin typeface="Poppins Bold"/>
                <a:ea typeface="Poppins Bold"/>
                <a:cs typeface="Poppins Bold"/>
                <a:sym typeface="Poppins Bold"/>
              </a:rPr>
              <a:t>neurons</a:t>
            </a:r>
            <a:r>
              <a:rPr lang="en-US" sz="1562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 organized into layers.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82971" y="8405812"/>
            <a:ext cx="5545636" cy="1330528"/>
            <a:chOff x="0" y="0"/>
            <a:chExt cx="7394181" cy="17740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9050" y="19050"/>
              <a:ext cx="7356094" cy="1735963"/>
            </a:xfrm>
            <a:custGeom>
              <a:avLst/>
              <a:gdLst/>
              <a:ahLst/>
              <a:cxnLst/>
              <a:rect r="r" b="b" t="t" l="l"/>
              <a:pathLst>
                <a:path h="1735963" w="7356094">
                  <a:moveTo>
                    <a:pt x="0" y="182880"/>
                  </a:moveTo>
                  <a:cubicBezTo>
                    <a:pt x="0" y="81915"/>
                    <a:pt x="83185" y="0"/>
                    <a:pt x="185928" y="0"/>
                  </a:cubicBezTo>
                  <a:lnTo>
                    <a:pt x="7170166" y="0"/>
                  </a:lnTo>
                  <a:cubicBezTo>
                    <a:pt x="7272910" y="0"/>
                    <a:pt x="7356094" y="81915"/>
                    <a:pt x="7356094" y="182880"/>
                  </a:cubicBezTo>
                  <a:lnTo>
                    <a:pt x="7356094" y="1553083"/>
                  </a:lnTo>
                  <a:cubicBezTo>
                    <a:pt x="7356094" y="1654048"/>
                    <a:pt x="7272910" y="1735963"/>
                    <a:pt x="7170166" y="1735963"/>
                  </a:cubicBezTo>
                  <a:lnTo>
                    <a:pt x="185928" y="1735963"/>
                  </a:lnTo>
                  <a:cubicBezTo>
                    <a:pt x="83185" y="1735963"/>
                    <a:pt x="0" y="1654048"/>
                    <a:pt x="0" y="15530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94194" cy="1774063"/>
            </a:xfrm>
            <a:custGeom>
              <a:avLst/>
              <a:gdLst/>
              <a:ahLst/>
              <a:cxnLst/>
              <a:rect r="r" b="b" t="t" l="l"/>
              <a:pathLst>
                <a:path h="1774063" w="7394194">
                  <a:moveTo>
                    <a:pt x="0" y="201930"/>
                  </a:moveTo>
                  <a:cubicBezTo>
                    <a:pt x="0" y="90170"/>
                    <a:pt x="92075" y="0"/>
                    <a:pt x="204978" y="0"/>
                  </a:cubicBezTo>
                  <a:lnTo>
                    <a:pt x="7189216" y="0"/>
                  </a:lnTo>
                  <a:lnTo>
                    <a:pt x="7189216" y="19050"/>
                  </a:lnTo>
                  <a:lnTo>
                    <a:pt x="7189216" y="0"/>
                  </a:lnTo>
                  <a:cubicBezTo>
                    <a:pt x="7302119" y="0"/>
                    <a:pt x="7394194" y="90170"/>
                    <a:pt x="7394194" y="201930"/>
                  </a:cubicBezTo>
                  <a:lnTo>
                    <a:pt x="7375144" y="201930"/>
                  </a:lnTo>
                  <a:lnTo>
                    <a:pt x="7394194" y="201930"/>
                  </a:lnTo>
                  <a:lnTo>
                    <a:pt x="7394194" y="1572133"/>
                  </a:lnTo>
                  <a:lnTo>
                    <a:pt x="7375144" y="1572133"/>
                  </a:lnTo>
                  <a:lnTo>
                    <a:pt x="7394194" y="1572133"/>
                  </a:lnTo>
                  <a:cubicBezTo>
                    <a:pt x="7394194" y="1683893"/>
                    <a:pt x="7302119" y="1774063"/>
                    <a:pt x="7189216" y="1774063"/>
                  </a:cubicBezTo>
                  <a:lnTo>
                    <a:pt x="7189216" y="1755013"/>
                  </a:lnTo>
                  <a:lnTo>
                    <a:pt x="7189216" y="1774063"/>
                  </a:lnTo>
                  <a:lnTo>
                    <a:pt x="204978" y="1774063"/>
                  </a:lnTo>
                  <a:lnTo>
                    <a:pt x="204978" y="1755013"/>
                  </a:lnTo>
                  <a:lnTo>
                    <a:pt x="204978" y="1774063"/>
                  </a:lnTo>
                  <a:cubicBezTo>
                    <a:pt x="92075" y="1774063"/>
                    <a:pt x="0" y="1683893"/>
                    <a:pt x="0" y="1572133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572133"/>
                  </a:lnTo>
                  <a:lnTo>
                    <a:pt x="19050" y="1572133"/>
                  </a:lnTo>
                  <a:lnTo>
                    <a:pt x="38100" y="1572133"/>
                  </a:lnTo>
                  <a:cubicBezTo>
                    <a:pt x="38100" y="1662303"/>
                    <a:pt x="112522" y="1735963"/>
                    <a:pt x="204978" y="1735963"/>
                  </a:cubicBezTo>
                  <a:lnTo>
                    <a:pt x="7189216" y="1735963"/>
                  </a:lnTo>
                  <a:cubicBezTo>
                    <a:pt x="7281673" y="1735963"/>
                    <a:pt x="7356094" y="1662303"/>
                    <a:pt x="7356094" y="1572133"/>
                  </a:cubicBezTo>
                  <a:lnTo>
                    <a:pt x="7356094" y="201930"/>
                  </a:lnTo>
                  <a:cubicBezTo>
                    <a:pt x="7356094" y="111760"/>
                    <a:pt x="7281673" y="38100"/>
                    <a:pt x="7189216" y="38100"/>
                  </a:cubicBezTo>
                  <a:lnTo>
                    <a:pt x="204978" y="38100"/>
                  </a:lnTo>
                  <a:lnTo>
                    <a:pt x="204978" y="19050"/>
                  </a:lnTo>
                  <a:lnTo>
                    <a:pt x="204978" y="38100"/>
                  </a:lnTo>
                  <a:cubicBezTo>
                    <a:pt x="112522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D2C5C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68684" y="8420100"/>
            <a:ext cx="114300" cy="1301953"/>
            <a:chOff x="0" y="0"/>
            <a:chExt cx="152400" cy="17359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400" cy="1735963"/>
            </a:xfrm>
            <a:custGeom>
              <a:avLst/>
              <a:gdLst/>
              <a:ahLst/>
              <a:cxnLst/>
              <a:rect r="r" b="b" t="t" l="l"/>
              <a:pathLst>
                <a:path h="1735963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1659763"/>
                  </a:lnTo>
                  <a:cubicBezTo>
                    <a:pt x="152400" y="1701800"/>
                    <a:pt x="118237" y="1735963"/>
                    <a:pt x="76200" y="1735963"/>
                  </a:cubicBezTo>
                  <a:cubicBezTo>
                    <a:pt x="34163" y="1735963"/>
                    <a:pt x="0" y="1701800"/>
                    <a:pt x="0" y="1659763"/>
                  </a:cubicBezTo>
                  <a:close/>
                </a:path>
              </a:pathLst>
            </a:custGeom>
            <a:solidFill>
              <a:srgbClr val="C7A2AC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10688" y="8619230"/>
            <a:ext cx="3580362" cy="476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812">
                <a:solidFill>
                  <a:srgbClr val="6E6666"/>
                </a:solidFill>
                <a:latin typeface="Arimo"/>
                <a:ea typeface="Arimo"/>
                <a:cs typeface="Arimo"/>
                <a:sym typeface="Arimo"/>
              </a:rPr>
              <a:t>Input Layer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0688" y="9140876"/>
            <a:ext cx="4975917" cy="353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562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Receives raw feature data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371187" y="8405812"/>
            <a:ext cx="5545636" cy="1330528"/>
            <a:chOff x="0" y="0"/>
            <a:chExt cx="7394181" cy="17740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9050" y="19050"/>
              <a:ext cx="7356094" cy="1735963"/>
            </a:xfrm>
            <a:custGeom>
              <a:avLst/>
              <a:gdLst/>
              <a:ahLst/>
              <a:cxnLst/>
              <a:rect r="r" b="b" t="t" l="l"/>
              <a:pathLst>
                <a:path h="1735963" w="7356094">
                  <a:moveTo>
                    <a:pt x="0" y="182880"/>
                  </a:moveTo>
                  <a:cubicBezTo>
                    <a:pt x="0" y="81915"/>
                    <a:pt x="83185" y="0"/>
                    <a:pt x="185928" y="0"/>
                  </a:cubicBezTo>
                  <a:lnTo>
                    <a:pt x="7170166" y="0"/>
                  </a:lnTo>
                  <a:cubicBezTo>
                    <a:pt x="7272910" y="0"/>
                    <a:pt x="7356094" y="81915"/>
                    <a:pt x="7356094" y="182880"/>
                  </a:cubicBezTo>
                  <a:lnTo>
                    <a:pt x="7356094" y="1553083"/>
                  </a:lnTo>
                  <a:cubicBezTo>
                    <a:pt x="7356094" y="1654048"/>
                    <a:pt x="7272910" y="1735963"/>
                    <a:pt x="7170166" y="1735963"/>
                  </a:cubicBezTo>
                  <a:lnTo>
                    <a:pt x="185928" y="1735963"/>
                  </a:lnTo>
                  <a:cubicBezTo>
                    <a:pt x="83185" y="1735963"/>
                    <a:pt x="0" y="1654048"/>
                    <a:pt x="0" y="15530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94194" cy="1774063"/>
            </a:xfrm>
            <a:custGeom>
              <a:avLst/>
              <a:gdLst/>
              <a:ahLst/>
              <a:cxnLst/>
              <a:rect r="r" b="b" t="t" l="l"/>
              <a:pathLst>
                <a:path h="1774063" w="7394194">
                  <a:moveTo>
                    <a:pt x="0" y="201930"/>
                  </a:moveTo>
                  <a:cubicBezTo>
                    <a:pt x="0" y="90170"/>
                    <a:pt x="92075" y="0"/>
                    <a:pt x="204978" y="0"/>
                  </a:cubicBezTo>
                  <a:lnTo>
                    <a:pt x="7189216" y="0"/>
                  </a:lnTo>
                  <a:lnTo>
                    <a:pt x="7189216" y="19050"/>
                  </a:lnTo>
                  <a:lnTo>
                    <a:pt x="7189216" y="0"/>
                  </a:lnTo>
                  <a:cubicBezTo>
                    <a:pt x="7302119" y="0"/>
                    <a:pt x="7394194" y="90170"/>
                    <a:pt x="7394194" y="201930"/>
                  </a:cubicBezTo>
                  <a:lnTo>
                    <a:pt x="7375144" y="201930"/>
                  </a:lnTo>
                  <a:lnTo>
                    <a:pt x="7394194" y="201930"/>
                  </a:lnTo>
                  <a:lnTo>
                    <a:pt x="7394194" y="1572133"/>
                  </a:lnTo>
                  <a:lnTo>
                    <a:pt x="7375144" y="1572133"/>
                  </a:lnTo>
                  <a:lnTo>
                    <a:pt x="7394194" y="1572133"/>
                  </a:lnTo>
                  <a:cubicBezTo>
                    <a:pt x="7394194" y="1683893"/>
                    <a:pt x="7302119" y="1774063"/>
                    <a:pt x="7189216" y="1774063"/>
                  </a:cubicBezTo>
                  <a:lnTo>
                    <a:pt x="7189216" y="1755013"/>
                  </a:lnTo>
                  <a:lnTo>
                    <a:pt x="7189216" y="1774063"/>
                  </a:lnTo>
                  <a:lnTo>
                    <a:pt x="204978" y="1774063"/>
                  </a:lnTo>
                  <a:lnTo>
                    <a:pt x="204978" y="1755013"/>
                  </a:lnTo>
                  <a:lnTo>
                    <a:pt x="204978" y="1774063"/>
                  </a:lnTo>
                  <a:cubicBezTo>
                    <a:pt x="92075" y="1774063"/>
                    <a:pt x="0" y="1683893"/>
                    <a:pt x="0" y="1572133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572133"/>
                  </a:lnTo>
                  <a:lnTo>
                    <a:pt x="19050" y="1572133"/>
                  </a:lnTo>
                  <a:lnTo>
                    <a:pt x="38100" y="1572133"/>
                  </a:lnTo>
                  <a:cubicBezTo>
                    <a:pt x="38100" y="1662303"/>
                    <a:pt x="112522" y="1735963"/>
                    <a:pt x="204978" y="1735963"/>
                  </a:cubicBezTo>
                  <a:lnTo>
                    <a:pt x="7189216" y="1735963"/>
                  </a:lnTo>
                  <a:cubicBezTo>
                    <a:pt x="7281673" y="1735963"/>
                    <a:pt x="7356094" y="1662303"/>
                    <a:pt x="7356094" y="1572133"/>
                  </a:cubicBezTo>
                  <a:lnTo>
                    <a:pt x="7356094" y="201930"/>
                  </a:lnTo>
                  <a:cubicBezTo>
                    <a:pt x="7356094" y="111760"/>
                    <a:pt x="7281673" y="38100"/>
                    <a:pt x="7189216" y="38100"/>
                  </a:cubicBezTo>
                  <a:lnTo>
                    <a:pt x="204978" y="38100"/>
                  </a:lnTo>
                  <a:lnTo>
                    <a:pt x="204978" y="19050"/>
                  </a:lnTo>
                  <a:lnTo>
                    <a:pt x="204978" y="38100"/>
                  </a:lnTo>
                  <a:cubicBezTo>
                    <a:pt x="112522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D2C5C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356899" y="8420100"/>
            <a:ext cx="114300" cy="1301953"/>
            <a:chOff x="0" y="0"/>
            <a:chExt cx="152400" cy="17359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2400" cy="1735963"/>
            </a:xfrm>
            <a:custGeom>
              <a:avLst/>
              <a:gdLst/>
              <a:ahLst/>
              <a:cxnLst/>
              <a:rect r="r" b="b" t="t" l="l"/>
              <a:pathLst>
                <a:path h="1735963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1659763"/>
                  </a:lnTo>
                  <a:cubicBezTo>
                    <a:pt x="152400" y="1701800"/>
                    <a:pt x="118237" y="1735963"/>
                    <a:pt x="76200" y="1735963"/>
                  </a:cubicBezTo>
                  <a:cubicBezTo>
                    <a:pt x="34163" y="1735963"/>
                    <a:pt x="0" y="1701800"/>
                    <a:pt x="0" y="1659763"/>
                  </a:cubicBezTo>
                  <a:close/>
                </a:path>
              </a:pathLst>
            </a:custGeom>
            <a:solidFill>
              <a:srgbClr val="C7A2AC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698904" y="8619230"/>
            <a:ext cx="3580362" cy="476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812">
                <a:solidFill>
                  <a:srgbClr val="6E6666"/>
                </a:solidFill>
                <a:latin typeface="Arimo"/>
                <a:ea typeface="Arimo"/>
                <a:cs typeface="Arimo"/>
                <a:sym typeface="Arimo"/>
              </a:rPr>
              <a:t>Hidden Layer(s)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98904" y="9140876"/>
            <a:ext cx="4975917" cy="353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562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Processes and transforms information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059393" y="8405812"/>
            <a:ext cx="5545636" cy="1330528"/>
            <a:chOff x="0" y="0"/>
            <a:chExt cx="7394181" cy="17740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9050" y="19050"/>
              <a:ext cx="7356094" cy="1735963"/>
            </a:xfrm>
            <a:custGeom>
              <a:avLst/>
              <a:gdLst/>
              <a:ahLst/>
              <a:cxnLst/>
              <a:rect r="r" b="b" t="t" l="l"/>
              <a:pathLst>
                <a:path h="1735963" w="7356094">
                  <a:moveTo>
                    <a:pt x="0" y="182880"/>
                  </a:moveTo>
                  <a:cubicBezTo>
                    <a:pt x="0" y="81915"/>
                    <a:pt x="83185" y="0"/>
                    <a:pt x="185928" y="0"/>
                  </a:cubicBezTo>
                  <a:lnTo>
                    <a:pt x="7170166" y="0"/>
                  </a:lnTo>
                  <a:cubicBezTo>
                    <a:pt x="7272910" y="0"/>
                    <a:pt x="7356094" y="81915"/>
                    <a:pt x="7356094" y="182880"/>
                  </a:cubicBezTo>
                  <a:lnTo>
                    <a:pt x="7356094" y="1553083"/>
                  </a:lnTo>
                  <a:cubicBezTo>
                    <a:pt x="7356094" y="1654048"/>
                    <a:pt x="7272910" y="1735963"/>
                    <a:pt x="7170166" y="1735963"/>
                  </a:cubicBezTo>
                  <a:lnTo>
                    <a:pt x="185928" y="1735963"/>
                  </a:lnTo>
                  <a:cubicBezTo>
                    <a:pt x="83185" y="1735963"/>
                    <a:pt x="0" y="1654048"/>
                    <a:pt x="0" y="15530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94194" cy="1774063"/>
            </a:xfrm>
            <a:custGeom>
              <a:avLst/>
              <a:gdLst/>
              <a:ahLst/>
              <a:cxnLst/>
              <a:rect r="r" b="b" t="t" l="l"/>
              <a:pathLst>
                <a:path h="1774063" w="7394194">
                  <a:moveTo>
                    <a:pt x="0" y="201930"/>
                  </a:moveTo>
                  <a:cubicBezTo>
                    <a:pt x="0" y="90170"/>
                    <a:pt x="92075" y="0"/>
                    <a:pt x="204978" y="0"/>
                  </a:cubicBezTo>
                  <a:lnTo>
                    <a:pt x="7189216" y="0"/>
                  </a:lnTo>
                  <a:lnTo>
                    <a:pt x="7189216" y="19050"/>
                  </a:lnTo>
                  <a:lnTo>
                    <a:pt x="7189216" y="0"/>
                  </a:lnTo>
                  <a:cubicBezTo>
                    <a:pt x="7302119" y="0"/>
                    <a:pt x="7394194" y="90170"/>
                    <a:pt x="7394194" y="201930"/>
                  </a:cubicBezTo>
                  <a:lnTo>
                    <a:pt x="7375144" y="201930"/>
                  </a:lnTo>
                  <a:lnTo>
                    <a:pt x="7394194" y="201930"/>
                  </a:lnTo>
                  <a:lnTo>
                    <a:pt x="7394194" y="1572133"/>
                  </a:lnTo>
                  <a:lnTo>
                    <a:pt x="7375144" y="1572133"/>
                  </a:lnTo>
                  <a:lnTo>
                    <a:pt x="7394194" y="1572133"/>
                  </a:lnTo>
                  <a:cubicBezTo>
                    <a:pt x="7394194" y="1683893"/>
                    <a:pt x="7302119" y="1774063"/>
                    <a:pt x="7189216" y="1774063"/>
                  </a:cubicBezTo>
                  <a:lnTo>
                    <a:pt x="7189216" y="1755013"/>
                  </a:lnTo>
                  <a:lnTo>
                    <a:pt x="7189216" y="1774063"/>
                  </a:lnTo>
                  <a:lnTo>
                    <a:pt x="204978" y="1774063"/>
                  </a:lnTo>
                  <a:lnTo>
                    <a:pt x="204978" y="1755013"/>
                  </a:lnTo>
                  <a:lnTo>
                    <a:pt x="204978" y="1774063"/>
                  </a:lnTo>
                  <a:cubicBezTo>
                    <a:pt x="92075" y="1774063"/>
                    <a:pt x="0" y="1683893"/>
                    <a:pt x="0" y="1572133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572133"/>
                  </a:lnTo>
                  <a:lnTo>
                    <a:pt x="19050" y="1572133"/>
                  </a:lnTo>
                  <a:lnTo>
                    <a:pt x="38100" y="1572133"/>
                  </a:lnTo>
                  <a:cubicBezTo>
                    <a:pt x="38100" y="1662303"/>
                    <a:pt x="112522" y="1735963"/>
                    <a:pt x="204978" y="1735963"/>
                  </a:cubicBezTo>
                  <a:lnTo>
                    <a:pt x="7189216" y="1735963"/>
                  </a:lnTo>
                  <a:cubicBezTo>
                    <a:pt x="7281673" y="1735963"/>
                    <a:pt x="7356094" y="1662303"/>
                    <a:pt x="7356094" y="1572133"/>
                  </a:cubicBezTo>
                  <a:lnTo>
                    <a:pt x="7356094" y="201930"/>
                  </a:lnTo>
                  <a:cubicBezTo>
                    <a:pt x="7356094" y="111760"/>
                    <a:pt x="7281673" y="38100"/>
                    <a:pt x="7189216" y="38100"/>
                  </a:cubicBezTo>
                  <a:lnTo>
                    <a:pt x="204978" y="38100"/>
                  </a:lnTo>
                  <a:lnTo>
                    <a:pt x="204978" y="19050"/>
                  </a:lnTo>
                  <a:lnTo>
                    <a:pt x="204978" y="38100"/>
                  </a:lnTo>
                  <a:cubicBezTo>
                    <a:pt x="112522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D2C5C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045105" y="8420100"/>
            <a:ext cx="114300" cy="1301953"/>
            <a:chOff x="0" y="0"/>
            <a:chExt cx="152400" cy="173593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2400" cy="1735963"/>
            </a:xfrm>
            <a:custGeom>
              <a:avLst/>
              <a:gdLst/>
              <a:ahLst/>
              <a:cxnLst/>
              <a:rect r="r" b="b" t="t" l="l"/>
              <a:pathLst>
                <a:path h="1735963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1659763"/>
                  </a:lnTo>
                  <a:cubicBezTo>
                    <a:pt x="152400" y="1701800"/>
                    <a:pt x="118237" y="1735963"/>
                    <a:pt x="76200" y="1735963"/>
                  </a:cubicBezTo>
                  <a:cubicBezTo>
                    <a:pt x="34163" y="1735963"/>
                    <a:pt x="0" y="1701800"/>
                    <a:pt x="0" y="1659763"/>
                  </a:cubicBezTo>
                  <a:close/>
                </a:path>
              </a:pathLst>
            </a:custGeom>
            <a:solidFill>
              <a:srgbClr val="C7A2AC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387110" y="8619230"/>
            <a:ext cx="3580362" cy="476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812">
                <a:solidFill>
                  <a:srgbClr val="6E6666"/>
                </a:solidFill>
                <a:latin typeface="Arimo"/>
                <a:ea typeface="Arimo"/>
                <a:cs typeface="Arimo"/>
                <a:sym typeface="Arimo"/>
              </a:rPr>
              <a:t>Output Layer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87110" y="9140876"/>
            <a:ext cx="4975917" cy="353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562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Produces the final class prediction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11416" y="1454648"/>
            <a:ext cx="9689459" cy="110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7"/>
              </a:lnSpc>
            </a:pPr>
            <a:r>
              <a:rPr lang="en-US" sz="6500">
                <a:solidFill>
                  <a:srgbClr val="787878"/>
                </a:solidFill>
                <a:latin typeface="Arimo"/>
                <a:ea typeface="Arimo"/>
                <a:cs typeface="Arimo"/>
                <a:sym typeface="Arimo"/>
              </a:rPr>
              <a:t>What is Backpropagation?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1416" y="2834278"/>
            <a:ext cx="9807178" cy="1188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Backpropagation is the core </a:t>
            </a:r>
            <a:r>
              <a:rPr lang="en-US" sz="1812" b="true">
                <a:solidFill>
                  <a:srgbClr val="6E6666"/>
                </a:solidFill>
                <a:latin typeface="Poppins Bold"/>
                <a:ea typeface="Poppins Bold"/>
                <a:cs typeface="Poppins Bold"/>
                <a:sym typeface="Poppins Bold"/>
              </a:rPr>
              <a:t>learning algorithm</a:t>
            </a:r>
            <a:r>
              <a:rPr lang="en-US" sz="1812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 used to train neural networks. It enables the network to learn from its mistakes by systematically reducing the gap between predicted and actual outputs.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11416" y="4283869"/>
            <a:ext cx="1159221" cy="1493939"/>
            <a:chOff x="0" y="0"/>
            <a:chExt cx="1545628" cy="1991919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545590" cy="1991868"/>
            </a:xfrm>
            <a:custGeom>
              <a:avLst/>
              <a:gdLst/>
              <a:ahLst/>
              <a:cxnLst/>
              <a:rect r="r" b="b" t="t" l="l"/>
              <a:pathLst>
                <a:path h="1991868" w="1545590">
                  <a:moveTo>
                    <a:pt x="0" y="0"/>
                  </a:moveTo>
                  <a:lnTo>
                    <a:pt x="1545590" y="0"/>
                  </a:lnTo>
                  <a:lnTo>
                    <a:pt x="1545590" y="1991868"/>
                  </a:lnTo>
                  <a:lnTo>
                    <a:pt x="0" y="1991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2" t="0" r="-74" b="-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202361" y="4477493"/>
            <a:ext cx="4166149" cy="55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50">
                <a:solidFill>
                  <a:srgbClr val="6E6666"/>
                </a:solidFill>
                <a:latin typeface="Arimo"/>
                <a:ea typeface="Arimo"/>
                <a:cs typeface="Arimo"/>
                <a:sym typeface="Arimo"/>
              </a:rPr>
              <a:t>Measure Error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02361" y="5098999"/>
            <a:ext cx="8416233" cy="447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Calculate difference between prediction and target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11416" y="5777808"/>
            <a:ext cx="1159221" cy="1493939"/>
            <a:chOff x="0" y="0"/>
            <a:chExt cx="1545628" cy="1991919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545590" cy="1991868"/>
            </a:xfrm>
            <a:custGeom>
              <a:avLst/>
              <a:gdLst/>
              <a:ahLst/>
              <a:cxnLst/>
              <a:rect r="r" b="b" t="t" l="l"/>
              <a:pathLst>
                <a:path h="1991868" w="1545590">
                  <a:moveTo>
                    <a:pt x="0" y="0"/>
                  </a:moveTo>
                  <a:lnTo>
                    <a:pt x="1545590" y="0"/>
                  </a:lnTo>
                  <a:lnTo>
                    <a:pt x="1545590" y="1991868"/>
                  </a:lnTo>
                  <a:lnTo>
                    <a:pt x="0" y="1991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2" t="0" r="-74" b="-2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202361" y="5971432"/>
            <a:ext cx="4166149" cy="55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50">
                <a:solidFill>
                  <a:srgbClr val="6E6666"/>
                </a:solidFill>
                <a:latin typeface="Arimo"/>
                <a:ea typeface="Arimo"/>
                <a:cs typeface="Arimo"/>
                <a:sym typeface="Arimo"/>
              </a:rPr>
              <a:t>Propagate Backward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02361" y="6592938"/>
            <a:ext cx="8416233" cy="447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Send error signal back through layers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11416" y="7271747"/>
            <a:ext cx="1159221" cy="1493939"/>
            <a:chOff x="0" y="0"/>
            <a:chExt cx="1545628" cy="1991919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545590" cy="1991868"/>
            </a:xfrm>
            <a:custGeom>
              <a:avLst/>
              <a:gdLst/>
              <a:ahLst/>
              <a:cxnLst/>
              <a:rect r="r" b="b" t="t" l="l"/>
              <a:pathLst>
                <a:path h="1991868" w="1545590">
                  <a:moveTo>
                    <a:pt x="0" y="0"/>
                  </a:moveTo>
                  <a:lnTo>
                    <a:pt x="1545590" y="0"/>
                  </a:lnTo>
                  <a:lnTo>
                    <a:pt x="1545590" y="1991868"/>
                  </a:lnTo>
                  <a:lnTo>
                    <a:pt x="0" y="1991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72" t="0" r="-74" b="-2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202361" y="7465371"/>
            <a:ext cx="4166149" cy="55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50">
                <a:solidFill>
                  <a:srgbClr val="6E6666"/>
                </a:solidFill>
                <a:latin typeface="Arimo"/>
                <a:ea typeface="Arimo"/>
                <a:cs typeface="Arimo"/>
                <a:sym typeface="Arimo"/>
              </a:rPr>
              <a:t>Adjust Weights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02361" y="8086877"/>
            <a:ext cx="8416233" cy="447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Update connection weights to reduce error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11416" y="570909"/>
            <a:ext cx="8332441" cy="110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7"/>
              </a:lnSpc>
            </a:pPr>
            <a:r>
              <a:rPr lang="en-US" sz="6500">
                <a:solidFill>
                  <a:srgbClr val="787878"/>
                </a:solidFill>
                <a:latin typeface="Arimo"/>
                <a:ea typeface="Arimo"/>
                <a:cs typeface="Arimo"/>
                <a:sym typeface="Arimo"/>
              </a:rPr>
              <a:t>Working Principle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1416" y="2066477"/>
            <a:ext cx="16665178" cy="447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Backpropagation operates in two alternating phases, repeated over many training iterations to progressively improve accuracy.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78423" y="2774309"/>
            <a:ext cx="15931153" cy="6245428"/>
            <a:chOff x="0" y="0"/>
            <a:chExt cx="21241537" cy="832723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1241513" cy="8327263"/>
            </a:xfrm>
            <a:custGeom>
              <a:avLst/>
              <a:gdLst/>
              <a:ahLst/>
              <a:cxnLst/>
              <a:rect r="r" b="b" t="t" l="l"/>
              <a:pathLst>
                <a:path h="8327263" w="21241513">
                  <a:moveTo>
                    <a:pt x="0" y="0"/>
                  </a:moveTo>
                  <a:lnTo>
                    <a:pt x="21241513" y="0"/>
                  </a:lnTo>
                  <a:lnTo>
                    <a:pt x="21241513" y="8327263"/>
                  </a:lnTo>
                  <a:lnTo>
                    <a:pt x="0" y="8327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" r="0" b="-1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59814" y="3032970"/>
            <a:ext cx="2916336" cy="139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50"/>
              </a:lnSpc>
            </a:pPr>
            <a:r>
              <a:rPr lang="en-US" sz="4187">
                <a:solidFill>
                  <a:srgbClr val="787878"/>
                </a:solidFill>
                <a:latin typeface="Arimo"/>
                <a:ea typeface="Arimo"/>
                <a:cs typeface="Arimo"/>
                <a:sym typeface="Arimo"/>
              </a:rPr>
              <a:t>Forward Pass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11555" y="3032970"/>
            <a:ext cx="2916336" cy="139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187">
                <a:solidFill>
                  <a:srgbClr val="787878"/>
                </a:solidFill>
                <a:latin typeface="Arimo"/>
                <a:ea typeface="Arimo"/>
                <a:cs typeface="Arimo"/>
                <a:sym typeface="Arimo"/>
              </a:rPr>
              <a:t>Compute Output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11555" y="7318419"/>
            <a:ext cx="2916336" cy="139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187">
                <a:solidFill>
                  <a:srgbClr val="787878"/>
                </a:solidFill>
                <a:latin typeface="Arimo"/>
                <a:ea typeface="Arimo"/>
                <a:cs typeface="Arimo"/>
                <a:sym typeface="Arimo"/>
              </a:rPr>
              <a:t>Backward Pass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59814" y="7318419"/>
            <a:ext cx="2916336" cy="139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50"/>
              </a:lnSpc>
            </a:pPr>
            <a:r>
              <a:rPr lang="en-US" sz="4187">
                <a:solidFill>
                  <a:srgbClr val="787878"/>
                </a:solidFill>
                <a:latin typeface="Arimo"/>
                <a:ea typeface="Arimo"/>
                <a:cs typeface="Arimo"/>
                <a:sym typeface="Arimo"/>
              </a:rPr>
              <a:t>Update Weights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1416" y="9204274"/>
            <a:ext cx="16665178" cy="447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1812" b="true">
                <a:solidFill>
                  <a:srgbClr val="6E6666"/>
                </a:solidFill>
                <a:latin typeface="Poppins Bold"/>
                <a:ea typeface="Poppins Bold"/>
                <a:cs typeface="Poppins Bold"/>
                <a:sym typeface="Poppins Bold"/>
              </a:rPr>
              <a:t>forward pass</a:t>
            </a:r>
            <a:r>
              <a:rPr lang="en-US" sz="1812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 generates a prediction; the </a:t>
            </a:r>
            <a:r>
              <a:rPr lang="en-US" sz="1812" b="true">
                <a:solidFill>
                  <a:srgbClr val="6E6666"/>
                </a:solidFill>
                <a:latin typeface="Poppins Bold"/>
                <a:ea typeface="Poppins Bold"/>
                <a:cs typeface="Poppins Bold"/>
                <a:sym typeface="Poppins Bold"/>
              </a:rPr>
              <a:t>backward pass</a:t>
            </a:r>
            <a:r>
              <a:rPr lang="en-US" sz="1812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 corrects it. This cycle repeats until the network converges on an optimal solution.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76042" y="514798"/>
            <a:ext cx="6639820" cy="8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>
                <a:solidFill>
                  <a:srgbClr val="787878"/>
                </a:solidFill>
                <a:latin typeface="Arimo"/>
                <a:ea typeface="Arimo"/>
                <a:cs typeface="Arimo"/>
                <a:sym typeface="Arimo"/>
              </a:rPr>
              <a:t>The Learning Process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76042" y="1797548"/>
            <a:ext cx="7742482" cy="7742482"/>
            <a:chOff x="0" y="0"/>
            <a:chExt cx="10323309" cy="1032330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323322" cy="10323322"/>
            </a:xfrm>
            <a:custGeom>
              <a:avLst/>
              <a:gdLst/>
              <a:ahLst/>
              <a:cxnLst/>
              <a:rect r="r" b="b" t="t" l="l"/>
              <a:pathLst>
                <a:path h="10323322" w="10323322">
                  <a:moveTo>
                    <a:pt x="0" y="0"/>
                  </a:moveTo>
                  <a:lnTo>
                    <a:pt x="10323322" y="0"/>
                  </a:lnTo>
                  <a:lnTo>
                    <a:pt x="10323322" y="10323322"/>
                  </a:lnTo>
                  <a:lnTo>
                    <a:pt x="0" y="10323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76042" y="1797548"/>
            <a:ext cx="7742482" cy="7742482"/>
            <a:chOff x="0" y="0"/>
            <a:chExt cx="10323309" cy="10323309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0323322" cy="10323322"/>
            </a:xfrm>
            <a:custGeom>
              <a:avLst/>
              <a:gdLst/>
              <a:ahLst/>
              <a:cxnLst/>
              <a:rect r="r" b="b" t="t" l="l"/>
              <a:pathLst>
                <a:path h="10323322" w="10323322">
                  <a:moveTo>
                    <a:pt x="0" y="0"/>
                  </a:moveTo>
                  <a:lnTo>
                    <a:pt x="10323322" y="0"/>
                  </a:lnTo>
                  <a:lnTo>
                    <a:pt x="10323322" y="10323322"/>
                  </a:lnTo>
                  <a:lnTo>
                    <a:pt x="0" y="10323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378706" y="4658916"/>
            <a:ext cx="7742482" cy="83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437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The network begins with </a:t>
            </a:r>
            <a:r>
              <a:rPr lang="en-US" sz="1437" b="true">
                <a:solidFill>
                  <a:srgbClr val="6E6666"/>
                </a:solidFill>
                <a:latin typeface="Poppins Bold"/>
                <a:ea typeface="Poppins Bold"/>
                <a:cs typeface="Poppins Bold"/>
                <a:sym typeface="Poppins Bold"/>
              </a:rPr>
              <a:t>random weight values</a:t>
            </a:r>
            <a:r>
              <a:rPr lang="en-US" sz="1437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 and refines them through repeated exposure to training data. Each iteration brings the model closer to accurate classification.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78706" y="5658593"/>
            <a:ext cx="7742482" cy="948776"/>
            <a:chOff x="0" y="0"/>
            <a:chExt cx="10323309" cy="12650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23322" cy="1265047"/>
            </a:xfrm>
            <a:custGeom>
              <a:avLst/>
              <a:gdLst/>
              <a:ahLst/>
              <a:cxnLst/>
              <a:rect r="r" b="b" t="t" l="l"/>
              <a:pathLst>
                <a:path h="1265047" w="10323322">
                  <a:moveTo>
                    <a:pt x="0" y="369570"/>
                  </a:moveTo>
                  <a:cubicBezTo>
                    <a:pt x="0" y="165481"/>
                    <a:pt x="165481" y="0"/>
                    <a:pt x="369570" y="0"/>
                  </a:cubicBezTo>
                  <a:lnTo>
                    <a:pt x="9953752" y="0"/>
                  </a:lnTo>
                  <a:cubicBezTo>
                    <a:pt x="10157841" y="0"/>
                    <a:pt x="10323322" y="165481"/>
                    <a:pt x="10323322" y="369570"/>
                  </a:cubicBezTo>
                  <a:lnTo>
                    <a:pt x="10323322" y="895477"/>
                  </a:lnTo>
                  <a:cubicBezTo>
                    <a:pt x="10323322" y="1099566"/>
                    <a:pt x="10157841" y="1265047"/>
                    <a:pt x="9953752" y="1265047"/>
                  </a:cubicBezTo>
                  <a:lnTo>
                    <a:pt x="369570" y="1265047"/>
                  </a:lnTo>
                  <a:cubicBezTo>
                    <a:pt x="165481" y="1265047"/>
                    <a:pt x="0" y="1099566"/>
                    <a:pt x="0" y="895477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563395" y="5918302"/>
            <a:ext cx="230829" cy="184699"/>
            <a:chOff x="0" y="0"/>
            <a:chExt cx="307772" cy="246266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307721" cy="246253"/>
            </a:xfrm>
            <a:custGeom>
              <a:avLst/>
              <a:gdLst/>
              <a:ahLst/>
              <a:cxnLst/>
              <a:rect r="r" b="b" t="t" l="l"/>
              <a:pathLst>
                <a:path h="246253" w="307721">
                  <a:moveTo>
                    <a:pt x="0" y="0"/>
                  </a:moveTo>
                  <a:lnTo>
                    <a:pt x="307721" y="0"/>
                  </a:lnTo>
                  <a:lnTo>
                    <a:pt x="307721" y="246253"/>
                  </a:lnTo>
                  <a:lnTo>
                    <a:pt x="0" y="246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36" t="0" r="-548" b="-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978923" y="5813822"/>
            <a:ext cx="6957565" cy="56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4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cycle continues until the error falls below a threshold or a maximum number of epochs is reached.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60657" y="1131246"/>
            <a:ext cx="9880397" cy="103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7"/>
              </a:lnSpc>
            </a:pPr>
            <a:r>
              <a:rPr lang="en-US" sz="6124">
                <a:solidFill>
                  <a:srgbClr val="787878"/>
                </a:solidFill>
                <a:latin typeface="Arimo"/>
                <a:ea typeface="Arimo"/>
                <a:cs typeface="Arimo"/>
                <a:sym typeface="Arimo"/>
              </a:rPr>
              <a:t>Role of Activation Functions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0657" y="2384669"/>
            <a:ext cx="9908677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87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Activation functions determine whether and how strongly a neuron should fire. They introduce </a:t>
            </a:r>
            <a:r>
              <a:rPr lang="en-US" sz="1687" b="true">
                <a:solidFill>
                  <a:srgbClr val="6E6666"/>
                </a:solidFill>
                <a:latin typeface="Poppins Bold"/>
                <a:ea typeface="Poppins Bold"/>
                <a:cs typeface="Poppins Bold"/>
                <a:sym typeface="Poppins Bold"/>
              </a:rPr>
              <a:t>non-linearity</a:t>
            </a:r>
            <a:r>
              <a:rPr lang="en-US" sz="1687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, enabling the network to learn complex, real-world patterns.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760657" y="3373488"/>
            <a:ext cx="434731" cy="434731"/>
          </a:xfrm>
          <a:custGeom>
            <a:avLst/>
            <a:gdLst/>
            <a:ahLst/>
            <a:cxnLst/>
            <a:rect r="r" b="b" t="t" l="l"/>
            <a:pathLst>
              <a:path h="434731" w="434731">
                <a:moveTo>
                  <a:pt x="0" y="0"/>
                </a:moveTo>
                <a:lnTo>
                  <a:pt x="434731" y="0"/>
                </a:lnTo>
                <a:lnTo>
                  <a:pt x="434731" y="434731"/>
                </a:lnTo>
                <a:lnTo>
                  <a:pt x="0" y="4347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6303" t="0" r="-16305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60657" y="4024760"/>
            <a:ext cx="3905841" cy="526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>
                <a:solidFill>
                  <a:srgbClr val="6E6666"/>
                </a:solidFill>
                <a:latin typeface="Arimo"/>
                <a:ea typeface="Arimo"/>
                <a:cs typeface="Arimo"/>
                <a:sym typeface="Arimo"/>
              </a:rPr>
              <a:t>Sigmoid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0657" y="4587478"/>
            <a:ext cx="9908677" cy="422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87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Maps output between 0 and 1 — ideal for probability-based classification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760657" y="5417639"/>
            <a:ext cx="434731" cy="434731"/>
          </a:xfrm>
          <a:custGeom>
            <a:avLst/>
            <a:gdLst/>
            <a:ahLst/>
            <a:cxnLst/>
            <a:rect r="r" b="b" t="t" l="l"/>
            <a:pathLst>
              <a:path h="434731" w="434731">
                <a:moveTo>
                  <a:pt x="0" y="0"/>
                </a:moveTo>
                <a:lnTo>
                  <a:pt x="434731" y="0"/>
                </a:lnTo>
                <a:lnTo>
                  <a:pt x="434731" y="434731"/>
                </a:lnTo>
                <a:lnTo>
                  <a:pt x="0" y="4347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32608" r="0" b="-32606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60657" y="6068911"/>
            <a:ext cx="3905841" cy="526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>
                <a:solidFill>
                  <a:srgbClr val="6E6666"/>
                </a:solidFill>
                <a:latin typeface="Arimo"/>
                <a:ea typeface="Arimo"/>
                <a:cs typeface="Arimo"/>
                <a:sym typeface="Arimo"/>
              </a:rPr>
              <a:t>ReLU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0657" y="6631629"/>
            <a:ext cx="9908677" cy="422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87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Rectified Linear Unit — passes positive values, zero otherwise; widely used in deep networks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760657" y="7461799"/>
            <a:ext cx="434731" cy="434731"/>
          </a:xfrm>
          <a:custGeom>
            <a:avLst/>
            <a:gdLst/>
            <a:ahLst/>
            <a:cxnLst/>
            <a:rect r="r" b="b" t="t" l="l"/>
            <a:pathLst>
              <a:path h="434731" w="434731">
                <a:moveTo>
                  <a:pt x="0" y="0"/>
                </a:moveTo>
                <a:lnTo>
                  <a:pt x="434731" y="0"/>
                </a:lnTo>
                <a:lnTo>
                  <a:pt x="434731" y="434731"/>
                </a:lnTo>
                <a:lnTo>
                  <a:pt x="0" y="43473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3260" t="0" r="-326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60657" y="8113071"/>
            <a:ext cx="3905841" cy="526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>
                <a:solidFill>
                  <a:srgbClr val="6E6666"/>
                </a:solidFill>
                <a:latin typeface="Arimo"/>
                <a:ea typeface="Arimo"/>
                <a:cs typeface="Arimo"/>
                <a:sym typeface="Arimo"/>
              </a:rPr>
              <a:t>Tanh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0657" y="8675789"/>
            <a:ext cx="9908677" cy="422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87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Hyperbolic tangent — output ranges from −1 to +1, zero-centered for better convergence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59311" y="563461"/>
            <a:ext cx="9480347" cy="893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312">
                <a:solidFill>
                  <a:srgbClr val="787878"/>
                </a:solidFill>
                <a:latin typeface="Arimo"/>
                <a:ea typeface="Arimo"/>
                <a:cs typeface="Arimo"/>
                <a:sym typeface="Arimo"/>
              </a:rPr>
              <a:t>Advantages of Backpropagation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9311" y="1686820"/>
            <a:ext cx="10111378" cy="1882531"/>
            <a:chOff x="0" y="0"/>
            <a:chExt cx="13481837" cy="25100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81813" cy="2510028"/>
            </a:xfrm>
            <a:custGeom>
              <a:avLst/>
              <a:gdLst/>
              <a:ahLst/>
              <a:cxnLst/>
              <a:rect r="r" b="b" t="t" l="l"/>
              <a:pathLst>
                <a:path h="2510028" w="13481813">
                  <a:moveTo>
                    <a:pt x="0" y="376809"/>
                  </a:moveTo>
                  <a:cubicBezTo>
                    <a:pt x="0" y="168656"/>
                    <a:pt x="168656" y="0"/>
                    <a:pt x="376809" y="0"/>
                  </a:cubicBezTo>
                  <a:lnTo>
                    <a:pt x="13105003" y="0"/>
                  </a:lnTo>
                  <a:cubicBezTo>
                    <a:pt x="13313156" y="0"/>
                    <a:pt x="13481813" y="168656"/>
                    <a:pt x="13481813" y="376809"/>
                  </a:cubicBezTo>
                  <a:lnTo>
                    <a:pt x="13481813" y="2133219"/>
                  </a:lnTo>
                  <a:cubicBezTo>
                    <a:pt x="13481813" y="2341372"/>
                    <a:pt x="13313156" y="2510028"/>
                    <a:pt x="13105003" y="2510028"/>
                  </a:cubicBezTo>
                  <a:lnTo>
                    <a:pt x="376809" y="2510028"/>
                  </a:lnTo>
                  <a:cubicBezTo>
                    <a:pt x="168656" y="2510028"/>
                    <a:pt x="0" y="2341372"/>
                    <a:pt x="0" y="2133219"/>
                  </a:cubicBezTo>
                  <a:close/>
                </a:path>
              </a:pathLst>
            </a:custGeom>
            <a:solidFill>
              <a:srgbClr val="ECDFE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47573" y="1875082"/>
            <a:ext cx="565099" cy="565099"/>
            <a:chOff x="0" y="0"/>
            <a:chExt cx="753466" cy="7534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53491" cy="753491"/>
            </a:xfrm>
            <a:custGeom>
              <a:avLst/>
              <a:gdLst/>
              <a:ahLst/>
              <a:cxnLst/>
              <a:rect r="r" b="b" t="t" l="l"/>
              <a:pathLst>
                <a:path h="753491" w="753491">
                  <a:moveTo>
                    <a:pt x="0" y="376682"/>
                  </a:moveTo>
                  <a:cubicBezTo>
                    <a:pt x="0" y="168656"/>
                    <a:pt x="168656" y="0"/>
                    <a:pt x="376682" y="0"/>
                  </a:cubicBezTo>
                  <a:cubicBezTo>
                    <a:pt x="584708" y="0"/>
                    <a:pt x="753491" y="168656"/>
                    <a:pt x="753491" y="376682"/>
                  </a:cubicBezTo>
                  <a:cubicBezTo>
                    <a:pt x="753491" y="584708"/>
                    <a:pt x="584835" y="753491"/>
                    <a:pt x="376682" y="753491"/>
                  </a:cubicBezTo>
                  <a:cubicBezTo>
                    <a:pt x="168529" y="753491"/>
                    <a:pt x="0" y="584835"/>
                    <a:pt x="0" y="376682"/>
                  </a:cubicBezTo>
                  <a:close/>
                </a:path>
              </a:pathLst>
            </a:custGeom>
            <a:solidFill>
              <a:srgbClr val="C7A2AC"/>
            </a:solidFill>
          </p:spPr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1002954" y="2030463"/>
            <a:ext cx="254203" cy="254203"/>
          </a:xfrm>
          <a:custGeom>
            <a:avLst/>
            <a:gdLst/>
            <a:ahLst/>
            <a:cxnLst/>
            <a:rect r="r" b="b" t="t" l="l"/>
            <a:pathLst>
              <a:path h="254203" w="254203">
                <a:moveTo>
                  <a:pt x="0" y="0"/>
                </a:moveTo>
                <a:lnTo>
                  <a:pt x="254203" y="0"/>
                </a:lnTo>
                <a:lnTo>
                  <a:pt x="254203" y="254203"/>
                </a:lnTo>
                <a:lnTo>
                  <a:pt x="0" y="2542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556" t="0" r="-5553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47573" y="2555081"/>
            <a:ext cx="3384947" cy="461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Handles Complexity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7573" y="3060354"/>
            <a:ext cx="9734845" cy="320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4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Models complex, non-linear data relationships effectively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9311" y="3722341"/>
            <a:ext cx="10111378" cy="1882531"/>
            <a:chOff x="0" y="0"/>
            <a:chExt cx="13481837" cy="25100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81813" cy="2510028"/>
            </a:xfrm>
            <a:custGeom>
              <a:avLst/>
              <a:gdLst/>
              <a:ahLst/>
              <a:cxnLst/>
              <a:rect r="r" b="b" t="t" l="l"/>
              <a:pathLst>
                <a:path h="2510028" w="13481813">
                  <a:moveTo>
                    <a:pt x="0" y="376809"/>
                  </a:moveTo>
                  <a:cubicBezTo>
                    <a:pt x="0" y="168656"/>
                    <a:pt x="168656" y="0"/>
                    <a:pt x="376809" y="0"/>
                  </a:cubicBezTo>
                  <a:lnTo>
                    <a:pt x="13105003" y="0"/>
                  </a:lnTo>
                  <a:cubicBezTo>
                    <a:pt x="13313156" y="0"/>
                    <a:pt x="13481813" y="168656"/>
                    <a:pt x="13481813" y="376809"/>
                  </a:cubicBezTo>
                  <a:lnTo>
                    <a:pt x="13481813" y="2133219"/>
                  </a:lnTo>
                  <a:cubicBezTo>
                    <a:pt x="13481813" y="2341372"/>
                    <a:pt x="13313156" y="2510028"/>
                    <a:pt x="13105003" y="2510028"/>
                  </a:cubicBezTo>
                  <a:lnTo>
                    <a:pt x="376809" y="2510028"/>
                  </a:lnTo>
                  <a:cubicBezTo>
                    <a:pt x="168656" y="2510028"/>
                    <a:pt x="0" y="2341372"/>
                    <a:pt x="0" y="2133219"/>
                  </a:cubicBezTo>
                  <a:close/>
                </a:path>
              </a:pathLst>
            </a:custGeom>
            <a:solidFill>
              <a:srgbClr val="ECDFE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47573" y="3910603"/>
            <a:ext cx="565099" cy="565099"/>
            <a:chOff x="0" y="0"/>
            <a:chExt cx="753466" cy="7534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3491" cy="753491"/>
            </a:xfrm>
            <a:custGeom>
              <a:avLst/>
              <a:gdLst/>
              <a:ahLst/>
              <a:cxnLst/>
              <a:rect r="r" b="b" t="t" l="l"/>
              <a:pathLst>
                <a:path h="753491" w="753491">
                  <a:moveTo>
                    <a:pt x="0" y="376682"/>
                  </a:moveTo>
                  <a:cubicBezTo>
                    <a:pt x="0" y="168656"/>
                    <a:pt x="168656" y="0"/>
                    <a:pt x="376682" y="0"/>
                  </a:cubicBezTo>
                  <a:cubicBezTo>
                    <a:pt x="584708" y="0"/>
                    <a:pt x="753491" y="168656"/>
                    <a:pt x="753491" y="376682"/>
                  </a:cubicBezTo>
                  <a:cubicBezTo>
                    <a:pt x="753491" y="584708"/>
                    <a:pt x="584835" y="753491"/>
                    <a:pt x="376682" y="753491"/>
                  </a:cubicBezTo>
                  <a:cubicBezTo>
                    <a:pt x="168529" y="753491"/>
                    <a:pt x="0" y="584835"/>
                    <a:pt x="0" y="376682"/>
                  </a:cubicBezTo>
                  <a:close/>
                </a:path>
              </a:pathLst>
            </a:custGeom>
            <a:solidFill>
              <a:srgbClr val="C7A2AC"/>
            </a:solidFill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1002954" y="4065984"/>
            <a:ext cx="254203" cy="254203"/>
          </a:xfrm>
          <a:custGeom>
            <a:avLst/>
            <a:gdLst/>
            <a:ahLst/>
            <a:cxnLst/>
            <a:rect r="r" b="b" t="t" l="l"/>
            <a:pathLst>
              <a:path h="254203" w="254203">
                <a:moveTo>
                  <a:pt x="0" y="0"/>
                </a:moveTo>
                <a:lnTo>
                  <a:pt x="254203" y="0"/>
                </a:lnTo>
                <a:lnTo>
                  <a:pt x="254203" y="254204"/>
                </a:lnTo>
                <a:lnTo>
                  <a:pt x="0" y="2542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851" r="0" b="-1851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47573" y="4590602"/>
            <a:ext cx="3384947" cy="461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High Accuracy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7573" y="5095875"/>
            <a:ext cx="9734845" cy="320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4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Delivers strong prediction performance on diverse datasets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59311" y="5757862"/>
            <a:ext cx="10111378" cy="1882531"/>
            <a:chOff x="0" y="0"/>
            <a:chExt cx="13481837" cy="251004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481813" cy="2510028"/>
            </a:xfrm>
            <a:custGeom>
              <a:avLst/>
              <a:gdLst/>
              <a:ahLst/>
              <a:cxnLst/>
              <a:rect r="r" b="b" t="t" l="l"/>
              <a:pathLst>
                <a:path h="2510028" w="13481813">
                  <a:moveTo>
                    <a:pt x="0" y="376809"/>
                  </a:moveTo>
                  <a:cubicBezTo>
                    <a:pt x="0" y="168656"/>
                    <a:pt x="168656" y="0"/>
                    <a:pt x="376809" y="0"/>
                  </a:cubicBezTo>
                  <a:lnTo>
                    <a:pt x="13105003" y="0"/>
                  </a:lnTo>
                  <a:cubicBezTo>
                    <a:pt x="13313156" y="0"/>
                    <a:pt x="13481813" y="168656"/>
                    <a:pt x="13481813" y="376809"/>
                  </a:cubicBezTo>
                  <a:lnTo>
                    <a:pt x="13481813" y="2133219"/>
                  </a:lnTo>
                  <a:cubicBezTo>
                    <a:pt x="13481813" y="2341372"/>
                    <a:pt x="13313156" y="2510028"/>
                    <a:pt x="13105003" y="2510028"/>
                  </a:cubicBezTo>
                  <a:lnTo>
                    <a:pt x="376809" y="2510028"/>
                  </a:lnTo>
                  <a:cubicBezTo>
                    <a:pt x="168656" y="2510028"/>
                    <a:pt x="0" y="2341372"/>
                    <a:pt x="0" y="2133219"/>
                  </a:cubicBezTo>
                  <a:close/>
                </a:path>
              </a:pathLst>
            </a:custGeom>
            <a:solidFill>
              <a:srgbClr val="ECDFE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47573" y="5946134"/>
            <a:ext cx="565099" cy="565099"/>
            <a:chOff x="0" y="0"/>
            <a:chExt cx="753466" cy="75346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53491" cy="753491"/>
            </a:xfrm>
            <a:custGeom>
              <a:avLst/>
              <a:gdLst/>
              <a:ahLst/>
              <a:cxnLst/>
              <a:rect r="r" b="b" t="t" l="l"/>
              <a:pathLst>
                <a:path h="753491" w="753491">
                  <a:moveTo>
                    <a:pt x="0" y="376682"/>
                  </a:moveTo>
                  <a:cubicBezTo>
                    <a:pt x="0" y="168656"/>
                    <a:pt x="168656" y="0"/>
                    <a:pt x="376682" y="0"/>
                  </a:cubicBezTo>
                  <a:cubicBezTo>
                    <a:pt x="584708" y="0"/>
                    <a:pt x="753491" y="168656"/>
                    <a:pt x="753491" y="376682"/>
                  </a:cubicBezTo>
                  <a:cubicBezTo>
                    <a:pt x="753491" y="584708"/>
                    <a:pt x="584835" y="753491"/>
                    <a:pt x="376682" y="753491"/>
                  </a:cubicBezTo>
                  <a:cubicBezTo>
                    <a:pt x="168529" y="753491"/>
                    <a:pt x="0" y="584835"/>
                    <a:pt x="0" y="376682"/>
                  </a:cubicBezTo>
                  <a:close/>
                </a:path>
              </a:pathLst>
            </a:custGeom>
            <a:solidFill>
              <a:srgbClr val="C7A2AC"/>
            </a:solidFill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1002954" y="6101505"/>
            <a:ext cx="254203" cy="254203"/>
          </a:xfrm>
          <a:custGeom>
            <a:avLst/>
            <a:gdLst/>
            <a:ahLst/>
            <a:cxnLst/>
            <a:rect r="r" b="b" t="t" l="l"/>
            <a:pathLst>
              <a:path h="254203" w="254203">
                <a:moveTo>
                  <a:pt x="0" y="0"/>
                </a:moveTo>
                <a:lnTo>
                  <a:pt x="254203" y="0"/>
                </a:lnTo>
                <a:lnTo>
                  <a:pt x="254203" y="254204"/>
                </a:lnTo>
                <a:lnTo>
                  <a:pt x="0" y="2542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851" t="0" r="-1851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47573" y="6626123"/>
            <a:ext cx="3384947" cy="461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Automatic Learning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47573" y="7131396"/>
            <a:ext cx="9734845" cy="320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4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Learns patterns directly from examples without manual rules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59311" y="7793384"/>
            <a:ext cx="10111378" cy="1882531"/>
            <a:chOff x="0" y="0"/>
            <a:chExt cx="13481837" cy="251004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81813" cy="2510028"/>
            </a:xfrm>
            <a:custGeom>
              <a:avLst/>
              <a:gdLst/>
              <a:ahLst/>
              <a:cxnLst/>
              <a:rect r="r" b="b" t="t" l="l"/>
              <a:pathLst>
                <a:path h="2510028" w="13481813">
                  <a:moveTo>
                    <a:pt x="0" y="376809"/>
                  </a:moveTo>
                  <a:cubicBezTo>
                    <a:pt x="0" y="168656"/>
                    <a:pt x="168656" y="0"/>
                    <a:pt x="376809" y="0"/>
                  </a:cubicBezTo>
                  <a:lnTo>
                    <a:pt x="13105003" y="0"/>
                  </a:lnTo>
                  <a:cubicBezTo>
                    <a:pt x="13313156" y="0"/>
                    <a:pt x="13481813" y="168656"/>
                    <a:pt x="13481813" y="376809"/>
                  </a:cubicBezTo>
                  <a:lnTo>
                    <a:pt x="13481813" y="2133219"/>
                  </a:lnTo>
                  <a:cubicBezTo>
                    <a:pt x="13481813" y="2341372"/>
                    <a:pt x="13313156" y="2510028"/>
                    <a:pt x="13105003" y="2510028"/>
                  </a:cubicBezTo>
                  <a:lnTo>
                    <a:pt x="376809" y="2510028"/>
                  </a:lnTo>
                  <a:cubicBezTo>
                    <a:pt x="168656" y="2510028"/>
                    <a:pt x="0" y="2341372"/>
                    <a:pt x="0" y="2133219"/>
                  </a:cubicBezTo>
                  <a:close/>
                </a:path>
              </a:pathLst>
            </a:custGeom>
            <a:solidFill>
              <a:srgbClr val="ECDFE3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47573" y="7981655"/>
            <a:ext cx="565099" cy="565099"/>
            <a:chOff x="0" y="0"/>
            <a:chExt cx="753466" cy="75346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53491" cy="753491"/>
            </a:xfrm>
            <a:custGeom>
              <a:avLst/>
              <a:gdLst/>
              <a:ahLst/>
              <a:cxnLst/>
              <a:rect r="r" b="b" t="t" l="l"/>
              <a:pathLst>
                <a:path h="753491" w="753491">
                  <a:moveTo>
                    <a:pt x="0" y="376682"/>
                  </a:moveTo>
                  <a:cubicBezTo>
                    <a:pt x="0" y="168656"/>
                    <a:pt x="168656" y="0"/>
                    <a:pt x="376682" y="0"/>
                  </a:cubicBezTo>
                  <a:cubicBezTo>
                    <a:pt x="584708" y="0"/>
                    <a:pt x="753491" y="168656"/>
                    <a:pt x="753491" y="376682"/>
                  </a:cubicBezTo>
                  <a:cubicBezTo>
                    <a:pt x="753491" y="584708"/>
                    <a:pt x="584835" y="753491"/>
                    <a:pt x="376682" y="753491"/>
                  </a:cubicBezTo>
                  <a:cubicBezTo>
                    <a:pt x="168529" y="753491"/>
                    <a:pt x="0" y="584835"/>
                    <a:pt x="0" y="376682"/>
                  </a:cubicBezTo>
                  <a:close/>
                </a:path>
              </a:pathLst>
            </a:custGeom>
            <a:solidFill>
              <a:srgbClr val="C7A2AC"/>
            </a:solidFill>
          </p:spPr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1002954" y="8137027"/>
            <a:ext cx="254203" cy="254203"/>
          </a:xfrm>
          <a:custGeom>
            <a:avLst/>
            <a:gdLst/>
            <a:ahLst/>
            <a:cxnLst/>
            <a:rect r="r" b="b" t="t" l="l"/>
            <a:pathLst>
              <a:path h="254203" w="254203">
                <a:moveTo>
                  <a:pt x="0" y="0"/>
                </a:moveTo>
                <a:lnTo>
                  <a:pt x="254203" y="0"/>
                </a:lnTo>
                <a:lnTo>
                  <a:pt x="254203" y="254203"/>
                </a:lnTo>
                <a:lnTo>
                  <a:pt x="0" y="25420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12960" r="0" b="-12964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847573" y="8661644"/>
            <a:ext cx="3384947" cy="461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Versatile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47573" y="9166917"/>
            <a:ext cx="9734845" cy="320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4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Applicable across many domains — vision, speech, finance, medicine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88577" y="537267"/>
            <a:ext cx="8930278" cy="845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>
                <a:solidFill>
                  <a:srgbClr val="787878"/>
                </a:solidFill>
                <a:latin typeface="Arimo"/>
                <a:ea typeface="Arimo"/>
                <a:cs typeface="Arimo"/>
                <a:sym typeface="Arimo"/>
              </a:rPr>
              <a:t>Limitations of Backpropagation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88577" y="2867177"/>
            <a:ext cx="9800330" cy="5553523"/>
            <a:chOff x="0" y="0"/>
            <a:chExt cx="13067106" cy="740469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067157" cy="7404735"/>
            </a:xfrm>
            <a:custGeom>
              <a:avLst/>
              <a:gdLst/>
              <a:ahLst/>
              <a:cxnLst/>
              <a:rect r="r" b="b" t="t" l="l"/>
              <a:pathLst>
                <a:path h="7404735" w="13067157">
                  <a:moveTo>
                    <a:pt x="0" y="0"/>
                  </a:moveTo>
                  <a:lnTo>
                    <a:pt x="13067157" y="0"/>
                  </a:lnTo>
                  <a:lnTo>
                    <a:pt x="13067157" y="7404735"/>
                  </a:lnTo>
                  <a:lnTo>
                    <a:pt x="0" y="7404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" t="0" r="-8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731523" y="1660627"/>
            <a:ext cx="5077273" cy="549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75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Despite its strengths, backpropagation has notable challenges that practitioners must address.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721998" y="2353123"/>
            <a:ext cx="5096323" cy="1197178"/>
            <a:chOff x="0" y="0"/>
            <a:chExt cx="6795097" cy="15962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6769735" cy="1570863"/>
            </a:xfrm>
            <a:custGeom>
              <a:avLst/>
              <a:gdLst/>
              <a:ahLst/>
              <a:cxnLst/>
              <a:rect r="r" b="b" t="t" l="l"/>
              <a:pathLst>
                <a:path h="1570863" w="6769735">
                  <a:moveTo>
                    <a:pt x="0" y="121920"/>
                  </a:moveTo>
                  <a:cubicBezTo>
                    <a:pt x="0" y="54610"/>
                    <a:pt x="55245" y="0"/>
                    <a:pt x="123444" y="0"/>
                  </a:cubicBezTo>
                  <a:lnTo>
                    <a:pt x="6646291" y="0"/>
                  </a:lnTo>
                  <a:cubicBezTo>
                    <a:pt x="6714490" y="0"/>
                    <a:pt x="6769735" y="54610"/>
                    <a:pt x="6769735" y="121920"/>
                  </a:cubicBezTo>
                  <a:lnTo>
                    <a:pt x="6769735" y="1448943"/>
                  </a:lnTo>
                  <a:cubicBezTo>
                    <a:pt x="6769735" y="1516253"/>
                    <a:pt x="6714490" y="1570863"/>
                    <a:pt x="6646291" y="1570863"/>
                  </a:cubicBezTo>
                  <a:lnTo>
                    <a:pt x="123444" y="1570863"/>
                  </a:lnTo>
                  <a:cubicBezTo>
                    <a:pt x="55245" y="1570863"/>
                    <a:pt x="0" y="1516253"/>
                    <a:pt x="0" y="14489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95135" cy="1596263"/>
            </a:xfrm>
            <a:custGeom>
              <a:avLst/>
              <a:gdLst/>
              <a:ahLst/>
              <a:cxnLst/>
              <a:rect r="r" b="b" t="t" l="l"/>
              <a:pathLst>
                <a:path h="1596263" w="6795135">
                  <a:moveTo>
                    <a:pt x="0" y="134620"/>
                  </a:moveTo>
                  <a:cubicBezTo>
                    <a:pt x="0" y="60071"/>
                    <a:pt x="61087" y="0"/>
                    <a:pt x="136144" y="0"/>
                  </a:cubicBezTo>
                  <a:lnTo>
                    <a:pt x="6658991" y="0"/>
                  </a:lnTo>
                  <a:lnTo>
                    <a:pt x="6658991" y="12700"/>
                  </a:lnTo>
                  <a:lnTo>
                    <a:pt x="6658991" y="0"/>
                  </a:lnTo>
                  <a:cubicBezTo>
                    <a:pt x="6734048" y="0"/>
                    <a:pt x="6795135" y="60071"/>
                    <a:pt x="6795135" y="134620"/>
                  </a:cubicBezTo>
                  <a:lnTo>
                    <a:pt x="6782435" y="134620"/>
                  </a:lnTo>
                  <a:lnTo>
                    <a:pt x="6795135" y="134620"/>
                  </a:lnTo>
                  <a:lnTo>
                    <a:pt x="6795135" y="1461643"/>
                  </a:lnTo>
                  <a:lnTo>
                    <a:pt x="6782435" y="1461643"/>
                  </a:lnTo>
                  <a:lnTo>
                    <a:pt x="6795135" y="1461643"/>
                  </a:lnTo>
                  <a:cubicBezTo>
                    <a:pt x="6795135" y="1536192"/>
                    <a:pt x="6734048" y="1596263"/>
                    <a:pt x="6658991" y="1596263"/>
                  </a:cubicBezTo>
                  <a:lnTo>
                    <a:pt x="6658991" y="1583563"/>
                  </a:lnTo>
                  <a:lnTo>
                    <a:pt x="6658991" y="1596263"/>
                  </a:lnTo>
                  <a:lnTo>
                    <a:pt x="136144" y="1596263"/>
                  </a:lnTo>
                  <a:lnTo>
                    <a:pt x="136144" y="1583563"/>
                  </a:lnTo>
                  <a:lnTo>
                    <a:pt x="136144" y="1596263"/>
                  </a:lnTo>
                  <a:cubicBezTo>
                    <a:pt x="61087" y="1596263"/>
                    <a:pt x="0" y="1536065"/>
                    <a:pt x="0" y="1461643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461643"/>
                  </a:lnTo>
                  <a:lnTo>
                    <a:pt x="12700" y="1461643"/>
                  </a:lnTo>
                  <a:lnTo>
                    <a:pt x="25400" y="1461643"/>
                  </a:lnTo>
                  <a:cubicBezTo>
                    <a:pt x="25400" y="1521841"/>
                    <a:pt x="74803" y="1570863"/>
                    <a:pt x="136144" y="1570863"/>
                  </a:cubicBezTo>
                  <a:lnTo>
                    <a:pt x="6658991" y="1570863"/>
                  </a:lnTo>
                  <a:cubicBezTo>
                    <a:pt x="6720332" y="1570863"/>
                    <a:pt x="6769735" y="1521841"/>
                    <a:pt x="6769735" y="1461643"/>
                  </a:cubicBezTo>
                  <a:lnTo>
                    <a:pt x="6769735" y="134620"/>
                  </a:lnTo>
                  <a:cubicBezTo>
                    <a:pt x="6769735" y="74422"/>
                    <a:pt x="6720332" y="25400"/>
                    <a:pt x="6658991" y="25400"/>
                  </a:cubicBezTo>
                  <a:lnTo>
                    <a:pt x="136144" y="25400"/>
                  </a:lnTo>
                  <a:lnTo>
                    <a:pt x="136144" y="12700"/>
                  </a:lnTo>
                  <a:lnTo>
                    <a:pt x="136144" y="25400"/>
                  </a:lnTo>
                  <a:cubicBezTo>
                    <a:pt x="74803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D2C5C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712473" y="2362648"/>
            <a:ext cx="76200" cy="1178128"/>
            <a:chOff x="0" y="0"/>
            <a:chExt cx="101600" cy="15708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600" cy="1570863"/>
            </a:xfrm>
            <a:custGeom>
              <a:avLst/>
              <a:gdLst/>
              <a:ahLst/>
              <a:cxnLst/>
              <a:rect r="r" b="b" t="t" l="l"/>
              <a:pathLst>
                <a:path h="1570863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520063"/>
                  </a:lnTo>
                  <a:cubicBezTo>
                    <a:pt x="101600" y="1548130"/>
                    <a:pt x="78867" y="1570863"/>
                    <a:pt x="50800" y="1570863"/>
                  </a:cubicBezTo>
                  <a:cubicBezTo>
                    <a:pt x="22733" y="1570863"/>
                    <a:pt x="0" y="1548130"/>
                    <a:pt x="0" y="1520063"/>
                  </a:cubicBezTo>
                  <a:close/>
                </a:path>
              </a:pathLst>
            </a:custGeom>
            <a:solidFill>
              <a:srgbClr val="C7A2AC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985127" y="2530526"/>
            <a:ext cx="3189684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6E6666"/>
                </a:solidFill>
                <a:latin typeface="Arimo"/>
                <a:ea typeface="Arimo"/>
                <a:cs typeface="Arimo"/>
                <a:sym typeface="Arimo"/>
              </a:rPr>
              <a:t>Data Hungry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85127" y="3045914"/>
            <a:ext cx="4627216" cy="29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75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Requires large volumes of labeled training data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721998" y="3667125"/>
            <a:ext cx="5096323" cy="1447952"/>
            <a:chOff x="0" y="0"/>
            <a:chExt cx="6795097" cy="19306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6769735" cy="1905254"/>
            </a:xfrm>
            <a:custGeom>
              <a:avLst/>
              <a:gdLst/>
              <a:ahLst/>
              <a:cxnLst/>
              <a:rect r="r" b="b" t="t" l="l"/>
              <a:pathLst>
                <a:path h="1905254" w="6769735">
                  <a:moveTo>
                    <a:pt x="0" y="121920"/>
                  </a:moveTo>
                  <a:cubicBezTo>
                    <a:pt x="0" y="54610"/>
                    <a:pt x="55118" y="0"/>
                    <a:pt x="123063" y="0"/>
                  </a:cubicBezTo>
                  <a:lnTo>
                    <a:pt x="6646672" y="0"/>
                  </a:lnTo>
                  <a:cubicBezTo>
                    <a:pt x="6714617" y="0"/>
                    <a:pt x="6769735" y="54610"/>
                    <a:pt x="6769735" y="121920"/>
                  </a:cubicBezTo>
                  <a:lnTo>
                    <a:pt x="6769735" y="1783334"/>
                  </a:lnTo>
                  <a:cubicBezTo>
                    <a:pt x="6769735" y="1850644"/>
                    <a:pt x="6714617" y="1905254"/>
                    <a:pt x="6646672" y="1905254"/>
                  </a:cubicBezTo>
                  <a:lnTo>
                    <a:pt x="123063" y="1905254"/>
                  </a:lnTo>
                  <a:cubicBezTo>
                    <a:pt x="55118" y="1905254"/>
                    <a:pt x="0" y="1850644"/>
                    <a:pt x="0" y="178333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95135" cy="1930654"/>
            </a:xfrm>
            <a:custGeom>
              <a:avLst/>
              <a:gdLst/>
              <a:ahLst/>
              <a:cxnLst/>
              <a:rect r="r" b="b" t="t" l="l"/>
              <a:pathLst>
                <a:path h="1930654" w="6795135">
                  <a:moveTo>
                    <a:pt x="0" y="134620"/>
                  </a:moveTo>
                  <a:cubicBezTo>
                    <a:pt x="0" y="60198"/>
                    <a:pt x="60960" y="0"/>
                    <a:pt x="135763" y="0"/>
                  </a:cubicBezTo>
                  <a:lnTo>
                    <a:pt x="6659372" y="0"/>
                  </a:lnTo>
                  <a:lnTo>
                    <a:pt x="6659372" y="12700"/>
                  </a:lnTo>
                  <a:lnTo>
                    <a:pt x="6659372" y="0"/>
                  </a:lnTo>
                  <a:cubicBezTo>
                    <a:pt x="6734302" y="0"/>
                    <a:pt x="6795135" y="60198"/>
                    <a:pt x="6795135" y="134620"/>
                  </a:cubicBezTo>
                  <a:lnTo>
                    <a:pt x="6782435" y="134620"/>
                  </a:lnTo>
                  <a:lnTo>
                    <a:pt x="6795135" y="134620"/>
                  </a:lnTo>
                  <a:lnTo>
                    <a:pt x="6795135" y="1796034"/>
                  </a:lnTo>
                  <a:lnTo>
                    <a:pt x="6782435" y="1796034"/>
                  </a:lnTo>
                  <a:lnTo>
                    <a:pt x="6795135" y="1796034"/>
                  </a:lnTo>
                  <a:cubicBezTo>
                    <a:pt x="6795135" y="1870456"/>
                    <a:pt x="6734175" y="1930654"/>
                    <a:pt x="6659372" y="1930654"/>
                  </a:cubicBezTo>
                  <a:lnTo>
                    <a:pt x="6659372" y="1917954"/>
                  </a:lnTo>
                  <a:lnTo>
                    <a:pt x="6659372" y="1930654"/>
                  </a:lnTo>
                  <a:lnTo>
                    <a:pt x="135763" y="1930654"/>
                  </a:lnTo>
                  <a:lnTo>
                    <a:pt x="135763" y="1917954"/>
                  </a:lnTo>
                  <a:lnTo>
                    <a:pt x="135763" y="1930654"/>
                  </a:lnTo>
                  <a:cubicBezTo>
                    <a:pt x="60960" y="1930654"/>
                    <a:pt x="0" y="1870456"/>
                    <a:pt x="0" y="1796034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796034"/>
                  </a:lnTo>
                  <a:lnTo>
                    <a:pt x="12700" y="1796034"/>
                  </a:lnTo>
                  <a:lnTo>
                    <a:pt x="25400" y="1796034"/>
                  </a:lnTo>
                  <a:cubicBezTo>
                    <a:pt x="25400" y="1856232"/>
                    <a:pt x="74676" y="1905254"/>
                    <a:pt x="135763" y="1905254"/>
                  </a:cubicBezTo>
                  <a:lnTo>
                    <a:pt x="6659372" y="1905254"/>
                  </a:lnTo>
                  <a:cubicBezTo>
                    <a:pt x="6720459" y="1905254"/>
                    <a:pt x="6769735" y="1856232"/>
                    <a:pt x="6769735" y="1796034"/>
                  </a:cubicBezTo>
                  <a:lnTo>
                    <a:pt x="6769735" y="134620"/>
                  </a:lnTo>
                  <a:cubicBezTo>
                    <a:pt x="6769735" y="74422"/>
                    <a:pt x="6720459" y="25400"/>
                    <a:pt x="6659372" y="25400"/>
                  </a:cubicBezTo>
                  <a:lnTo>
                    <a:pt x="135763" y="25400"/>
                  </a:lnTo>
                  <a:lnTo>
                    <a:pt x="135763" y="12700"/>
                  </a:lnTo>
                  <a:lnTo>
                    <a:pt x="135763" y="25400"/>
                  </a:lnTo>
                  <a:cubicBezTo>
                    <a:pt x="74676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D2C5C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712473" y="3676650"/>
            <a:ext cx="76200" cy="1428902"/>
            <a:chOff x="0" y="0"/>
            <a:chExt cx="101600" cy="19052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600" cy="1905254"/>
            </a:xfrm>
            <a:custGeom>
              <a:avLst/>
              <a:gdLst/>
              <a:ahLst/>
              <a:cxnLst/>
              <a:rect r="r" b="b" t="t" l="l"/>
              <a:pathLst>
                <a:path h="1905254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854454"/>
                  </a:lnTo>
                  <a:cubicBezTo>
                    <a:pt x="101600" y="1882521"/>
                    <a:pt x="78867" y="1905254"/>
                    <a:pt x="50800" y="1905254"/>
                  </a:cubicBezTo>
                  <a:cubicBezTo>
                    <a:pt x="22733" y="1905254"/>
                    <a:pt x="0" y="1882521"/>
                    <a:pt x="0" y="1854454"/>
                  </a:cubicBezTo>
                  <a:close/>
                </a:path>
              </a:pathLst>
            </a:custGeom>
            <a:solidFill>
              <a:srgbClr val="C7A2AC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985127" y="3844528"/>
            <a:ext cx="3189684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6E6666"/>
                </a:solidFill>
                <a:latin typeface="Arimo"/>
                <a:ea typeface="Arimo"/>
                <a:cs typeface="Arimo"/>
                <a:sym typeface="Arimo"/>
              </a:rPr>
              <a:t>Slow Training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85127" y="4359916"/>
            <a:ext cx="4627216" cy="549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75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Computationally expensive, especially for deep networks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721998" y="5231902"/>
            <a:ext cx="5096323" cy="1447952"/>
            <a:chOff x="0" y="0"/>
            <a:chExt cx="6795097" cy="19306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6769735" cy="1905254"/>
            </a:xfrm>
            <a:custGeom>
              <a:avLst/>
              <a:gdLst/>
              <a:ahLst/>
              <a:cxnLst/>
              <a:rect r="r" b="b" t="t" l="l"/>
              <a:pathLst>
                <a:path h="1905254" w="6769735">
                  <a:moveTo>
                    <a:pt x="0" y="121920"/>
                  </a:moveTo>
                  <a:cubicBezTo>
                    <a:pt x="0" y="54610"/>
                    <a:pt x="55118" y="0"/>
                    <a:pt x="123063" y="0"/>
                  </a:cubicBezTo>
                  <a:lnTo>
                    <a:pt x="6646672" y="0"/>
                  </a:lnTo>
                  <a:cubicBezTo>
                    <a:pt x="6714617" y="0"/>
                    <a:pt x="6769735" y="54610"/>
                    <a:pt x="6769735" y="121920"/>
                  </a:cubicBezTo>
                  <a:lnTo>
                    <a:pt x="6769735" y="1783334"/>
                  </a:lnTo>
                  <a:cubicBezTo>
                    <a:pt x="6769735" y="1850644"/>
                    <a:pt x="6714617" y="1905254"/>
                    <a:pt x="6646672" y="1905254"/>
                  </a:cubicBezTo>
                  <a:lnTo>
                    <a:pt x="123063" y="1905254"/>
                  </a:lnTo>
                  <a:cubicBezTo>
                    <a:pt x="55118" y="1905254"/>
                    <a:pt x="0" y="1850644"/>
                    <a:pt x="0" y="178333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95135" cy="1930654"/>
            </a:xfrm>
            <a:custGeom>
              <a:avLst/>
              <a:gdLst/>
              <a:ahLst/>
              <a:cxnLst/>
              <a:rect r="r" b="b" t="t" l="l"/>
              <a:pathLst>
                <a:path h="1930654" w="6795135">
                  <a:moveTo>
                    <a:pt x="0" y="134620"/>
                  </a:moveTo>
                  <a:cubicBezTo>
                    <a:pt x="0" y="60198"/>
                    <a:pt x="60960" y="0"/>
                    <a:pt x="135763" y="0"/>
                  </a:cubicBezTo>
                  <a:lnTo>
                    <a:pt x="6659372" y="0"/>
                  </a:lnTo>
                  <a:lnTo>
                    <a:pt x="6659372" y="12700"/>
                  </a:lnTo>
                  <a:lnTo>
                    <a:pt x="6659372" y="0"/>
                  </a:lnTo>
                  <a:cubicBezTo>
                    <a:pt x="6734302" y="0"/>
                    <a:pt x="6795135" y="60198"/>
                    <a:pt x="6795135" y="134620"/>
                  </a:cubicBezTo>
                  <a:lnTo>
                    <a:pt x="6782435" y="134620"/>
                  </a:lnTo>
                  <a:lnTo>
                    <a:pt x="6795135" y="134620"/>
                  </a:lnTo>
                  <a:lnTo>
                    <a:pt x="6795135" y="1796034"/>
                  </a:lnTo>
                  <a:lnTo>
                    <a:pt x="6782435" y="1796034"/>
                  </a:lnTo>
                  <a:lnTo>
                    <a:pt x="6795135" y="1796034"/>
                  </a:lnTo>
                  <a:cubicBezTo>
                    <a:pt x="6795135" y="1870456"/>
                    <a:pt x="6734175" y="1930654"/>
                    <a:pt x="6659372" y="1930654"/>
                  </a:cubicBezTo>
                  <a:lnTo>
                    <a:pt x="6659372" y="1917954"/>
                  </a:lnTo>
                  <a:lnTo>
                    <a:pt x="6659372" y="1930654"/>
                  </a:lnTo>
                  <a:lnTo>
                    <a:pt x="135763" y="1930654"/>
                  </a:lnTo>
                  <a:lnTo>
                    <a:pt x="135763" y="1917954"/>
                  </a:lnTo>
                  <a:lnTo>
                    <a:pt x="135763" y="1930654"/>
                  </a:lnTo>
                  <a:cubicBezTo>
                    <a:pt x="60960" y="1930654"/>
                    <a:pt x="0" y="1870456"/>
                    <a:pt x="0" y="1796034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796034"/>
                  </a:lnTo>
                  <a:lnTo>
                    <a:pt x="12700" y="1796034"/>
                  </a:lnTo>
                  <a:lnTo>
                    <a:pt x="25400" y="1796034"/>
                  </a:lnTo>
                  <a:cubicBezTo>
                    <a:pt x="25400" y="1856232"/>
                    <a:pt x="74676" y="1905254"/>
                    <a:pt x="135763" y="1905254"/>
                  </a:cubicBezTo>
                  <a:lnTo>
                    <a:pt x="6659372" y="1905254"/>
                  </a:lnTo>
                  <a:cubicBezTo>
                    <a:pt x="6720459" y="1905254"/>
                    <a:pt x="6769735" y="1856232"/>
                    <a:pt x="6769735" y="1796034"/>
                  </a:cubicBezTo>
                  <a:lnTo>
                    <a:pt x="6769735" y="134620"/>
                  </a:lnTo>
                  <a:cubicBezTo>
                    <a:pt x="6769735" y="74422"/>
                    <a:pt x="6720459" y="25400"/>
                    <a:pt x="6659372" y="25400"/>
                  </a:cubicBezTo>
                  <a:lnTo>
                    <a:pt x="135763" y="25400"/>
                  </a:lnTo>
                  <a:lnTo>
                    <a:pt x="135763" y="12700"/>
                  </a:lnTo>
                  <a:lnTo>
                    <a:pt x="135763" y="25400"/>
                  </a:lnTo>
                  <a:cubicBezTo>
                    <a:pt x="74676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D2C5C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712473" y="5241427"/>
            <a:ext cx="76200" cy="1428902"/>
            <a:chOff x="0" y="0"/>
            <a:chExt cx="101600" cy="190520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1600" cy="1905254"/>
            </a:xfrm>
            <a:custGeom>
              <a:avLst/>
              <a:gdLst/>
              <a:ahLst/>
              <a:cxnLst/>
              <a:rect r="r" b="b" t="t" l="l"/>
              <a:pathLst>
                <a:path h="1905254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854454"/>
                  </a:lnTo>
                  <a:cubicBezTo>
                    <a:pt x="101600" y="1882521"/>
                    <a:pt x="78867" y="1905254"/>
                    <a:pt x="50800" y="1905254"/>
                  </a:cubicBezTo>
                  <a:cubicBezTo>
                    <a:pt x="22733" y="1905254"/>
                    <a:pt x="0" y="1882521"/>
                    <a:pt x="0" y="1854454"/>
                  </a:cubicBezTo>
                  <a:close/>
                </a:path>
              </a:pathLst>
            </a:custGeom>
            <a:solidFill>
              <a:srgbClr val="C7A2AC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985127" y="5409305"/>
            <a:ext cx="3189684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6E6666"/>
                </a:solidFill>
                <a:latin typeface="Arimo"/>
                <a:ea typeface="Arimo"/>
                <a:cs typeface="Arimo"/>
                <a:sym typeface="Arimo"/>
              </a:rPr>
              <a:t>Parameter Sensitivity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985127" y="5924702"/>
            <a:ext cx="4627216" cy="549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75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Performance depends heavily on learning rate and architecture tuning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721998" y="6796678"/>
            <a:ext cx="5096323" cy="1197178"/>
            <a:chOff x="0" y="0"/>
            <a:chExt cx="6795097" cy="159623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700" y="12700"/>
              <a:ext cx="6769735" cy="1570863"/>
            </a:xfrm>
            <a:custGeom>
              <a:avLst/>
              <a:gdLst/>
              <a:ahLst/>
              <a:cxnLst/>
              <a:rect r="r" b="b" t="t" l="l"/>
              <a:pathLst>
                <a:path h="1570863" w="6769735">
                  <a:moveTo>
                    <a:pt x="0" y="121920"/>
                  </a:moveTo>
                  <a:cubicBezTo>
                    <a:pt x="0" y="54610"/>
                    <a:pt x="55245" y="0"/>
                    <a:pt x="123444" y="0"/>
                  </a:cubicBezTo>
                  <a:lnTo>
                    <a:pt x="6646291" y="0"/>
                  </a:lnTo>
                  <a:cubicBezTo>
                    <a:pt x="6714490" y="0"/>
                    <a:pt x="6769735" y="54610"/>
                    <a:pt x="6769735" y="121920"/>
                  </a:cubicBezTo>
                  <a:lnTo>
                    <a:pt x="6769735" y="1448943"/>
                  </a:lnTo>
                  <a:cubicBezTo>
                    <a:pt x="6769735" y="1516253"/>
                    <a:pt x="6714490" y="1570863"/>
                    <a:pt x="6646291" y="1570863"/>
                  </a:cubicBezTo>
                  <a:lnTo>
                    <a:pt x="123444" y="1570863"/>
                  </a:lnTo>
                  <a:cubicBezTo>
                    <a:pt x="55245" y="1570863"/>
                    <a:pt x="0" y="1516253"/>
                    <a:pt x="0" y="14489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95135" cy="1596263"/>
            </a:xfrm>
            <a:custGeom>
              <a:avLst/>
              <a:gdLst/>
              <a:ahLst/>
              <a:cxnLst/>
              <a:rect r="r" b="b" t="t" l="l"/>
              <a:pathLst>
                <a:path h="1596263" w="6795135">
                  <a:moveTo>
                    <a:pt x="0" y="134620"/>
                  </a:moveTo>
                  <a:cubicBezTo>
                    <a:pt x="0" y="60071"/>
                    <a:pt x="61087" y="0"/>
                    <a:pt x="136144" y="0"/>
                  </a:cubicBezTo>
                  <a:lnTo>
                    <a:pt x="6658991" y="0"/>
                  </a:lnTo>
                  <a:lnTo>
                    <a:pt x="6658991" y="12700"/>
                  </a:lnTo>
                  <a:lnTo>
                    <a:pt x="6658991" y="0"/>
                  </a:lnTo>
                  <a:cubicBezTo>
                    <a:pt x="6734048" y="0"/>
                    <a:pt x="6795135" y="60071"/>
                    <a:pt x="6795135" y="134620"/>
                  </a:cubicBezTo>
                  <a:lnTo>
                    <a:pt x="6782435" y="134620"/>
                  </a:lnTo>
                  <a:lnTo>
                    <a:pt x="6795135" y="134620"/>
                  </a:lnTo>
                  <a:lnTo>
                    <a:pt x="6795135" y="1461643"/>
                  </a:lnTo>
                  <a:lnTo>
                    <a:pt x="6782435" y="1461643"/>
                  </a:lnTo>
                  <a:lnTo>
                    <a:pt x="6795135" y="1461643"/>
                  </a:lnTo>
                  <a:cubicBezTo>
                    <a:pt x="6795135" y="1536192"/>
                    <a:pt x="6734048" y="1596263"/>
                    <a:pt x="6658991" y="1596263"/>
                  </a:cubicBezTo>
                  <a:lnTo>
                    <a:pt x="6658991" y="1583563"/>
                  </a:lnTo>
                  <a:lnTo>
                    <a:pt x="6658991" y="1596263"/>
                  </a:lnTo>
                  <a:lnTo>
                    <a:pt x="136144" y="1596263"/>
                  </a:lnTo>
                  <a:lnTo>
                    <a:pt x="136144" y="1583563"/>
                  </a:lnTo>
                  <a:lnTo>
                    <a:pt x="136144" y="1596263"/>
                  </a:lnTo>
                  <a:cubicBezTo>
                    <a:pt x="61087" y="1596263"/>
                    <a:pt x="0" y="1536065"/>
                    <a:pt x="0" y="1461643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461643"/>
                  </a:lnTo>
                  <a:lnTo>
                    <a:pt x="12700" y="1461643"/>
                  </a:lnTo>
                  <a:lnTo>
                    <a:pt x="25400" y="1461643"/>
                  </a:lnTo>
                  <a:cubicBezTo>
                    <a:pt x="25400" y="1521841"/>
                    <a:pt x="74803" y="1570863"/>
                    <a:pt x="136144" y="1570863"/>
                  </a:cubicBezTo>
                  <a:lnTo>
                    <a:pt x="6658991" y="1570863"/>
                  </a:lnTo>
                  <a:cubicBezTo>
                    <a:pt x="6720332" y="1570863"/>
                    <a:pt x="6769735" y="1521841"/>
                    <a:pt x="6769735" y="1461643"/>
                  </a:cubicBezTo>
                  <a:lnTo>
                    <a:pt x="6769735" y="134620"/>
                  </a:lnTo>
                  <a:cubicBezTo>
                    <a:pt x="6769735" y="74422"/>
                    <a:pt x="6720332" y="25400"/>
                    <a:pt x="6658991" y="25400"/>
                  </a:cubicBezTo>
                  <a:lnTo>
                    <a:pt x="136144" y="25400"/>
                  </a:lnTo>
                  <a:lnTo>
                    <a:pt x="136144" y="12700"/>
                  </a:lnTo>
                  <a:lnTo>
                    <a:pt x="136144" y="25400"/>
                  </a:lnTo>
                  <a:cubicBezTo>
                    <a:pt x="74803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D2C5C9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712473" y="6806203"/>
            <a:ext cx="76200" cy="1178128"/>
            <a:chOff x="0" y="0"/>
            <a:chExt cx="101600" cy="157083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1600" cy="1570863"/>
            </a:xfrm>
            <a:custGeom>
              <a:avLst/>
              <a:gdLst/>
              <a:ahLst/>
              <a:cxnLst/>
              <a:rect r="r" b="b" t="t" l="l"/>
              <a:pathLst>
                <a:path h="1570863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520063"/>
                  </a:lnTo>
                  <a:cubicBezTo>
                    <a:pt x="101600" y="1548130"/>
                    <a:pt x="78867" y="1570863"/>
                    <a:pt x="50800" y="1570863"/>
                  </a:cubicBezTo>
                  <a:cubicBezTo>
                    <a:pt x="22733" y="1570863"/>
                    <a:pt x="0" y="1548130"/>
                    <a:pt x="0" y="1520063"/>
                  </a:cubicBezTo>
                  <a:close/>
                </a:path>
              </a:pathLst>
            </a:custGeom>
            <a:solidFill>
              <a:srgbClr val="C7A2AC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1985127" y="6974091"/>
            <a:ext cx="3189684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6E6666"/>
                </a:solidFill>
                <a:latin typeface="Arimo"/>
                <a:ea typeface="Arimo"/>
                <a:cs typeface="Arimo"/>
                <a:sym typeface="Arimo"/>
              </a:rPr>
              <a:t>Overfitting Risk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985127" y="7489479"/>
            <a:ext cx="4627216" cy="29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75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May memorize training data rather than generalize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1721998" y="8110690"/>
            <a:ext cx="5096323" cy="1447952"/>
            <a:chOff x="0" y="0"/>
            <a:chExt cx="6795097" cy="193060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2700" y="12700"/>
              <a:ext cx="6769735" cy="1905254"/>
            </a:xfrm>
            <a:custGeom>
              <a:avLst/>
              <a:gdLst/>
              <a:ahLst/>
              <a:cxnLst/>
              <a:rect r="r" b="b" t="t" l="l"/>
              <a:pathLst>
                <a:path h="1905254" w="6769735">
                  <a:moveTo>
                    <a:pt x="0" y="121920"/>
                  </a:moveTo>
                  <a:cubicBezTo>
                    <a:pt x="0" y="54610"/>
                    <a:pt x="55118" y="0"/>
                    <a:pt x="123063" y="0"/>
                  </a:cubicBezTo>
                  <a:lnTo>
                    <a:pt x="6646672" y="0"/>
                  </a:lnTo>
                  <a:cubicBezTo>
                    <a:pt x="6714617" y="0"/>
                    <a:pt x="6769735" y="54610"/>
                    <a:pt x="6769735" y="121920"/>
                  </a:cubicBezTo>
                  <a:lnTo>
                    <a:pt x="6769735" y="1783334"/>
                  </a:lnTo>
                  <a:cubicBezTo>
                    <a:pt x="6769735" y="1850644"/>
                    <a:pt x="6714617" y="1905254"/>
                    <a:pt x="6646672" y="1905254"/>
                  </a:cubicBezTo>
                  <a:lnTo>
                    <a:pt x="123063" y="1905254"/>
                  </a:lnTo>
                  <a:cubicBezTo>
                    <a:pt x="55118" y="1905254"/>
                    <a:pt x="0" y="1850644"/>
                    <a:pt x="0" y="178333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795135" cy="1930654"/>
            </a:xfrm>
            <a:custGeom>
              <a:avLst/>
              <a:gdLst/>
              <a:ahLst/>
              <a:cxnLst/>
              <a:rect r="r" b="b" t="t" l="l"/>
              <a:pathLst>
                <a:path h="1930654" w="6795135">
                  <a:moveTo>
                    <a:pt x="0" y="134620"/>
                  </a:moveTo>
                  <a:cubicBezTo>
                    <a:pt x="0" y="60198"/>
                    <a:pt x="60960" y="0"/>
                    <a:pt x="135763" y="0"/>
                  </a:cubicBezTo>
                  <a:lnTo>
                    <a:pt x="6659372" y="0"/>
                  </a:lnTo>
                  <a:lnTo>
                    <a:pt x="6659372" y="12700"/>
                  </a:lnTo>
                  <a:lnTo>
                    <a:pt x="6659372" y="0"/>
                  </a:lnTo>
                  <a:cubicBezTo>
                    <a:pt x="6734302" y="0"/>
                    <a:pt x="6795135" y="60198"/>
                    <a:pt x="6795135" y="134620"/>
                  </a:cubicBezTo>
                  <a:lnTo>
                    <a:pt x="6782435" y="134620"/>
                  </a:lnTo>
                  <a:lnTo>
                    <a:pt x="6795135" y="134620"/>
                  </a:lnTo>
                  <a:lnTo>
                    <a:pt x="6795135" y="1796034"/>
                  </a:lnTo>
                  <a:lnTo>
                    <a:pt x="6782435" y="1796034"/>
                  </a:lnTo>
                  <a:lnTo>
                    <a:pt x="6795135" y="1796034"/>
                  </a:lnTo>
                  <a:cubicBezTo>
                    <a:pt x="6795135" y="1870456"/>
                    <a:pt x="6734175" y="1930654"/>
                    <a:pt x="6659372" y="1930654"/>
                  </a:cubicBezTo>
                  <a:lnTo>
                    <a:pt x="6659372" y="1917954"/>
                  </a:lnTo>
                  <a:lnTo>
                    <a:pt x="6659372" y="1930654"/>
                  </a:lnTo>
                  <a:lnTo>
                    <a:pt x="135763" y="1930654"/>
                  </a:lnTo>
                  <a:lnTo>
                    <a:pt x="135763" y="1917954"/>
                  </a:lnTo>
                  <a:lnTo>
                    <a:pt x="135763" y="1930654"/>
                  </a:lnTo>
                  <a:cubicBezTo>
                    <a:pt x="60960" y="1930654"/>
                    <a:pt x="0" y="1870456"/>
                    <a:pt x="0" y="1796034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796034"/>
                  </a:lnTo>
                  <a:lnTo>
                    <a:pt x="12700" y="1796034"/>
                  </a:lnTo>
                  <a:lnTo>
                    <a:pt x="25400" y="1796034"/>
                  </a:lnTo>
                  <a:cubicBezTo>
                    <a:pt x="25400" y="1856232"/>
                    <a:pt x="74676" y="1905254"/>
                    <a:pt x="135763" y="1905254"/>
                  </a:cubicBezTo>
                  <a:lnTo>
                    <a:pt x="6659372" y="1905254"/>
                  </a:lnTo>
                  <a:cubicBezTo>
                    <a:pt x="6720459" y="1905254"/>
                    <a:pt x="6769735" y="1856232"/>
                    <a:pt x="6769735" y="1796034"/>
                  </a:cubicBezTo>
                  <a:lnTo>
                    <a:pt x="6769735" y="134620"/>
                  </a:lnTo>
                  <a:cubicBezTo>
                    <a:pt x="6769735" y="74422"/>
                    <a:pt x="6720459" y="25400"/>
                    <a:pt x="6659372" y="25400"/>
                  </a:cubicBezTo>
                  <a:lnTo>
                    <a:pt x="135763" y="25400"/>
                  </a:lnTo>
                  <a:lnTo>
                    <a:pt x="135763" y="12700"/>
                  </a:lnTo>
                  <a:lnTo>
                    <a:pt x="135763" y="25400"/>
                  </a:lnTo>
                  <a:cubicBezTo>
                    <a:pt x="74676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D2C5C9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712473" y="8120215"/>
            <a:ext cx="76200" cy="1428902"/>
            <a:chOff x="0" y="0"/>
            <a:chExt cx="101600" cy="190520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1600" cy="1905254"/>
            </a:xfrm>
            <a:custGeom>
              <a:avLst/>
              <a:gdLst/>
              <a:ahLst/>
              <a:cxnLst/>
              <a:rect r="r" b="b" t="t" l="l"/>
              <a:pathLst>
                <a:path h="1905254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854454"/>
                  </a:lnTo>
                  <a:cubicBezTo>
                    <a:pt x="101600" y="1882521"/>
                    <a:pt x="78867" y="1905254"/>
                    <a:pt x="50800" y="1905254"/>
                  </a:cubicBezTo>
                  <a:cubicBezTo>
                    <a:pt x="22733" y="1905254"/>
                    <a:pt x="0" y="1882521"/>
                    <a:pt x="0" y="1854454"/>
                  </a:cubicBezTo>
                  <a:close/>
                </a:path>
              </a:pathLst>
            </a:custGeom>
            <a:solidFill>
              <a:srgbClr val="C7A2AC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1985127" y="8288093"/>
            <a:ext cx="3189684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6E6666"/>
                </a:solidFill>
                <a:latin typeface="Arimo"/>
                <a:ea typeface="Arimo"/>
                <a:cs typeface="Arimo"/>
                <a:sym typeface="Arimo"/>
              </a:rPr>
              <a:t>Local Optima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985127" y="8803481"/>
            <a:ext cx="4627216" cy="549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75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Can get stuck in suboptimal solutions during training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11416" y="1583684"/>
            <a:ext cx="9816103" cy="110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7"/>
              </a:lnSpc>
            </a:pPr>
            <a:r>
              <a:rPr lang="en-US" sz="6500">
                <a:solidFill>
                  <a:srgbClr val="787878"/>
                </a:solidFill>
                <a:latin typeface="Arimo"/>
                <a:ea typeface="Arimo"/>
                <a:cs typeface="Arimo"/>
                <a:sym typeface="Arimo"/>
              </a:rPr>
              <a:t>Applications &amp; 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1416" y="3233147"/>
            <a:ext cx="4483598" cy="55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50">
                <a:solidFill>
                  <a:srgbClr val="787878"/>
                </a:solidFill>
                <a:latin typeface="Arimo"/>
                <a:ea typeface="Arimo"/>
                <a:cs typeface="Arimo"/>
                <a:sym typeface="Arimo"/>
              </a:rPr>
              <a:t>Real-World Applications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898322" y="4064127"/>
            <a:ext cx="347662" cy="347662"/>
          </a:xfrm>
          <a:custGeom>
            <a:avLst/>
            <a:gdLst/>
            <a:ahLst/>
            <a:cxnLst/>
            <a:rect r="r" b="b" t="t" l="l"/>
            <a:pathLst>
              <a:path h="347662" w="347662">
                <a:moveTo>
                  <a:pt x="0" y="0"/>
                </a:moveTo>
                <a:lnTo>
                  <a:pt x="347662" y="0"/>
                </a:lnTo>
                <a:lnTo>
                  <a:pt x="347662" y="347663"/>
                </a:lnTo>
                <a:lnTo>
                  <a:pt x="0" y="34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106" t="0" r="-8109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64777" y="3976392"/>
            <a:ext cx="7296445" cy="81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 b="true">
                <a:solidFill>
                  <a:srgbClr val="6E6666"/>
                </a:solidFill>
                <a:latin typeface="Poppins Bold"/>
                <a:ea typeface="Poppins Bold"/>
                <a:cs typeface="Poppins Bold"/>
                <a:sym typeface="Poppins Bold"/>
              </a:rPr>
              <a:t>Email spam filtering</a:t>
            </a:r>
            <a:r>
              <a:rPr lang="en-US" sz="1812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 — classifies messages as spam or legitimate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898322" y="5269487"/>
            <a:ext cx="347662" cy="347662"/>
          </a:xfrm>
          <a:custGeom>
            <a:avLst/>
            <a:gdLst/>
            <a:ahLst/>
            <a:cxnLst/>
            <a:rect r="r" b="b" t="t" l="l"/>
            <a:pathLst>
              <a:path h="347662" w="347662">
                <a:moveTo>
                  <a:pt x="0" y="0"/>
                </a:moveTo>
                <a:lnTo>
                  <a:pt x="347662" y="0"/>
                </a:lnTo>
                <a:lnTo>
                  <a:pt x="347662" y="347663"/>
                </a:lnTo>
                <a:lnTo>
                  <a:pt x="0" y="34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106" t="0" r="-8109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64777" y="5181752"/>
            <a:ext cx="7296445" cy="81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 b="true">
                <a:solidFill>
                  <a:srgbClr val="6E6666"/>
                </a:solidFill>
                <a:latin typeface="Poppins Bold"/>
                <a:ea typeface="Poppins Bold"/>
                <a:cs typeface="Poppins Bold"/>
                <a:sym typeface="Poppins Bold"/>
              </a:rPr>
              <a:t>Image &amp; speech recognition</a:t>
            </a:r>
            <a:r>
              <a:rPr lang="en-US" sz="1812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 — identifies objects, faces, and spoken words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898322" y="6474838"/>
            <a:ext cx="347662" cy="347662"/>
          </a:xfrm>
          <a:custGeom>
            <a:avLst/>
            <a:gdLst/>
            <a:ahLst/>
            <a:cxnLst/>
            <a:rect r="r" b="b" t="t" l="l"/>
            <a:pathLst>
              <a:path h="347662" w="347662">
                <a:moveTo>
                  <a:pt x="0" y="0"/>
                </a:moveTo>
                <a:lnTo>
                  <a:pt x="347662" y="0"/>
                </a:lnTo>
                <a:lnTo>
                  <a:pt x="347662" y="347662"/>
                </a:lnTo>
                <a:lnTo>
                  <a:pt x="0" y="3476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106" t="0" r="-8109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64777" y="6387103"/>
            <a:ext cx="7296445" cy="81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 b="true">
                <a:solidFill>
                  <a:srgbClr val="6E6666"/>
                </a:solidFill>
                <a:latin typeface="Poppins Bold"/>
                <a:ea typeface="Poppins Bold"/>
                <a:cs typeface="Poppins Bold"/>
                <a:sym typeface="Poppins Bold"/>
              </a:rPr>
              <a:t>Medical diagnosis</a:t>
            </a:r>
            <a:r>
              <a:rPr lang="en-US" sz="1812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 — assists in detecting diseases from patient data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898322" y="7680198"/>
            <a:ext cx="347662" cy="347662"/>
          </a:xfrm>
          <a:custGeom>
            <a:avLst/>
            <a:gdLst/>
            <a:ahLst/>
            <a:cxnLst/>
            <a:rect r="r" b="b" t="t" l="l"/>
            <a:pathLst>
              <a:path h="347662" w="347662">
                <a:moveTo>
                  <a:pt x="0" y="0"/>
                </a:moveTo>
                <a:lnTo>
                  <a:pt x="347662" y="0"/>
                </a:lnTo>
                <a:lnTo>
                  <a:pt x="347662" y="347662"/>
                </a:lnTo>
                <a:lnTo>
                  <a:pt x="0" y="3476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106" t="0" r="-8109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64777" y="7592463"/>
            <a:ext cx="7296445" cy="447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 b="true">
                <a:solidFill>
                  <a:srgbClr val="6E6666"/>
                </a:solidFill>
                <a:latin typeface="Poppins Bold"/>
                <a:ea typeface="Poppins Bold"/>
                <a:cs typeface="Poppins Bold"/>
                <a:sym typeface="Poppins Bold"/>
              </a:rPr>
              <a:t>Financial forecasting</a:t>
            </a:r>
            <a:r>
              <a:rPr lang="en-US" sz="1812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 — predicts market trends and credit risk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69311" y="3039513"/>
            <a:ext cx="8383791" cy="5596976"/>
            <a:chOff x="0" y="0"/>
            <a:chExt cx="11178388" cy="7462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178413" cy="7462647"/>
            </a:xfrm>
            <a:custGeom>
              <a:avLst/>
              <a:gdLst/>
              <a:ahLst/>
              <a:cxnLst/>
              <a:rect r="r" b="b" t="t" l="l"/>
              <a:pathLst>
                <a:path h="7462647" w="11178413">
                  <a:moveTo>
                    <a:pt x="0" y="741934"/>
                  </a:moveTo>
                  <a:cubicBezTo>
                    <a:pt x="0" y="332232"/>
                    <a:pt x="332232" y="0"/>
                    <a:pt x="741934" y="0"/>
                  </a:cubicBezTo>
                  <a:lnTo>
                    <a:pt x="10436479" y="0"/>
                  </a:lnTo>
                  <a:cubicBezTo>
                    <a:pt x="10846181" y="0"/>
                    <a:pt x="11178413" y="332232"/>
                    <a:pt x="11178413" y="741934"/>
                  </a:cubicBezTo>
                  <a:lnTo>
                    <a:pt x="11178413" y="6720713"/>
                  </a:lnTo>
                  <a:cubicBezTo>
                    <a:pt x="11178413" y="7130415"/>
                    <a:pt x="10846181" y="7462647"/>
                    <a:pt x="10436479" y="7462647"/>
                  </a:cubicBezTo>
                  <a:lnTo>
                    <a:pt x="741934" y="7462647"/>
                  </a:lnTo>
                  <a:cubicBezTo>
                    <a:pt x="332232" y="7462647"/>
                    <a:pt x="0" y="7130415"/>
                    <a:pt x="0" y="6720713"/>
                  </a:cubicBezTo>
                  <a:close/>
                </a:path>
              </a:pathLst>
            </a:custGeom>
            <a:solidFill>
              <a:srgbClr val="E1C2C2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501035" y="3233147"/>
            <a:ext cx="4166149" cy="55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Key Takeaways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01035" y="3947370"/>
            <a:ext cx="7920333" cy="1559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Backpropagation remains one of the most </a:t>
            </a:r>
            <a:r>
              <a:rPr lang="en-US" sz="18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powerful classification techniques</a:t>
            </a:r>
            <a:r>
              <a:rPr lang="en-US" sz="18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 data mining. It enables neural networks to learn efficiently from data, adapt to complex patterns, and deliver accurate predictions across a wide range of real-world problems.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01035" y="5767835"/>
            <a:ext cx="7920333" cy="1355827"/>
            <a:chOff x="0" y="0"/>
            <a:chExt cx="10560444" cy="18077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60304" cy="1807718"/>
            </a:xfrm>
            <a:custGeom>
              <a:avLst/>
              <a:gdLst/>
              <a:ahLst/>
              <a:cxnLst/>
              <a:rect r="r" b="b" t="t" l="l"/>
              <a:pathLst>
                <a:path h="1807718" w="10560304">
                  <a:moveTo>
                    <a:pt x="0" y="463677"/>
                  </a:moveTo>
                  <a:cubicBezTo>
                    <a:pt x="0" y="207645"/>
                    <a:pt x="207645" y="0"/>
                    <a:pt x="463677" y="0"/>
                  </a:cubicBezTo>
                  <a:lnTo>
                    <a:pt x="10096627" y="0"/>
                  </a:lnTo>
                  <a:cubicBezTo>
                    <a:pt x="10352786" y="0"/>
                    <a:pt x="10560304" y="207645"/>
                    <a:pt x="10560304" y="463677"/>
                  </a:cubicBezTo>
                  <a:lnTo>
                    <a:pt x="10560304" y="1344041"/>
                  </a:lnTo>
                  <a:cubicBezTo>
                    <a:pt x="10560304" y="1600200"/>
                    <a:pt x="10352659" y="1807718"/>
                    <a:pt x="10096627" y="1807718"/>
                  </a:cubicBezTo>
                  <a:lnTo>
                    <a:pt x="463677" y="1807718"/>
                  </a:lnTo>
                  <a:cubicBezTo>
                    <a:pt x="207645" y="1807718"/>
                    <a:pt x="0" y="1600200"/>
                    <a:pt x="0" y="1344041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732759" y="6111773"/>
            <a:ext cx="289770" cy="231724"/>
            <a:chOff x="0" y="0"/>
            <a:chExt cx="386359" cy="308966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386334" cy="308991"/>
            </a:xfrm>
            <a:custGeom>
              <a:avLst/>
              <a:gdLst/>
              <a:ahLst/>
              <a:cxnLst/>
              <a:rect r="r" b="b" t="t" l="l"/>
              <a:pathLst>
                <a:path h="308991" w="386334">
                  <a:moveTo>
                    <a:pt x="0" y="0"/>
                  </a:moveTo>
                  <a:lnTo>
                    <a:pt x="386334" y="0"/>
                  </a:lnTo>
                  <a:lnTo>
                    <a:pt x="386334" y="308991"/>
                  </a:lnTo>
                  <a:lnTo>
                    <a:pt x="0" y="308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0" r="-6" b="-12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254253" y="5981252"/>
            <a:ext cx="6935391" cy="81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Despite its limitations, backpropagation continues to underpin modern AI and machine learning systems.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77854" y="1164156"/>
            <a:ext cx="10425405" cy="156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2"/>
              </a:lnSpc>
            </a:pPr>
            <a:r>
              <a:rPr lang="en-US" sz="920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26063" y="6446588"/>
            <a:ext cx="7370802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BY: Jahanvi  Srivastava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(RA2311003011082)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DAHG5SSfS1Y</dc:identifier>
  <dcterms:modified xsi:type="dcterms:W3CDTF">2011-08-01T06:04:30Z</dcterms:modified>
  <cp:revision>1</cp:revision>
  <dc:title>Classification-by-Backpropagation.pptx</dc:title>
</cp:coreProperties>
</file>