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Museo Moderno Medium" charset="1" panose="00000000000000000000"/>
      <p:regular r:id="rId20"/>
    </p:embeddedFont>
    <p:embeddedFont>
      <p:font typeface="Source Sans 3" charset="1" panose="020B0303030403020204"/>
      <p:regular r:id="rId21"/>
    </p:embeddedFont>
    <p:embeddedFont>
      <p:font typeface="Source Sans 3 Bold" charset="1" panose="020B0303030403020204"/>
      <p:regular r:id="rId23"/>
    </p:embeddedFont>
    <p:embeddedFont>
      <p:font typeface="Source Sans 3 Italics" charset="1" panose="020B0303030403090204"/>
      <p:regular r:id="rId26"/>
    </p:embeddedFont>
    <p:embeddedFont>
      <p:font typeface="Canva Sans Bold" charset="1" panose="020B0803030501040103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fonts/font26.fntdata" Type="http://schemas.openxmlformats.org/officeDocument/2006/relationships/font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sv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sv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32.png" Type="http://schemas.openxmlformats.org/officeDocument/2006/relationships/image"/><Relationship Id="rId4" Target="../media/image33.svg" Type="http://schemas.openxmlformats.org/officeDocument/2006/relationships/image"/><Relationship Id="rId5" Target="../media/image34.png" Type="http://schemas.openxmlformats.org/officeDocument/2006/relationships/image"/><Relationship Id="rId6" Target="../media/image35.svg" Type="http://schemas.openxmlformats.org/officeDocument/2006/relationships/image"/><Relationship Id="rId7" Target="../media/image36.png" Type="http://schemas.openxmlformats.org/officeDocument/2006/relationships/image"/><Relationship Id="rId8" Target="../media/image37.sv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svg" Type="http://schemas.openxmlformats.org/officeDocument/2006/relationships/image"/><Relationship Id="rId11" Target="../media/image48.png" Type="http://schemas.openxmlformats.org/officeDocument/2006/relationships/image"/><Relationship Id="rId12" Target="../media/image49.svg" Type="http://schemas.openxmlformats.org/officeDocument/2006/relationships/image"/><Relationship Id="rId13" Target="../media/image50.png" Type="http://schemas.openxmlformats.org/officeDocument/2006/relationships/image"/><Relationship Id="rId2" Target="../notesSlides/notesSlide10.xml" Type="http://schemas.openxmlformats.org/officeDocument/2006/relationships/notesSlide"/><Relationship Id="rId3" Target="../media/image40.png" Type="http://schemas.openxmlformats.org/officeDocument/2006/relationships/image"/><Relationship Id="rId4" Target="../media/image41.svg" Type="http://schemas.openxmlformats.org/officeDocument/2006/relationships/image"/><Relationship Id="rId5" Target="../media/image42.png" Type="http://schemas.openxmlformats.org/officeDocument/2006/relationships/image"/><Relationship Id="rId6" Target="../media/image43.svg" Type="http://schemas.openxmlformats.org/officeDocument/2006/relationships/image"/><Relationship Id="rId7" Target="../media/image44.png" Type="http://schemas.openxmlformats.org/officeDocument/2006/relationships/image"/><Relationship Id="rId8" Target="../media/image45.sv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0738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3166615"/>
            <a:ext cx="6492631" cy="803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 b="true">
                <a:solidFill>
                  <a:srgbClr val="124E73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Hierarchical Clustering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247112"/>
            <a:ext cx="9445523" cy="2080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4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Agglomerative vs Divisive Methods — An introduction to one of the most intuitive techniques in unsupervised machine learning, exploring how data points are organized into meaningful, nested groupings without predefined labels.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87476" y="6601416"/>
            <a:ext cx="2526659" cy="495005"/>
            <a:chOff x="0" y="0"/>
            <a:chExt cx="3368878" cy="66000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68802" cy="660019"/>
            </a:xfrm>
            <a:custGeom>
              <a:avLst/>
              <a:gdLst/>
              <a:ahLst/>
              <a:cxnLst/>
              <a:rect r="r" b="b" t="t" l="l"/>
              <a:pathLst>
                <a:path h="660019" w="3368802">
                  <a:moveTo>
                    <a:pt x="0" y="46101"/>
                  </a:moveTo>
                  <a:cubicBezTo>
                    <a:pt x="0" y="20574"/>
                    <a:pt x="20955" y="0"/>
                    <a:pt x="46609" y="0"/>
                  </a:cubicBezTo>
                  <a:lnTo>
                    <a:pt x="3322193" y="0"/>
                  </a:lnTo>
                  <a:lnTo>
                    <a:pt x="3322193" y="6350"/>
                  </a:lnTo>
                  <a:lnTo>
                    <a:pt x="3322193" y="0"/>
                  </a:lnTo>
                  <a:cubicBezTo>
                    <a:pt x="3347847" y="0"/>
                    <a:pt x="3368802" y="20574"/>
                    <a:pt x="3368802" y="46101"/>
                  </a:cubicBezTo>
                  <a:lnTo>
                    <a:pt x="3362452" y="46101"/>
                  </a:lnTo>
                  <a:lnTo>
                    <a:pt x="3368802" y="46101"/>
                  </a:lnTo>
                  <a:lnTo>
                    <a:pt x="3368802" y="613918"/>
                  </a:lnTo>
                  <a:lnTo>
                    <a:pt x="3362452" y="613918"/>
                  </a:lnTo>
                  <a:lnTo>
                    <a:pt x="3368802" y="613918"/>
                  </a:lnTo>
                  <a:cubicBezTo>
                    <a:pt x="3368802" y="639445"/>
                    <a:pt x="3347847" y="660019"/>
                    <a:pt x="3322193" y="660019"/>
                  </a:cubicBezTo>
                  <a:lnTo>
                    <a:pt x="3322193" y="653669"/>
                  </a:lnTo>
                  <a:lnTo>
                    <a:pt x="3322193" y="660019"/>
                  </a:lnTo>
                  <a:lnTo>
                    <a:pt x="46609" y="660019"/>
                  </a:lnTo>
                  <a:lnTo>
                    <a:pt x="46609" y="653669"/>
                  </a:lnTo>
                  <a:lnTo>
                    <a:pt x="46609" y="660019"/>
                  </a:lnTo>
                  <a:cubicBezTo>
                    <a:pt x="20955" y="660019"/>
                    <a:pt x="0" y="639445"/>
                    <a:pt x="0" y="613918"/>
                  </a:cubicBezTo>
                  <a:lnTo>
                    <a:pt x="0" y="46101"/>
                  </a:lnTo>
                  <a:lnTo>
                    <a:pt x="6350" y="46101"/>
                  </a:lnTo>
                  <a:lnTo>
                    <a:pt x="0" y="46101"/>
                  </a:lnTo>
                  <a:moveTo>
                    <a:pt x="12700" y="46101"/>
                  </a:moveTo>
                  <a:lnTo>
                    <a:pt x="12700" y="613918"/>
                  </a:lnTo>
                  <a:lnTo>
                    <a:pt x="6350" y="613918"/>
                  </a:lnTo>
                  <a:lnTo>
                    <a:pt x="12700" y="613918"/>
                  </a:lnTo>
                  <a:cubicBezTo>
                    <a:pt x="12700" y="632206"/>
                    <a:pt x="27813" y="647319"/>
                    <a:pt x="46609" y="647319"/>
                  </a:cubicBezTo>
                  <a:lnTo>
                    <a:pt x="3322193" y="647319"/>
                  </a:lnTo>
                  <a:cubicBezTo>
                    <a:pt x="3340989" y="647319"/>
                    <a:pt x="3356102" y="632333"/>
                    <a:pt x="3356102" y="613918"/>
                  </a:cubicBezTo>
                  <a:lnTo>
                    <a:pt x="3356102" y="46101"/>
                  </a:lnTo>
                  <a:cubicBezTo>
                    <a:pt x="3356102" y="27813"/>
                    <a:pt x="3340989" y="12700"/>
                    <a:pt x="3322193" y="12700"/>
                  </a:cubicBezTo>
                  <a:lnTo>
                    <a:pt x="46609" y="12700"/>
                  </a:lnTo>
                  <a:lnTo>
                    <a:pt x="46609" y="6350"/>
                  </a:lnTo>
                  <a:lnTo>
                    <a:pt x="46609" y="12700"/>
                  </a:lnTo>
                  <a:cubicBezTo>
                    <a:pt x="27813" y="12700"/>
                    <a:pt x="12700" y="27686"/>
                    <a:pt x="12700" y="46101"/>
                  </a:cubicBezTo>
                  <a:close/>
                </a:path>
              </a:pathLst>
            </a:custGeom>
            <a:solidFill>
              <a:srgbClr val="325F7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50591" y="6642497"/>
            <a:ext cx="2200427" cy="365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325F7B"/>
                </a:solidFill>
                <a:latin typeface="Source Sans 3"/>
                <a:ea typeface="Source Sans 3"/>
                <a:cs typeface="Source Sans 3"/>
                <a:sym typeface="Source Sans 3"/>
              </a:rPr>
              <a:t>UNSUPERVISED LEARNING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628577" y="6601416"/>
            <a:ext cx="1416691" cy="495005"/>
            <a:chOff x="0" y="0"/>
            <a:chExt cx="1888922" cy="66000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88998" cy="660019"/>
            </a:xfrm>
            <a:custGeom>
              <a:avLst/>
              <a:gdLst/>
              <a:ahLst/>
              <a:cxnLst/>
              <a:rect r="r" b="b" t="t" l="l"/>
              <a:pathLst>
                <a:path h="660019" w="1888998">
                  <a:moveTo>
                    <a:pt x="0" y="46101"/>
                  </a:moveTo>
                  <a:cubicBezTo>
                    <a:pt x="0" y="20574"/>
                    <a:pt x="20955" y="0"/>
                    <a:pt x="46609" y="0"/>
                  </a:cubicBezTo>
                  <a:lnTo>
                    <a:pt x="1842389" y="0"/>
                  </a:lnTo>
                  <a:lnTo>
                    <a:pt x="1842389" y="6350"/>
                  </a:lnTo>
                  <a:lnTo>
                    <a:pt x="1842389" y="0"/>
                  </a:lnTo>
                  <a:cubicBezTo>
                    <a:pt x="1868043" y="0"/>
                    <a:pt x="1888998" y="20574"/>
                    <a:pt x="1888998" y="46101"/>
                  </a:cubicBezTo>
                  <a:lnTo>
                    <a:pt x="1882648" y="46101"/>
                  </a:lnTo>
                  <a:lnTo>
                    <a:pt x="1888998" y="46101"/>
                  </a:lnTo>
                  <a:lnTo>
                    <a:pt x="1888998" y="613918"/>
                  </a:lnTo>
                  <a:lnTo>
                    <a:pt x="1882648" y="613918"/>
                  </a:lnTo>
                  <a:lnTo>
                    <a:pt x="1888998" y="613918"/>
                  </a:lnTo>
                  <a:cubicBezTo>
                    <a:pt x="1888998" y="639445"/>
                    <a:pt x="1868043" y="660019"/>
                    <a:pt x="1842389" y="660019"/>
                  </a:cubicBezTo>
                  <a:lnTo>
                    <a:pt x="1842389" y="653669"/>
                  </a:lnTo>
                  <a:lnTo>
                    <a:pt x="1842389" y="660019"/>
                  </a:lnTo>
                  <a:lnTo>
                    <a:pt x="46609" y="660019"/>
                  </a:lnTo>
                  <a:lnTo>
                    <a:pt x="46609" y="653669"/>
                  </a:lnTo>
                  <a:lnTo>
                    <a:pt x="46609" y="660019"/>
                  </a:lnTo>
                  <a:cubicBezTo>
                    <a:pt x="20955" y="660019"/>
                    <a:pt x="0" y="639445"/>
                    <a:pt x="0" y="613918"/>
                  </a:cubicBezTo>
                  <a:lnTo>
                    <a:pt x="0" y="46101"/>
                  </a:lnTo>
                  <a:lnTo>
                    <a:pt x="6350" y="46101"/>
                  </a:lnTo>
                  <a:lnTo>
                    <a:pt x="0" y="46101"/>
                  </a:lnTo>
                  <a:moveTo>
                    <a:pt x="12700" y="46101"/>
                  </a:moveTo>
                  <a:lnTo>
                    <a:pt x="12700" y="613918"/>
                  </a:lnTo>
                  <a:lnTo>
                    <a:pt x="6350" y="613918"/>
                  </a:lnTo>
                  <a:lnTo>
                    <a:pt x="12700" y="613918"/>
                  </a:lnTo>
                  <a:cubicBezTo>
                    <a:pt x="12700" y="632206"/>
                    <a:pt x="27813" y="647319"/>
                    <a:pt x="46609" y="647319"/>
                  </a:cubicBezTo>
                  <a:lnTo>
                    <a:pt x="1842389" y="647319"/>
                  </a:lnTo>
                  <a:cubicBezTo>
                    <a:pt x="1861185" y="647319"/>
                    <a:pt x="1876298" y="632333"/>
                    <a:pt x="1876298" y="613918"/>
                  </a:cubicBezTo>
                  <a:lnTo>
                    <a:pt x="1876298" y="46101"/>
                  </a:lnTo>
                  <a:cubicBezTo>
                    <a:pt x="1876298" y="27813"/>
                    <a:pt x="1861185" y="12700"/>
                    <a:pt x="1842389" y="12700"/>
                  </a:cubicBezTo>
                  <a:lnTo>
                    <a:pt x="46609" y="12700"/>
                  </a:lnTo>
                  <a:lnTo>
                    <a:pt x="46609" y="6350"/>
                  </a:lnTo>
                  <a:lnTo>
                    <a:pt x="46609" y="12700"/>
                  </a:lnTo>
                  <a:cubicBezTo>
                    <a:pt x="27813" y="12700"/>
                    <a:pt x="12700" y="27686"/>
                    <a:pt x="12700" y="46101"/>
                  </a:cubicBezTo>
                  <a:close/>
                </a:path>
              </a:pathLst>
            </a:custGeom>
            <a:solidFill>
              <a:srgbClr val="325F7B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3791693" y="6632972"/>
            <a:ext cx="1090460" cy="374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1562">
                <a:solidFill>
                  <a:srgbClr val="325F7B"/>
                </a:solidFill>
                <a:latin typeface="Source Sans 3"/>
                <a:ea typeface="Source Sans 3"/>
                <a:cs typeface="Source Sans 3"/>
                <a:sym typeface="Source Sans 3"/>
              </a:rPr>
              <a:t>DATA MINING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159721" y="6601416"/>
            <a:ext cx="2302669" cy="495005"/>
            <a:chOff x="0" y="0"/>
            <a:chExt cx="3070225" cy="66000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070098" cy="660019"/>
            </a:xfrm>
            <a:custGeom>
              <a:avLst/>
              <a:gdLst/>
              <a:ahLst/>
              <a:cxnLst/>
              <a:rect r="r" b="b" t="t" l="l"/>
              <a:pathLst>
                <a:path h="660019" w="3070098">
                  <a:moveTo>
                    <a:pt x="0" y="46101"/>
                  </a:moveTo>
                  <a:cubicBezTo>
                    <a:pt x="0" y="20574"/>
                    <a:pt x="20955" y="0"/>
                    <a:pt x="46609" y="0"/>
                  </a:cubicBezTo>
                  <a:lnTo>
                    <a:pt x="3023489" y="0"/>
                  </a:lnTo>
                  <a:lnTo>
                    <a:pt x="3023489" y="6350"/>
                  </a:lnTo>
                  <a:lnTo>
                    <a:pt x="3023489" y="0"/>
                  </a:lnTo>
                  <a:cubicBezTo>
                    <a:pt x="3049143" y="0"/>
                    <a:pt x="3070098" y="20574"/>
                    <a:pt x="3070098" y="46101"/>
                  </a:cubicBezTo>
                  <a:lnTo>
                    <a:pt x="3063748" y="46101"/>
                  </a:lnTo>
                  <a:lnTo>
                    <a:pt x="3070098" y="46101"/>
                  </a:lnTo>
                  <a:lnTo>
                    <a:pt x="3070098" y="613918"/>
                  </a:lnTo>
                  <a:lnTo>
                    <a:pt x="3063748" y="613918"/>
                  </a:lnTo>
                  <a:lnTo>
                    <a:pt x="3070098" y="613918"/>
                  </a:lnTo>
                  <a:cubicBezTo>
                    <a:pt x="3070098" y="639445"/>
                    <a:pt x="3049143" y="660019"/>
                    <a:pt x="3023489" y="660019"/>
                  </a:cubicBezTo>
                  <a:lnTo>
                    <a:pt x="3023489" y="653669"/>
                  </a:lnTo>
                  <a:lnTo>
                    <a:pt x="3023489" y="660019"/>
                  </a:lnTo>
                  <a:lnTo>
                    <a:pt x="46609" y="660019"/>
                  </a:lnTo>
                  <a:lnTo>
                    <a:pt x="46609" y="653669"/>
                  </a:lnTo>
                  <a:lnTo>
                    <a:pt x="46609" y="660019"/>
                  </a:lnTo>
                  <a:cubicBezTo>
                    <a:pt x="20955" y="660019"/>
                    <a:pt x="0" y="639445"/>
                    <a:pt x="0" y="613918"/>
                  </a:cubicBezTo>
                  <a:lnTo>
                    <a:pt x="0" y="46101"/>
                  </a:lnTo>
                  <a:lnTo>
                    <a:pt x="6350" y="46101"/>
                  </a:lnTo>
                  <a:lnTo>
                    <a:pt x="0" y="46101"/>
                  </a:lnTo>
                  <a:moveTo>
                    <a:pt x="12700" y="46101"/>
                  </a:moveTo>
                  <a:lnTo>
                    <a:pt x="12700" y="613918"/>
                  </a:lnTo>
                  <a:lnTo>
                    <a:pt x="6350" y="613918"/>
                  </a:lnTo>
                  <a:lnTo>
                    <a:pt x="12700" y="613918"/>
                  </a:lnTo>
                  <a:cubicBezTo>
                    <a:pt x="12700" y="632206"/>
                    <a:pt x="27813" y="647319"/>
                    <a:pt x="46609" y="647319"/>
                  </a:cubicBezTo>
                  <a:lnTo>
                    <a:pt x="3023489" y="647319"/>
                  </a:lnTo>
                  <a:cubicBezTo>
                    <a:pt x="3042285" y="647319"/>
                    <a:pt x="3057398" y="632333"/>
                    <a:pt x="3057398" y="613918"/>
                  </a:cubicBezTo>
                  <a:lnTo>
                    <a:pt x="3057398" y="46101"/>
                  </a:lnTo>
                  <a:cubicBezTo>
                    <a:pt x="3057398" y="27813"/>
                    <a:pt x="3042285" y="12700"/>
                    <a:pt x="3023489" y="12700"/>
                  </a:cubicBezTo>
                  <a:lnTo>
                    <a:pt x="46609" y="12700"/>
                  </a:lnTo>
                  <a:lnTo>
                    <a:pt x="46609" y="6350"/>
                  </a:lnTo>
                  <a:lnTo>
                    <a:pt x="46609" y="12700"/>
                  </a:lnTo>
                  <a:cubicBezTo>
                    <a:pt x="27813" y="12700"/>
                    <a:pt x="12700" y="27686"/>
                    <a:pt x="12700" y="46101"/>
                  </a:cubicBezTo>
                  <a:close/>
                </a:path>
              </a:pathLst>
            </a:custGeom>
            <a:solidFill>
              <a:srgbClr val="325F7B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5322837" y="6642497"/>
            <a:ext cx="1976438" cy="365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325F7B"/>
                </a:solidFill>
                <a:latin typeface="Source Sans 3"/>
                <a:ea typeface="Source Sans 3"/>
                <a:cs typeface="Source Sans 3"/>
                <a:sym typeface="Source Sans 3"/>
              </a:rPr>
              <a:t>PATTERN RECOGNITION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0738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655882"/>
            <a:ext cx="9425435" cy="803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 b="true">
                <a:solidFill>
                  <a:srgbClr val="124E73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What Is Hierarchical Clustering?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1736379"/>
            <a:ext cx="9445523" cy="2576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4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Hierarchical clustering is an </a:t>
            </a:r>
            <a:r>
              <a:rPr lang="en-US" sz="2437" b="true">
                <a:solidFill>
                  <a:srgbClr val="2B415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unsupervised machine learning technique</a:t>
            </a:r>
            <a:r>
              <a:rPr lang="en-US" sz="24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that groups data points based on their similarity or distance — without requiring any predefined number of clusters. Unlike k-means, it builds a complete </a:t>
            </a:r>
            <a:r>
              <a:rPr lang="en-US" sz="2437" b="true">
                <a:solidFill>
                  <a:srgbClr val="2B415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hierarchy of clusters</a:t>
            </a:r>
            <a:r>
              <a:rPr lang="en-US" sz="24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, from individual points all the way up to a single group containing everything.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238" y="4591641"/>
            <a:ext cx="4598784" cy="2629491"/>
            <a:chOff x="0" y="0"/>
            <a:chExt cx="6131712" cy="350598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131814" cy="3506089"/>
            </a:xfrm>
            <a:custGeom>
              <a:avLst/>
              <a:gdLst/>
              <a:ahLst/>
              <a:cxnLst/>
              <a:rect r="r" b="b" t="t" l="l"/>
              <a:pathLst>
                <a:path h="3506089" w="6131814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6082157" y="0"/>
                  </a:lnTo>
                  <a:cubicBezTo>
                    <a:pt x="6109589" y="0"/>
                    <a:pt x="6131814" y="22225"/>
                    <a:pt x="6131814" y="49657"/>
                  </a:cubicBezTo>
                  <a:lnTo>
                    <a:pt x="6131814" y="3456432"/>
                  </a:lnTo>
                  <a:cubicBezTo>
                    <a:pt x="6131814" y="3483864"/>
                    <a:pt x="6109589" y="3506089"/>
                    <a:pt x="6082157" y="3506089"/>
                  </a:cubicBezTo>
                  <a:lnTo>
                    <a:pt x="49657" y="3506089"/>
                  </a:lnTo>
                  <a:cubicBezTo>
                    <a:pt x="22225" y="3506089"/>
                    <a:pt x="0" y="3483864"/>
                    <a:pt x="0" y="3456432"/>
                  </a:cubicBezTo>
                  <a:close/>
                </a:path>
              </a:pathLst>
            </a:custGeom>
            <a:solidFill>
              <a:srgbClr val="F3EEE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40184" y="4744345"/>
            <a:ext cx="4102894" cy="591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4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No Predefined 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40184" y="5389359"/>
            <a:ext cx="4102894" cy="1583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4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You don't need to decide how many clusters exist before running the algorithm.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838977" y="4591641"/>
            <a:ext cx="4598784" cy="2629491"/>
            <a:chOff x="0" y="0"/>
            <a:chExt cx="6131712" cy="350598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131814" cy="3506089"/>
            </a:xfrm>
            <a:custGeom>
              <a:avLst/>
              <a:gdLst/>
              <a:ahLst/>
              <a:cxnLst/>
              <a:rect r="r" b="b" t="t" l="l"/>
              <a:pathLst>
                <a:path h="3506089" w="6131814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6082157" y="0"/>
                  </a:lnTo>
                  <a:cubicBezTo>
                    <a:pt x="6109589" y="0"/>
                    <a:pt x="6131814" y="22225"/>
                    <a:pt x="6131814" y="49657"/>
                  </a:cubicBezTo>
                  <a:lnTo>
                    <a:pt x="6131814" y="3456432"/>
                  </a:lnTo>
                  <a:cubicBezTo>
                    <a:pt x="6131814" y="3483864"/>
                    <a:pt x="6109589" y="3506089"/>
                    <a:pt x="6082157" y="3506089"/>
                  </a:cubicBezTo>
                  <a:lnTo>
                    <a:pt x="49657" y="3506089"/>
                  </a:lnTo>
                  <a:cubicBezTo>
                    <a:pt x="22225" y="3506089"/>
                    <a:pt x="0" y="3483864"/>
                    <a:pt x="0" y="3456432"/>
                  </a:cubicBezTo>
                  <a:close/>
                </a:path>
              </a:pathLst>
            </a:custGeom>
            <a:solidFill>
              <a:srgbClr val="F3EEE3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086923" y="4744345"/>
            <a:ext cx="4102894" cy="591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4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Tree Structure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086923" y="5389359"/>
            <a:ext cx="4102894" cy="1583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4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Output is a nested hierarchy, visualized elegantly using a dendrogram.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92238" y="7469086"/>
            <a:ext cx="9445523" cy="2133305"/>
            <a:chOff x="0" y="0"/>
            <a:chExt cx="12594031" cy="284440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594082" cy="2844419"/>
            </a:xfrm>
            <a:custGeom>
              <a:avLst/>
              <a:gdLst/>
              <a:ahLst/>
              <a:cxnLst/>
              <a:rect r="r" b="b" t="t" l="l"/>
              <a:pathLst>
                <a:path h="2844419" w="12594082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12544425" y="0"/>
                  </a:lnTo>
                  <a:cubicBezTo>
                    <a:pt x="12571857" y="0"/>
                    <a:pt x="12594082" y="22225"/>
                    <a:pt x="12594082" y="49657"/>
                  </a:cubicBezTo>
                  <a:lnTo>
                    <a:pt x="12594082" y="2794762"/>
                  </a:lnTo>
                  <a:cubicBezTo>
                    <a:pt x="12594082" y="2822194"/>
                    <a:pt x="12571857" y="2844419"/>
                    <a:pt x="12544425" y="2844419"/>
                  </a:cubicBezTo>
                  <a:lnTo>
                    <a:pt x="49657" y="2844419"/>
                  </a:lnTo>
                  <a:cubicBezTo>
                    <a:pt x="22225" y="2844419"/>
                    <a:pt x="0" y="2822194"/>
                    <a:pt x="0" y="2794762"/>
                  </a:cubicBezTo>
                  <a:close/>
                </a:path>
              </a:pathLst>
            </a:custGeom>
            <a:solidFill>
              <a:srgbClr val="F3EEE3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40184" y="7621791"/>
            <a:ext cx="8949633" cy="591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4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Exploratory Power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0184" y="8266805"/>
            <a:ext cx="8949633" cy="1087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4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Ideal for data mining, pattern recognition, and understanding data structure.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0738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36459" y="1478461"/>
            <a:ext cx="15815072" cy="419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9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Key Concepts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6459" y="2023320"/>
            <a:ext cx="15815072" cy="419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9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Before diving into the algorithms, it's essential to understand the foundational vocabulary that underpins hierarchical clustering.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91956" y="2625328"/>
            <a:ext cx="7951889" cy="6271917"/>
            <a:chOff x="0" y="0"/>
            <a:chExt cx="10602519" cy="83625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02468" cy="8362569"/>
            </a:xfrm>
            <a:custGeom>
              <a:avLst/>
              <a:gdLst/>
              <a:ahLst/>
              <a:cxnLst/>
              <a:rect r="r" b="b" t="t" l="l"/>
              <a:pathLst>
                <a:path h="8362569" w="10602468">
                  <a:moveTo>
                    <a:pt x="0" y="40132"/>
                  </a:moveTo>
                  <a:cubicBezTo>
                    <a:pt x="0" y="18034"/>
                    <a:pt x="18034" y="0"/>
                    <a:pt x="40132" y="0"/>
                  </a:cubicBezTo>
                  <a:lnTo>
                    <a:pt x="10562336" y="0"/>
                  </a:lnTo>
                  <a:cubicBezTo>
                    <a:pt x="10584561" y="0"/>
                    <a:pt x="10602468" y="18034"/>
                    <a:pt x="10602468" y="40132"/>
                  </a:cubicBezTo>
                  <a:lnTo>
                    <a:pt x="10602468" y="8322437"/>
                  </a:lnTo>
                  <a:cubicBezTo>
                    <a:pt x="10602468" y="8344662"/>
                    <a:pt x="10584434" y="8362569"/>
                    <a:pt x="10562336" y="8362569"/>
                  </a:cubicBezTo>
                  <a:lnTo>
                    <a:pt x="40132" y="8362569"/>
                  </a:lnTo>
                  <a:cubicBezTo>
                    <a:pt x="17907" y="8362569"/>
                    <a:pt x="0" y="8344535"/>
                    <a:pt x="0" y="8322437"/>
                  </a:cubicBezTo>
                  <a:close/>
                </a:path>
              </a:pathLst>
            </a:custGeom>
            <a:solidFill>
              <a:srgbClr val="C6C9DC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92428" y="2714034"/>
            <a:ext cx="7550944" cy="419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9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Core Definitions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78141" y="3301756"/>
            <a:ext cx="7579519" cy="1720158"/>
            <a:chOff x="0" y="0"/>
            <a:chExt cx="10106025" cy="22935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9050" y="19050"/>
              <a:ext cx="10067925" cy="2255520"/>
            </a:xfrm>
            <a:custGeom>
              <a:avLst/>
              <a:gdLst/>
              <a:ahLst/>
              <a:cxnLst/>
              <a:rect r="r" b="b" t="t" l="l"/>
              <a:pathLst>
                <a:path h="2255520" w="10067925">
                  <a:moveTo>
                    <a:pt x="0" y="182880"/>
                  </a:moveTo>
                  <a:cubicBezTo>
                    <a:pt x="0" y="81915"/>
                    <a:pt x="82931" y="0"/>
                    <a:pt x="185293" y="0"/>
                  </a:cubicBezTo>
                  <a:lnTo>
                    <a:pt x="9882632" y="0"/>
                  </a:lnTo>
                  <a:cubicBezTo>
                    <a:pt x="9984994" y="0"/>
                    <a:pt x="10067925" y="81915"/>
                    <a:pt x="10067925" y="182880"/>
                  </a:cubicBezTo>
                  <a:lnTo>
                    <a:pt x="10067925" y="2072640"/>
                  </a:lnTo>
                  <a:cubicBezTo>
                    <a:pt x="10067925" y="2173605"/>
                    <a:pt x="9984994" y="2255520"/>
                    <a:pt x="9882632" y="2255520"/>
                  </a:cubicBezTo>
                  <a:lnTo>
                    <a:pt x="185293" y="2255520"/>
                  </a:lnTo>
                  <a:cubicBezTo>
                    <a:pt x="82931" y="2255520"/>
                    <a:pt x="0" y="2173605"/>
                    <a:pt x="0" y="2072640"/>
                  </a:cubicBezTo>
                  <a:close/>
                </a:path>
              </a:pathLst>
            </a:custGeom>
            <a:solidFill>
              <a:srgbClr val="C6C9DC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106025" cy="2293620"/>
            </a:xfrm>
            <a:custGeom>
              <a:avLst/>
              <a:gdLst/>
              <a:ahLst/>
              <a:cxnLst/>
              <a:rect r="r" b="b" t="t" l="l"/>
              <a:pathLst>
                <a:path h="2293620" w="10106025">
                  <a:moveTo>
                    <a:pt x="0" y="201930"/>
                  </a:moveTo>
                  <a:cubicBezTo>
                    <a:pt x="0" y="90170"/>
                    <a:pt x="91694" y="0"/>
                    <a:pt x="204343" y="0"/>
                  </a:cubicBezTo>
                  <a:lnTo>
                    <a:pt x="9901682" y="0"/>
                  </a:lnTo>
                  <a:lnTo>
                    <a:pt x="9901682" y="19050"/>
                  </a:lnTo>
                  <a:lnTo>
                    <a:pt x="9901682" y="0"/>
                  </a:lnTo>
                  <a:cubicBezTo>
                    <a:pt x="10014331" y="0"/>
                    <a:pt x="10106025" y="90170"/>
                    <a:pt x="10106025" y="201930"/>
                  </a:cubicBezTo>
                  <a:lnTo>
                    <a:pt x="10086975" y="201930"/>
                  </a:lnTo>
                  <a:lnTo>
                    <a:pt x="10106025" y="201930"/>
                  </a:lnTo>
                  <a:lnTo>
                    <a:pt x="10106025" y="2091690"/>
                  </a:lnTo>
                  <a:lnTo>
                    <a:pt x="10086975" y="2091690"/>
                  </a:lnTo>
                  <a:lnTo>
                    <a:pt x="10106025" y="2091690"/>
                  </a:lnTo>
                  <a:cubicBezTo>
                    <a:pt x="10106025" y="2203450"/>
                    <a:pt x="10014331" y="2293620"/>
                    <a:pt x="9901682" y="2293620"/>
                  </a:cubicBezTo>
                  <a:lnTo>
                    <a:pt x="9901682" y="2274570"/>
                  </a:lnTo>
                  <a:lnTo>
                    <a:pt x="9901682" y="2293620"/>
                  </a:lnTo>
                  <a:lnTo>
                    <a:pt x="204343" y="2293620"/>
                  </a:lnTo>
                  <a:lnTo>
                    <a:pt x="204343" y="2274570"/>
                  </a:lnTo>
                  <a:lnTo>
                    <a:pt x="204343" y="2293620"/>
                  </a:lnTo>
                  <a:cubicBezTo>
                    <a:pt x="91694" y="2293620"/>
                    <a:pt x="0" y="2203450"/>
                    <a:pt x="0" y="2091690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091690"/>
                  </a:lnTo>
                  <a:lnTo>
                    <a:pt x="19050" y="2091690"/>
                  </a:lnTo>
                  <a:lnTo>
                    <a:pt x="38100" y="2091690"/>
                  </a:lnTo>
                  <a:cubicBezTo>
                    <a:pt x="38100" y="2181987"/>
                    <a:pt x="112268" y="2255520"/>
                    <a:pt x="204343" y="2255520"/>
                  </a:cubicBezTo>
                  <a:lnTo>
                    <a:pt x="9901682" y="2255520"/>
                  </a:lnTo>
                  <a:cubicBezTo>
                    <a:pt x="9993757" y="2255520"/>
                    <a:pt x="10067925" y="2181987"/>
                    <a:pt x="10067925" y="2091690"/>
                  </a:cubicBezTo>
                  <a:lnTo>
                    <a:pt x="10067925" y="201930"/>
                  </a:lnTo>
                  <a:cubicBezTo>
                    <a:pt x="10067925" y="111633"/>
                    <a:pt x="9993757" y="38100"/>
                    <a:pt x="9901682" y="38100"/>
                  </a:cubicBezTo>
                  <a:lnTo>
                    <a:pt x="204343" y="38100"/>
                  </a:lnTo>
                  <a:lnTo>
                    <a:pt x="204343" y="19050"/>
                  </a:lnTo>
                  <a:lnTo>
                    <a:pt x="204343" y="38100"/>
                  </a:lnTo>
                  <a:cubicBezTo>
                    <a:pt x="112268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D9D4C9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63853" y="3316043"/>
            <a:ext cx="114300" cy="1691583"/>
            <a:chOff x="0" y="0"/>
            <a:chExt cx="152400" cy="22554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2400" cy="2255520"/>
            </a:xfrm>
            <a:custGeom>
              <a:avLst/>
              <a:gdLst/>
              <a:ahLst/>
              <a:cxnLst/>
              <a:rect r="r" b="b" t="t" l="l"/>
              <a:pathLst>
                <a:path h="2255520" w="152400">
                  <a:moveTo>
                    <a:pt x="0" y="40132"/>
                  </a:moveTo>
                  <a:cubicBezTo>
                    <a:pt x="0" y="17907"/>
                    <a:pt x="17907" y="0"/>
                    <a:pt x="40132" y="0"/>
                  </a:cubicBezTo>
                  <a:lnTo>
                    <a:pt x="112268" y="0"/>
                  </a:lnTo>
                  <a:cubicBezTo>
                    <a:pt x="134493" y="0"/>
                    <a:pt x="152400" y="17907"/>
                    <a:pt x="152400" y="40132"/>
                  </a:cubicBezTo>
                  <a:lnTo>
                    <a:pt x="152400" y="2215388"/>
                  </a:lnTo>
                  <a:cubicBezTo>
                    <a:pt x="152400" y="2237486"/>
                    <a:pt x="134493" y="2255520"/>
                    <a:pt x="112268" y="2255520"/>
                  </a:cubicBezTo>
                  <a:lnTo>
                    <a:pt x="40132" y="2255520"/>
                  </a:lnTo>
                  <a:cubicBezTo>
                    <a:pt x="18034" y="2255520"/>
                    <a:pt x="0" y="2237613"/>
                    <a:pt x="0" y="2215388"/>
                  </a:cubicBezTo>
                  <a:close/>
                </a:path>
              </a:pathLst>
            </a:custGeom>
            <a:solidFill>
              <a:srgbClr val="325F7B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07191" y="3487941"/>
            <a:ext cx="7007123" cy="419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9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Cluster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07191" y="3996328"/>
            <a:ext cx="7007123" cy="782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9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A group of data points that are more similar to each other than to points outside the group.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78141" y="5155406"/>
            <a:ext cx="7579519" cy="1720158"/>
            <a:chOff x="0" y="0"/>
            <a:chExt cx="10106025" cy="229354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9050" y="19050"/>
              <a:ext cx="10067925" cy="2255520"/>
            </a:xfrm>
            <a:custGeom>
              <a:avLst/>
              <a:gdLst/>
              <a:ahLst/>
              <a:cxnLst/>
              <a:rect r="r" b="b" t="t" l="l"/>
              <a:pathLst>
                <a:path h="2255520" w="10067925">
                  <a:moveTo>
                    <a:pt x="0" y="182880"/>
                  </a:moveTo>
                  <a:cubicBezTo>
                    <a:pt x="0" y="81915"/>
                    <a:pt x="82931" y="0"/>
                    <a:pt x="185293" y="0"/>
                  </a:cubicBezTo>
                  <a:lnTo>
                    <a:pt x="9882632" y="0"/>
                  </a:lnTo>
                  <a:cubicBezTo>
                    <a:pt x="9984994" y="0"/>
                    <a:pt x="10067925" y="81915"/>
                    <a:pt x="10067925" y="182880"/>
                  </a:cubicBezTo>
                  <a:lnTo>
                    <a:pt x="10067925" y="2072640"/>
                  </a:lnTo>
                  <a:cubicBezTo>
                    <a:pt x="10067925" y="2173605"/>
                    <a:pt x="9984994" y="2255520"/>
                    <a:pt x="9882632" y="2255520"/>
                  </a:cubicBezTo>
                  <a:lnTo>
                    <a:pt x="185293" y="2255520"/>
                  </a:lnTo>
                  <a:cubicBezTo>
                    <a:pt x="82931" y="2255520"/>
                    <a:pt x="0" y="2173605"/>
                    <a:pt x="0" y="2072640"/>
                  </a:cubicBezTo>
                  <a:close/>
                </a:path>
              </a:pathLst>
            </a:custGeom>
            <a:solidFill>
              <a:srgbClr val="C6C9DC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106025" cy="2293620"/>
            </a:xfrm>
            <a:custGeom>
              <a:avLst/>
              <a:gdLst/>
              <a:ahLst/>
              <a:cxnLst/>
              <a:rect r="r" b="b" t="t" l="l"/>
              <a:pathLst>
                <a:path h="2293620" w="10106025">
                  <a:moveTo>
                    <a:pt x="0" y="201930"/>
                  </a:moveTo>
                  <a:cubicBezTo>
                    <a:pt x="0" y="90170"/>
                    <a:pt x="91694" y="0"/>
                    <a:pt x="204343" y="0"/>
                  </a:cubicBezTo>
                  <a:lnTo>
                    <a:pt x="9901682" y="0"/>
                  </a:lnTo>
                  <a:lnTo>
                    <a:pt x="9901682" y="19050"/>
                  </a:lnTo>
                  <a:lnTo>
                    <a:pt x="9901682" y="0"/>
                  </a:lnTo>
                  <a:cubicBezTo>
                    <a:pt x="10014331" y="0"/>
                    <a:pt x="10106025" y="90170"/>
                    <a:pt x="10106025" y="201930"/>
                  </a:cubicBezTo>
                  <a:lnTo>
                    <a:pt x="10086975" y="201930"/>
                  </a:lnTo>
                  <a:lnTo>
                    <a:pt x="10106025" y="201930"/>
                  </a:lnTo>
                  <a:lnTo>
                    <a:pt x="10106025" y="2091690"/>
                  </a:lnTo>
                  <a:lnTo>
                    <a:pt x="10086975" y="2091690"/>
                  </a:lnTo>
                  <a:lnTo>
                    <a:pt x="10106025" y="2091690"/>
                  </a:lnTo>
                  <a:cubicBezTo>
                    <a:pt x="10106025" y="2203450"/>
                    <a:pt x="10014331" y="2293620"/>
                    <a:pt x="9901682" y="2293620"/>
                  </a:cubicBezTo>
                  <a:lnTo>
                    <a:pt x="9901682" y="2274570"/>
                  </a:lnTo>
                  <a:lnTo>
                    <a:pt x="9901682" y="2293620"/>
                  </a:lnTo>
                  <a:lnTo>
                    <a:pt x="204343" y="2293620"/>
                  </a:lnTo>
                  <a:lnTo>
                    <a:pt x="204343" y="2274570"/>
                  </a:lnTo>
                  <a:lnTo>
                    <a:pt x="204343" y="2293620"/>
                  </a:lnTo>
                  <a:cubicBezTo>
                    <a:pt x="91694" y="2293620"/>
                    <a:pt x="0" y="2203450"/>
                    <a:pt x="0" y="2091690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091690"/>
                  </a:lnTo>
                  <a:lnTo>
                    <a:pt x="19050" y="2091690"/>
                  </a:lnTo>
                  <a:lnTo>
                    <a:pt x="38100" y="2091690"/>
                  </a:lnTo>
                  <a:cubicBezTo>
                    <a:pt x="38100" y="2181987"/>
                    <a:pt x="112268" y="2255520"/>
                    <a:pt x="204343" y="2255520"/>
                  </a:cubicBezTo>
                  <a:lnTo>
                    <a:pt x="9901682" y="2255520"/>
                  </a:lnTo>
                  <a:cubicBezTo>
                    <a:pt x="9993757" y="2255520"/>
                    <a:pt x="10067925" y="2181987"/>
                    <a:pt x="10067925" y="2091690"/>
                  </a:cubicBezTo>
                  <a:lnTo>
                    <a:pt x="10067925" y="201930"/>
                  </a:lnTo>
                  <a:cubicBezTo>
                    <a:pt x="10067925" y="111633"/>
                    <a:pt x="9993757" y="38100"/>
                    <a:pt x="9901682" y="38100"/>
                  </a:cubicBezTo>
                  <a:lnTo>
                    <a:pt x="204343" y="38100"/>
                  </a:lnTo>
                  <a:lnTo>
                    <a:pt x="204343" y="19050"/>
                  </a:lnTo>
                  <a:lnTo>
                    <a:pt x="204343" y="38100"/>
                  </a:lnTo>
                  <a:cubicBezTo>
                    <a:pt x="112268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D9D4C9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63853" y="5169694"/>
            <a:ext cx="114300" cy="1691583"/>
            <a:chOff x="0" y="0"/>
            <a:chExt cx="152400" cy="225544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2400" cy="2255520"/>
            </a:xfrm>
            <a:custGeom>
              <a:avLst/>
              <a:gdLst/>
              <a:ahLst/>
              <a:cxnLst/>
              <a:rect r="r" b="b" t="t" l="l"/>
              <a:pathLst>
                <a:path h="2255520" w="152400">
                  <a:moveTo>
                    <a:pt x="0" y="40132"/>
                  </a:moveTo>
                  <a:cubicBezTo>
                    <a:pt x="0" y="17907"/>
                    <a:pt x="17907" y="0"/>
                    <a:pt x="40132" y="0"/>
                  </a:cubicBezTo>
                  <a:lnTo>
                    <a:pt x="112268" y="0"/>
                  </a:lnTo>
                  <a:cubicBezTo>
                    <a:pt x="134493" y="0"/>
                    <a:pt x="152400" y="17907"/>
                    <a:pt x="152400" y="40132"/>
                  </a:cubicBezTo>
                  <a:lnTo>
                    <a:pt x="152400" y="2215388"/>
                  </a:lnTo>
                  <a:cubicBezTo>
                    <a:pt x="152400" y="2237486"/>
                    <a:pt x="134493" y="2255520"/>
                    <a:pt x="112268" y="2255520"/>
                  </a:cubicBezTo>
                  <a:lnTo>
                    <a:pt x="40132" y="2255520"/>
                  </a:lnTo>
                  <a:cubicBezTo>
                    <a:pt x="18034" y="2255520"/>
                    <a:pt x="0" y="2237613"/>
                    <a:pt x="0" y="2215388"/>
                  </a:cubicBezTo>
                  <a:close/>
                </a:path>
              </a:pathLst>
            </a:custGeom>
            <a:solidFill>
              <a:srgbClr val="325F7B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607191" y="5341591"/>
            <a:ext cx="7007123" cy="419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9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Similarity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07191" y="5849988"/>
            <a:ext cx="7007123" cy="782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9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A measure of how close or alike two data points are in feature space.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78141" y="7009057"/>
            <a:ext cx="7579519" cy="1720158"/>
            <a:chOff x="0" y="0"/>
            <a:chExt cx="10106025" cy="229354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9050" y="19050"/>
              <a:ext cx="10067925" cy="2255520"/>
            </a:xfrm>
            <a:custGeom>
              <a:avLst/>
              <a:gdLst/>
              <a:ahLst/>
              <a:cxnLst/>
              <a:rect r="r" b="b" t="t" l="l"/>
              <a:pathLst>
                <a:path h="2255520" w="10067925">
                  <a:moveTo>
                    <a:pt x="0" y="182880"/>
                  </a:moveTo>
                  <a:cubicBezTo>
                    <a:pt x="0" y="81915"/>
                    <a:pt x="82931" y="0"/>
                    <a:pt x="185293" y="0"/>
                  </a:cubicBezTo>
                  <a:lnTo>
                    <a:pt x="9882632" y="0"/>
                  </a:lnTo>
                  <a:cubicBezTo>
                    <a:pt x="9984994" y="0"/>
                    <a:pt x="10067925" y="81915"/>
                    <a:pt x="10067925" y="182880"/>
                  </a:cubicBezTo>
                  <a:lnTo>
                    <a:pt x="10067925" y="2072640"/>
                  </a:lnTo>
                  <a:cubicBezTo>
                    <a:pt x="10067925" y="2173605"/>
                    <a:pt x="9984994" y="2255520"/>
                    <a:pt x="9882632" y="2255520"/>
                  </a:cubicBezTo>
                  <a:lnTo>
                    <a:pt x="185293" y="2255520"/>
                  </a:lnTo>
                  <a:cubicBezTo>
                    <a:pt x="82931" y="2255520"/>
                    <a:pt x="0" y="2173605"/>
                    <a:pt x="0" y="2072640"/>
                  </a:cubicBezTo>
                  <a:close/>
                </a:path>
              </a:pathLst>
            </a:custGeom>
            <a:solidFill>
              <a:srgbClr val="C6C9DC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106025" cy="2293620"/>
            </a:xfrm>
            <a:custGeom>
              <a:avLst/>
              <a:gdLst/>
              <a:ahLst/>
              <a:cxnLst/>
              <a:rect r="r" b="b" t="t" l="l"/>
              <a:pathLst>
                <a:path h="2293620" w="10106025">
                  <a:moveTo>
                    <a:pt x="0" y="201930"/>
                  </a:moveTo>
                  <a:cubicBezTo>
                    <a:pt x="0" y="90170"/>
                    <a:pt x="91694" y="0"/>
                    <a:pt x="204343" y="0"/>
                  </a:cubicBezTo>
                  <a:lnTo>
                    <a:pt x="9901682" y="0"/>
                  </a:lnTo>
                  <a:lnTo>
                    <a:pt x="9901682" y="19050"/>
                  </a:lnTo>
                  <a:lnTo>
                    <a:pt x="9901682" y="0"/>
                  </a:lnTo>
                  <a:cubicBezTo>
                    <a:pt x="10014331" y="0"/>
                    <a:pt x="10106025" y="90170"/>
                    <a:pt x="10106025" y="201930"/>
                  </a:cubicBezTo>
                  <a:lnTo>
                    <a:pt x="10086975" y="201930"/>
                  </a:lnTo>
                  <a:lnTo>
                    <a:pt x="10106025" y="201930"/>
                  </a:lnTo>
                  <a:lnTo>
                    <a:pt x="10106025" y="2091690"/>
                  </a:lnTo>
                  <a:lnTo>
                    <a:pt x="10086975" y="2091690"/>
                  </a:lnTo>
                  <a:lnTo>
                    <a:pt x="10106025" y="2091690"/>
                  </a:lnTo>
                  <a:cubicBezTo>
                    <a:pt x="10106025" y="2203450"/>
                    <a:pt x="10014331" y="2293620"/>
                    <a:pt x="9901682" y="2293620"/>
                  </a:cubicBezTo>
                  <a:lnTo>
                    <a:pt x="9901682" y="2274570"/>
                  </a:lnTo>
                  <a:lnTo>
                    <a:pt x="9901682" y="2293620"/>
                  </a:lnTo>
                  <a:lnTo>
                    <a:pt x="204343" y="2293620"/>
                  </a:lnTo>
                  <a:lnTo>
                    <a:pt x="204343" y="2274570"/>
                  </a:lnTo>
                  <a:lnTo>
                    <a:pt x="204343" y="2293620"/>
                  </a:lnTo>
                  <a:cubicBezTo>
                    <a:pt x="91694" y="2293620"/>
                    <a:pt x="0" y="2203450"/>
                    <a:pt x="0" y="2091690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091690"/>
                  </a:lnTo>
                  <a:lnTo>
                    <a:pt x="19050" y="2091690"/>
                  </a:lnTo>
                  <a:lnTo>
                    <a:pt x="38100" y="2091690"/>
                  </a:lnTo>
                  <a:cubicBezTo>
                    <a:pt x="38100" y="2181987"/>
                    <a:pt x="112268" y="2255520"/>
                    <a:pt x="204343" y="2255520"/>
                  </a:cubicBezTo>
                  <a:lnTo>
                    <a:pt x="9901682" y="2255520"/>
                  </a:lnTo>
                  <a:cubicBezTo>
                    <a:pt x="9993757" y="2255520"/>
                    <a:pt x="10067925" y="2181987"/>
                    <a:pt x="10067925" y="2091690"/>
                  </a:cubicBezTo>
                  <a:lnTo>
                    <a:pt x="10067925" y="201930"/>
                  </a:lnTo>
                  <a:cubicBezTo>
                    <a:pt x="10067925" y="111633"/>
                    <a:pt x="9993757" y="38100"/>
                    <a:pt x="9901682" y="38100"/>
                  </a:cubicBezTo>
                  <a:lnTo>
                    <a:pt x="204343" y="38100"/>
                  </a:lnTo>
                  <a:lnTo>
                    <a:pt x="204343" y="19050"/>
                  </a:lnTo>
                  <a:lnTo>
                    <a:pt x="204343" y="38100"/>
                  </a:lnTo>
                  <a:cubicBezTo>
                    <a:pt x="112268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D9D4C9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63853" y="7023344"/>
            <a:ext cx="114300" cy="1691583"/>
            <a:chOff x="0" y="0"/>
            <a:chExt cx="152400" cy="225544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2400" cy="2255520"/>
            </a:xfrm>
            <a:custGeom>
              <a:avLst/>
              <a:gdLst/>
              <a:ahLst/>
              <a:cxnLst/>
              <a:rect r="r" b="b" t="t" l="l"/>
              <a:pathLst>
                <a:path h="2255520" w="152400">
                  <a:moveTo>
                    <a:pt x="0" y="40132"/>
                  </a:moveTo>
                  <a:cubicBezTo>
                    <a:pt x="0" y="17907"/>
                    <a:pt x="17907" y="0"/>
                    <a:pt x="40132" y="0"/>
                  </a:cubicBezTo>
                  <a:lnTo>
                    <a:pt x="112268" y="0"/>
                  </a:lnTo>
                  <a:cubicBezTo>
                    <a:pt x="134493" y="0"/>
                    <a:pt x="152400" y="17907"/>
                    <a:pt x="152400" y="40132"/>
                  </a:cubicBezTo>
                  <a:lnTo>
                    <a:pt x="152400" y="2215388"/>
                  </a:lnTo>
                  <a:cubicBezTo>
                    <a:pt x="152400" y="2237486"/>
                    <a:pt x="134493" y="2255520"/>
                    <a:pt x="112268" y="2255520"/>
                  </a:cubicBezTo>
                  <a:lnTo>
                    <a:pt x="40132" y="2255520"/>
                  </a:lnTo>
                  <a:cubicBezTo>
                    <a:pt x="18034" y="2255520"/>
                    <a:pt x="0" y="2237613"/>
                    <a:pt x="0" y="2215388"/>
                  </a:cubicBezTo>
                  <a:close/>
                </a:path>
              </a:pathLst>
            </a:custGeom>
            <a:solidFill>
              <a:srgbClr val="325F7B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607191" y="7195242"/>
            <a:ext cx="7007123" cy="419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9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Dissimilarity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07191" y="7703639"/>
            <a:ext cx="7007123" cy="782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9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opposite of similarity — quantifies how different two points are from each other.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398203" y="2714034"/>
            <a:ext cx="7662862" cy="419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9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When to Use It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398203" y="3222422"/>
            <a:ext cx="7662862" cy="782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9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Distance metrics translate similarity into numbers. Hierarchical clustering excels in specific scenarios: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398203" y="4121944"/>
            <a:ext cx="7662862" cy="2736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5645" indent="-117822" lvl="1">
              <a:lnSpc>
                <a:spcPts val="2250"/>
              </a:lnSpc>
              <a:buFont typeface="Arial"/>
              <a:buChar char="•"/>
            </a:pPr>
            <a:r>
              <a:rPr lang="en-US" b="true" sz="1562">
                <a:solidFill>
                  <a:srgbClr val="2B415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Small to medium datasets</a:t>
            </a:r>
            <a:r>
              <a:rPr lang="en-US" sz="1562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— computationally intensive on large data</a:t>
            </a:r>
          </a:p>
          <a:p>
            <a:pPr algn="l" marL="235645" indent="-117822" lvl="1">
              <a:lnSpc>
                <a:spcPts val="2250"/>
              </a:lnSpc>
              <a:buFont typeface="Arial"/>
              <a:buChar char="•"/>
            </a:pPr>
            <a:r>
              <a:rPr lang="en-US" b="true" sz="1562">
                <a:solidFill>
                  <a:srgbClr val="2B415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Exploratory analysis</a:t>
            </a:r>
            <a:r>
              <a:rPr lang="en-US" sz="1562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— when you don't know the cluster structure in advance</a:t>
            </a:r>
          </a:p>
          <a:p>
            <a:pPr algn="l" marL="235645" indent="-117822" lvl="1">
              <a:lnSpc>
                <a:spcPts val="2250"/>
              </a:lnSpc>
              <a:buFont typeface="Arial"/>
              <a:buChar char="•"/>
            </a:pPr>
            <a:r>
              <a:rPr lang="en-US" b="true" sz="1562">
                <a:solidFill>
                  <a:srgbClr val="2B415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Pattern identification</a:t>
            </a:r>
            <a:r>
              <a:rPr lang="en-US" sz="1562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— uncovering natural groupings in data</a:t>
            </a:r>
          </a:p>
          <a:p>
            <a:pPr algn="l" marL="235645" indent="-117822" lvl="1">
              <a:lnSpc>
                <a:spcPts val="2250"/>
              </a:lnSpc>
              <a:buFont typeface="Arial"/>
              <a:buChar char="•"/>
            </a:pPr>
            <a:r>
              <a:rPr lang="en-US" b="true" sz="1562">
                <a:solidFill>
                  <a:srgbClr val="2B415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Data segmentation</a:t>
            </a:r>
            <a:r>
              <a:rPr lang="en-US" sz="1562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— dividing populations into meaningful subgroups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398203" y="7040766"/>
            <a:ext cx="7662862" cy="1183186"/>
            <a:chOff x="0" y="0"/>
            <a:chExt cx="10217150" cy="157758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217150" cy="1577594"/>
            </a:xfrm>
            <a:custGeom>
              <a:avLst/>
              <a:gdLst/>
              <a:ahLst/>
              <a:cxnLst/>
              <a:rect r="r" b="b" t="t" l="l"/>
              <a:pathLst>
                <a:path h="1577594" w="10217150">
                  <a:moveTo>
                    <a:pt x="0" y="40132"/>
                  </a:moveTo>
                  <a:cubicBezTo>
                    <a:pt x="0" y="17907"/>
                    <a:pt x="17907" y="0"/>
                    <a:pt x="40132" y="0"/>
                  </a:cubicBezTo>
                  <a:lnTo>
                    <a:pt x="10177018" y="0"/>
                  </a:lnTo>
                  <a:cubicBezTo>
                    <a:pt x="10199116" y="0"/>
                    <a:pt x="10217150" y="17907"/>
                    <a:pt x="10217150" y="40132"/>
                  </a:cubicBezTo>
                  <a:lnTo>
                    <a:pt x="10217150" y="1537462"/>
                  </a:lnTo>
                  <a:cubicBezTo>
                    <a:pt x="10217150" y="1559560"/>
                    <a:pt x="10199243" y="1577594"/>
                    <a:pt x="10177018" y="1577594"/>
                  </a:cubicBezTo>
                  <a:lnTo>
                    <a:pt x="40132" y="1577594"/>
                  </a:lnTo>
                  <a:cubicBezTo>
                    <a:pt x="18034" y="1577594"/>
                    <a:pt x="0" y="1559687"/>
                    <a:pt x="0" y="1537462"/>
                  </a:cubicBezTo>
                  <a:close/>
                </a:path>
              </a:pathLst>
            </a:custGeom>
            <a:solidFill>
              <a:srgbClr val="C9DDE9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598666" y="7290645"/>
            <a:ext cx="313287" cy="250622"/>
            <a:chOff x="0" y="0"/>
            <a:chExt cx="417716" cy="334162"/>
          </a:xfrm>
        </p:grpSpPr>
        <p:sp>
          <p:nvSpPr>
            <p:cNvPr name="Freeform 38" id="38" descr="preencoded.png"/>
            <p:cNvSpPr/>
            <p:nvPr/>
          </p:nvSpPr>
          <p:spPr>
            <a:xfrm flipH="false" flipV="false" rot="0">
              <a:off x="0" y="0"/>
              <a:ext cx="417703" cy="334137"/>
            </a:xfrm>
            <a:custGeom>
              <a:avLst/>
              <a:gdLst/>
              <a:ahLst/>
              <a:cxnLst/>
              <a:rect r="r" b="b" t="t" l="l"/>
              <a:pathLst>
                <a:path h="334137" w="417703">
                  <a:moveTo>
                    <a:pt x="0" y="0"/>
                  </a:moveTo>
                  <a:lnTo>
                    <a:pt x="417703" y="0"/>
                  </a:lnTo>
                  <a:lnTo>
                    <a:pt x="417703" y="334137"/>
                  </a:lnTo>
                  <a:lnTo>
                    <a:pt x="0" y="3341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69" t="0" r="-772" b="-7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112426" y="7195690"/>
            <a:ext cx="6748167" cy="782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937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Hierarchical clustering is especially powerful when you want to explore data at </a:t>
            </a:r>
            <a:r>
              <a:rPr lang="en-US" sz="1937" b="true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multiple levels of granularity</a:t>
            </a:r>
            <a:r>
              <a:rPr lang="en-US" sz="1937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simultaneously.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0738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350321"/>
            <a:ext cx="6202261" cy="803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 b="true">
                <a:solidFill>
                  <a:srgbClr val="124E73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Distance Measures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564311"/>
            <a:ext cx="16303523" cy="879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choice of distance metric directly shapes how similarity is computed — and therefore </a:t>
            </a:r>
            <a:r>
              <a:rPr lang="en-US" sz="1937" b="true">
                <a:solidFill>
                  <a:srgbClr val="2B415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significantly affects clustering results</a:t>
            </a:r>
            <a:r>
              <a:rPr lang="en-US" sz="19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. Different metrics suit different data types and problem contexts.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3722932"/>
            <a:ext cx="2300135" cy="1421454"/>
            <a:chOff x="0" y="0"/>
            <a:chExt cx="3066847" cy="1895272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3066796" cy="1895221"/>
            </a:xfrm>
            <a:custGeom>
              <a:avLst/>
              <a:gdLst/>
              <a:ahLst/>
              <a:cxnLst/>
              <a:rect r="r" b="b" t="t" l="l"/>
              <a:pathLst>
                <a:path h="1895221" w="3066796">
                  <a:moveTo>
                    <a:pt x="0" y="0"/>
                  </a:moveTo>
                  <a:lnTo>
                    <a:pt x="3066796" y="0"/>
                  </a:lnTo>
                  <a:lnTo>
                    <a:pt x="3066796" y="1895221"/>
                  </a:lnTo>
                  <a:lnTo>
                    <a:pt x="0" y="1895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2" r="-1" b="-24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5444881"/>
            <a:ext cx="3101130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true">
                <a:solidFill>
                  <a:srgbClr val="2B4150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Euclidean Distance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5905205"/>
            <a:ext cx="5227739" cy="879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straight-line distance between two points in space.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238" y="7098659"/>
            <a:ext cx="5227739" cy="621354"/>
            <a:chOff x="0" y="0"/>
            <a:chExt cx="6970319" cy="828472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6970268" cy="828421"/>
            </a:xfrm>
            <a:custGeom>
              <a:avLst/>
              <a:gdLst/>
              <a:ahLst/>
              <a:cxnLst/>
              <a:rect r="r" b="b" t="t" l="l"/>
              <a:pathLst>
                <a:path h="828421" w="6970268">
                  <a:moveTo>
                    <a:pt x="0" y="0"/>
                  </a:moveTo>
                  <a:lnTo>
                    <a:pt x="6970268" y="0"/>
                  </a:lnTo>
                  <a:lnTo>
                    <a:pt x="6970268" y="828421"/>
                  </a:lnTo>
                  <a:lnTo>
                    <a:pt x="0" y="8284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71" r="0" b="-579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92238" y="7948165"/>
            <a:ext cx="5227739" cy="879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Most commonly used; works well for continuous, normalized data.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29978" y="3722932"/>
            <a:ext cx="2300135" cy="1421454"/>
            <a:chOff x="0" y="0"/>
            <a:chExt cx="3066847" cy="1895272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3066796" cy="1895221"/>
            </a:xfrm>
            <a:custGeom>
              <a:avLst/>
              <a:gdLst/>
              <a:ahLst/>
              <a:cxnLst/>
              <a:rect r="r" b="b" t="t" l="l"/>
              <a:pathLst>
                <a:path h="1895221" w="3066796">
                  <a:moveTo>
                    <a:pt x="0" y="0"/>
                  </a:moveTo>
                  <a:lnTo>
                    <a:pt x="3066796" y="0"/>
                  </a:lnTo>
                  <a:lnTo>
                    <a:pt x="3066796" y="1895221"/>
                  </a:lnTo>
                  <a:lnTo>
                    <a:pt x="0" y="1895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2" r="-1" b="-24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529978" y="5444881"/>
            <a:ext cx="3122409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true">
                <a:solidFill>
                  <a:srgbClr val="2B4150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Manhattan Distance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29978" y="5905205"/>
            <a:ext cx="5227882" cy="879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Distance measured along axes at right angles — like navigating city blocks.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529978" y="7098659"/>
            <a:ext cx="5227882" cy="540248"/>
            <a:chOff x="0" y="0"/>
            <a:chExt cx="6970509" cy="720331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6970522" cy="720344"/>
            </a:xfrm>
            <a:custGeom>
              <a:avLst/>
              <a:gdLst/>
              <a:ahLst/>
              <a:cxnLst/>
              <a:rect r="r" b="b" t="t" l="l"/>
              <a:pathLst>
                <a:path h="720344" w="6970522">
                  <a:moveTo>
                    <a:pt x="0" y="0"/>
                  </a:moveTo>
                  <a:lnTo>
                    <a:pt x="6970522" y="0"/>
                  </a:lnTo>
                  <a:lnTo>
                    <a:pt x="6970522" y="720344"/>
                  </a:lnTo>
                  <a:lnTo>
                    <a:pt x="0" y="720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34" r="0" b="-232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6529978" y="7867059"/>
            <a:ext cx="5227882" cy="879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Preferred in high-dimensional spaces or when features are independent.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067880" y="3722932"/>
            <a:ext cx="2300135" cy="1421454"/>
            <a:chOff x="0" y="0"/>
            <a:chExt cx="3066847" cy="1895272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3066796" cy="1895221"/>
            </a:xfrm>
            <a:custGeom>
              <a:avLst/>
              <a:gdLst/>
              <a:ahLst/>
              <a:cxnLst/>
              <a:rect r="r" b="b" t="t" l="l"/>
              <a:pathLst>
                <a:path h="1895221" w="3066796">
                  <a:moveTo>
                    <a:pt x="0" y="0"/>
                  </a:moveTo>
                  <a:lnTo>
                    <a:pt x="3066796" y="0"/>
                  </a:lnTo>
                  <a:lnTo>
                    <a:pt x="3066796" y="1895221"/>
                  </a:lnTo>
                  <a:lnTo>
                    <a:pt x="0" y="1895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2" r="-1" b="-24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067880" y="5444881"/>
            <a:ext cx="3101130" cy="39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true">
                <a:solidFill>
                  <a:srgbClr val="2B4150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Minkowski Distance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067880" y="5905205"/>
            <a:ext cx="5227882" cy="879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A generalized form that encompasses both Euclidean and Manhattan as special cases.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067880" y="7098659"/>
            <a:ext cx="5227882" cy="701726"/>
            <a:chOff x="0" y="0"/>
            <a:chExt cx="6970509" cy="935634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6970522" cy="935609"/>
            </a:xfrm>
            <a:custGeom>
              <a:avLst/>
              <a:gdLst/>
              <a:ahLst/>
              <a:cxnLst/>
              <a:rect r="r" b="b" t="t" l="l"/>
              <a:pathLst>
                <a:path h="935609" w="6970522">
                  <a:moveTo>
                    <a:pt x="0" y="0"/>
                  </a:moveTo>
                  <a:lnTo>
                    <a:pt x="6970522" y="0"/>
                  </a:lnTo>
                  <a:lnTo>
                    <a:pt x="6970522" y="935609"/>
                  </a:lnTo>
                  <a:lnTo>
                    <a:pt x="0" y="9356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10" r="0" b="-211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2067880" y="8028537"/>
            <a:ext cx="5227882" cy="879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Parameter </a:t>
            </a:r>
            <a:r>
              <a:rPr lang="en-US" sz="1937" i="true">
                <a:solidFill>
                  <a:srgbClr val="2B4150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p</a:t>
            </a:r>
            <a:r>
              <a:rPr lang="en-US" sz="19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controls the metric: p=1 (Manhattan), p=2 (Euclidean).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0738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028234" y="498424"/>
            <a:ext cx="7377855" cy="583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3500" b="true">
                <a:solidFill>
                  <a:srgbClr val="124E73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The Hierarchical Clustering Process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28234" y="1305963"/>
            <a:ext cx="14231541" cy="661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7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Hierarchical clustering builds its tree structure through a systematic, step-by-step approach. At each stage, the algorithm makes a locally optimal decision — merging or splitting clusters based on proximity.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143125" y="2115293"/>
            <a:ext cx="14001598" cy="6883003"/>
            <a:chOff x="0" y="0"/>
            <a:chExt cx="18668797" cy="9177338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8668746" cy="9177401"/>
            </a:xfrm>
            <a:custGeom>
              <a:avLst/>
              <a:gdLst/>
              <a:ahLst/>
              <a:cxnLst/>
              <a:rect r="r" b="b" t="t" l="l"/>
              <a:pathLst>
                <a:path h="9177401" w="18668746">
                  <a:moveTo>
                    <a:pt x="0" y="0"/>
                  </a:moveTo>
                  <a:lnTo>
                    <a:pt x="18668746" y="0"/>
                  </a:lnTo>
                  <a:lnTo>
                    <a:pt x="18668746" y="9177401"/>
                  </a:lnTo>
                  <a:lnTo>
                    <a:pt x="0" y="91774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" r="0" b="-24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994467" y="2733037"/>
            <a:ext cx="3202067" cy="409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2B4150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Repeat &amp; Visualize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94467" y="3275724"/>
            <a:ext cx="6475295" cy="257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200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Iterate until target and plot dendrogram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5344106" y="2910002"/>
            <a:ext cx="455409" cy="455409"/>
          </a:xfrm>
          <a:custGeom>
            <a:avLst/>
            <a:gdLst/>
            <a:ahLst/>
            <a:cxnLst/>
            <a:rect r="r" b="b" t="t" l="l"/>
            <a:pathLst>
              <a:path h="455409" w="455409">
                <a:moveTo>
                  <a:pt x="0" y="0"/>
                </a:moveTo>
                <a:lnTo>
                  <a:pt x="455409" y="0"/>
                </a:lnTo>
                <a:lnTo>
                  <a:pt x="455409" y="455409"/>
                </a:lnTo>
                <a:lnTo>
                  <a:pt x="0" y="4554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083" t="0" r="-2083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994467" y="4341190"/>
            <a:ext cx="3202067" cy="409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2B4150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Merge or Split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94467" y="4883877"/>
            <a:ext cx="6475295" cy="257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200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Best merge or best split by linkage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5344106" y="4304681"/>
            <a:ext cx="455409" cy="455409"/>
          </a:xfrm>
          <a:custGeom>
            <a:avLst/>
            <a:gdLst/>
            <a:ahLst/>
            <a:cxnLst/>
            <a:rect r="r" b="b" t="t" l="l"/>
            <a:pathLst>
              <a:path h="455409" w="455409">
                <a:moveTo>
                  <a:pt x="0" y="0"/>
                </a:moveTo>
                <a:lnTo>
                  <a:pt x="455409" y="0"/>
                </a:lnTo>
                <a:lnTo>
                  <a:pt x="455409" y="455409"/>
                </a:lnTo>
                <a:lnTo>
                  <a:pt x="0" y="4554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4166" r="0" b="-4166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994467" y="5949334"/>
            <a:ext cx="3202067" cy="409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2B4150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Compute Distances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994467" y="6492021"/>
            <a:ext cx="6475295" cy="257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200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Pairwise distances using metric</a:t>
            </a:r>
          </a:p>
        </p:txBody>
      </p:sp>
      <p:sp>
        <p:nvSpPr>
          <p:cNvPr name="Freeform 18" id="18" descr="preencoded.png"/>
          <p:cNvSpPr/>
          <p:nvPr/>
        </p:nvSpPr>
        <p:spPr>
          <a:xfrm flipH="false" flipV="false" rot="0">
            <a:off x="5344106" y="5685130"/>
            <a:ext cx="455409" cy="455409"/>
          </a:xfrm>
          <a:custGeom>
            <a:avLst/>
            <a:gdLst/>
            <a:ahLst/>
            <a:cxnLst/>
            <a:rect r="r" b="b" t="t" l="l"/>
            <a:pathLst>
              <a:path h="455409" w="455409">
                <a:moveTo>
                  <a:pt x="0" y="0"/>
                </a:moveTo>
                <a:lnTo>
                  <a:pt x="455409" y="0"/>
                </a:lnTo>
                <a:lnTo>
                  <a:pt x="455409" y="455409"/>
                </a:lnTo>
                <a:lnTo>
                  <a:pt x="0" y="4554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8332" t="0" r="-8332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008697" y="7557487"/>
            <a:ext cx="3202067" cy="409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2B4150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Initialize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008697" y="8100174"/>
            <a:ext cx="6475295" cy="257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200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Start clusters: singletons or one</a:t>
            </a:r>
          </a:p>
        </p:txBody>
      </p:sp>
      <p:sp>
        <p:nvSpPr>
          <p:cNvPr name="Freeform 21" id="21" descr="preencoded.png"/>
          <p:cNvSpPr/>
          <p:nvPr/>
        </p:nvSpPr>
        <p:spPr>
          <a:xfrm flipH="false" flipV="false" rot="0">
            <a:off x="5344106" y="7293283"/>
            <a:ext cx="455409" cy="455409"/>
          </a:xfrm>
          <a:custGeom>
            <a:avLst/>
            <a:gdLst/>
            <a:ahLst/>
            <a:cxnLst/>
            <a:rect r="r" b="b" t="t" l="l"/>
            <a:pathLst>
              <a:path h="455409" w="455409">
                <a:moveTo>
                  <a:pt x="0" y="0"/>
                </a:moveTo>
                <a:lnTo>
                  <a:pt x="455409" y="0"/>
                </a:lnTo>
                <a:lnTo>
                  <a:pt x="455409" y="455409"/>
                </a:lnTo>
                <a:lnTo>
                  <a:pt x="0" y="45540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1041" r="0" b="-1041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028234" y="9107834"/>
            <a:ext cx="14231541" cy="661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7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algorithm follows a </a:t>
            </a:r>
            <a:r>
              <a:rPr lang="en-US" sz="1750" b="true">
                <a:solidFill>
                  <a:srgbClr val="2B415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greedy approach</a:t>
            </a:r>
            <a:r>
              <a:rPr lang="en-US" sz="17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— it makes the best decision at each step without backtracking. Once two clusters merge (or a cluster splits), that decision is permanent. The final output is a </a:t>
            </a:r>
            <a:r>
              <a:rPr lang="en-US" sz="1750" b="true">
                <a:solidFill>
                  <a:srgbClr val="2B415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dendrogram</a:t>
            </a:r>
            <a:r>
              <a:rPr lang="en-US" sz="17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that captures the entire hierarchy of decisions.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0738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18609" y="1271292"/>
            <a:ext cx="15850638" cy="420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9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Dendrogram: Visualizing Clusters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8609" y="1964684"/>
            <a:ext cx="8497195" cy="114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9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A </a:t>
            </a:r>
            <a:r>
              <a:rPr lang="en-US" sz="1937" b="true">
                <a:solidFill>
                  <a:srgbClr val="2B415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dendrogram</a:t>
            </a:r>
            <a:r>
              <a:rPr lang="en-US" sz="19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is a tree-like diagram that records the sequence of merges or splits in hierarchical clustering. It is the primary tool for interpreting and communicating clustering results.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1293914" y="3346399"/>
            <a:ext cx="301381" cy="301381"/>
          </a:xfrm>
          <a:custGeom>
            <a:avLst/>
            <a:gdLst/>
            <a:ahLst/>
            <a:cxnLst/>
            <a:rect r="r" b="b" t="t" l="l"/>
            <a:pathLst>
              <a:path h="301381" w="301381">
                <a:moveTo>
                  <a:pt x="0" y="0"/>
                </a:moveTo>
                <a:lnTo>
                  <a:pt x="301381" y="0"/>
                </a:lnTo>
                <a:lnTo>
                  <a:pt x="301381" y="301381"/>
                </a:lnTo>
                <a:lnTo>
                  <a:pt x="0" y="3013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812" t="0" r="-7812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871662" y="3239091"/>
            <a:ext cx="7844133" cy="420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9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Leaves (Bottom)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71662" y="3749278"/>
            <a:ext cx="7844133" cy="420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9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Each leaf represents an individual data point in the dataset.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1293914" y="4545959"/>
            <a:ext cx="301381" cy="301381"/>
          </a:xfrm>
          <a:custGeom>
            <a:avLst/>
            <a:gdLst/>
            <a:ahLst/>
            <a:cxnLst/>
            <a:rect r="r" b="b" t="t" l="l"/>
            <a:pathLst>
              <a:path h="301381" w="301381">
                <a:moveTo>
                  <a:pt x="0" y="0"/>
                </a:moveTo>
                <a:lnTo>
                  <a:pt x="301381" y="0"/>
                </a:lnTo>
                <a:lnTo>
                  <a:pt x="301381" y="301380"/>
                </a:lnTo>
                <a:lnTo>
                  <a:pt x="0" y="3013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812" t="0" r="-7812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871662" y="4438650"/>
            <a:ext cx="7844133" cy="420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9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Branches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71662" y="4948828"/>
            <a:ext cx="7844133" cy="784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9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Each branch point marks where two clusters were merged (or one was split).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1293914" y="6109249"/>
            <a:ext cx="301381" cy="301381"/>
          </a:xfrm>
          <a:custGeom>
            <a:avLst/>
            <a:gdLst/>
            <a:ahLst/>
            <a:cxnLst/>
            <a:rect r="r" b="b" t="t" l="l"/>
            <a:pathLst>
              <a:path h="301381" w="301381">
                <a:moveTo>
                  <a:pt x="0" y="0"/>
                </a:moveTo>
                <a:lnTo>
                  <a:pt x="301381" y="0"/>
                </a:lnTo>
                <a:lnTo>
                  <a:pt x="301381" y="301381"/>
                </a:lnTo>
                <a:lnTo>
                  <a:pt x="0" y="3013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812" t="0" r="-7812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71662" y="6001941"/>
            <a:ext cx="7844133" cy="420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9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Height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71662" y="6512128"/>
            <a:ext cx="7844133" cy="784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9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vertical height of a merge indicates the distance between the clusters — taller means more dissimilar.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18609" y="7479954"/>
            <a:ext cx="8497195" cy="1196873"/>
            <a:chOff x="0" y="0"/>
            <a:chExt cx="11329594" cy="15958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329670" cy="1595882"/>
            </a:xfrm>
            <a:custGeom>
              <a:avLst/>
              <a:gdLst/>
              <a:ahLst/>
              <a:cxnLst/>
              <a:rect r="r" b="b" t="t" l="l"/>
              <a:pathLst>
                <a:path h="1595882" w="11329670">
                  <a:moveTo>
                    <a:pt x="0" y="40259"/>
                  </a:moveTo>
                  <a:cubicBezTo>
                    <a:pt x="0" y="18034"/>
                    <a:pt x="18034" y="0"/>
                    <a:pt x="40259" y="0"/>
                  </a:cubicBezTo>
                  <a:lnTo>
                    <a:pt x="11289411" y="0"/>
                  </a:lnTo>
                  <a:cubicBezTo>
                    <a:pt x="11311636" y="0"/>
                    <a:pt x="11329670" y="18034"/>
                    <a:pt x="11329670" y="40259"/>
                  </a:cubicBezTo>
                  <a:lnTo>
                    <a:pt x="11329670" y="1555623"/>
                  </a:lnTo>
                  <a:cubicBezTo>
                    <a:pt x="11329670" y="1577848"/>
                    <a:pt x="11311636" y="1595882"/>
                    <a:pt x="11289411" y="1595882"/>
                  </a:cubicBezTo>
                  <a:lnTo>
                    <a:pt x="40259" y="1595882"/>
                  </a:lnTo>
                  <a:cubicBezTo>
                    <a:pt x="18034" y="1595882"/>
                    <a:pt x="0" y="1577848"/>
                    <a:pt x="0" y="1555623"/>
                  </a:cubicBezTo>
                  <a:close/>
                </a:path>
              </a:pathLst>
            </a:custGeom>
            <a:solidFill>
              <a:srgbClr val="C9DDE9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419520" y="7739805"/>
            <a:ext cx="314030" cy="251222"/>
            <a:chOff x="0" y="0"/>
            <a:chExt cx="418706" cy="334962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418719" cy="335026"/>
            </a:xfrm>
            <a:custGeom>
              <a:avLst/>
              <a:gdLst/>
              <a:ahLst/>
              <a:cxnLst/>
              <a:rect r="r" b="b" t="t" l="l"/>
              <a:pathLst>
                <a:path h="335026" w="418719">
                  <a:moveTo>
                    <a:pt x="0" y="0"/>
                  </a:moveTo>
                  <a:lnTo>
                    <a:pt x="418719" y="0"/>
                  </a:lnTo>
                  <a:lnTo>
                    <a:pt x="418719" y="335026"/>
                  </a:lnTo>
                  <a:lnTo>
                    <a:pt x="0" y="3350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70" t="0" r="-764" b="18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934470" y="7635773"/>
            <a:ext cx="7580414" cy="79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937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💡 </a:t>
            </a:r>
            <a:r>
              <a:rPr lang="en-US" sz="1937" b="true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How to choose k:</a:t>
            </a:r>
            <a:r>
              <a:rPr lang="en-US" sz="1937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Draw a horizontal line across the dendrogram. The number of vertical lines it cuts equals the number of clusters.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215562" y="2058591"/>
            <a:ext cx="6863058" cy="6863058"/>
            <a:chOff x="0" y="0"/>
            <a:chExt cx="9150744" cy="9150744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9150731" cy="9150731"/>
            </a:xfrm>
            <a:custGeom>
              <a:avLst/>
              <a:gdLst/>
              <a:ahLst/>
              <a:cxnLst/>
              <a:rect r="r" b="b" t="t" l="l"/>
              <a:pathLst>
                <a:path h="9150731" w="9150731">
                  <a:moveTo>
                    <a:pt x="0" y="0"/>
                  </a:moveTo>
                  <a:lnTo>
                    <a:pt x="9150731" y="0"/>
                  </a:lnTo>
                  <a:lnTo>
                    <a:pt x="9150731" y="9150731"/>
                  </a:lnTo>
                  <a:lnTo>
                    <a:pt x="0" y="9150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0738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341539" y="1737570"/>
            <a:ext cx="15604779" cy="403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9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Agglomerative Clustering: Bottom-Up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41539" y="2318442"/>
            <a:ext cx="2159498" cy="346177"/>
            <a:chOff x="0" y="0"/>
            <a:chExt cx="2879331" cy="46156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79344" cy="461518"/>
            </a:xfrm>
            <a:custGeom>
              <a:avLst/>
              <a:gdLst/>
              <a:ahLst/>
              <a:cxnLst/>
              <a:rect r="r" b="b" t="t" l="l"/>
              <a:pathLst>
                <a:path h="461518" w="2879344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2847721" y="0"/>
                  </a:lnTo>
                  <a:cubicBezTo>
                    <a:pt x="2865247" y="0"/>
                    <a:pt x="2879344" y="14224"/>
                    <a:pt x="2879344" y="31623"/>
                  </a:cubicBezTo>
                  <a:lnTo>
                    <a:pt x="2879344" y="429895"/>
                  </a:lnTo>
                  <a:cubicBezTo>
                    <a:pt x="2879344" y="447421"/>
                    <a:pt x="2865120" y="461518"/>
                    <a:pt x="2847721" y="461518"/>
                  </a:cubicBezTo>
                  <a:lnTo>
                    <a:pt x="31623" y="461518"/>
                  </a:lnTo>
                  <a:cubicBezTo>
                    <a:pt x="14224" y="461518"/>
                    <a:pt x="0" y="447421"/>
                    <a:pt x="0" y="429895"/>
                  </a:cubicBezTo>
                  <a:close/>
                </a:path>
              </a:pathLst>
            </a:custGeom>
            <a:solidFill>
              <a:srgbClr val="DBE8F0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460154" y="2349103"/>
            <a:ext cx="1922259" cy="25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MOST WIDELY USED METHOD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1539" y="2794549"/>
            <a:ext cx="15604779" cy="759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9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Agglomerative clustering starts with every data point as its own cluster and </a:t>
            </a:r>
            <a:r>
              <a:rPr lang="en-US" sz="1937" b="true">
                <a:solidFill>
                  <a:srgbClr val="2B415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iteratively merges the closest pairs</a:t>
            </a:r>
            <a:r>
              <a:rPr lang="en-US" sz="19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until a single cluster — or a desired number of clusters — remains. It is the most popular hierarchical approach due to its simplicity and effectiveness.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638300" y="4225681"/>
            <a:ext cx="7426528" cy="197796"/>
            <a:chOff x="0" y="0"/>
            <a:chExt cx="9902038" cy="2637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902063" cy="263779"/>
            </a:xfrm>
            <a:custGeom>
              <a:avLst/>
              <a:gdLst/>
              <a:ahLst/>
              <a:cxnLst/>
              <a:rect r="r" b="b" t="t" l="l"/>
              <a:pathLst>
                <a:path h="263779" w="9902063">
                  <a:moveTo>
                    <a:pt x="0" y="39624"/>
                  </a:moveTo>
                  <a:cubicBezTo>
                    <a:pt x="0" y="17780"/>
                    <a:pt x="17780" y="0"/>
                    <a:pt x="39624" y="0"/>
                  </a:cubicBezTo>
                  <a:lnTo>
                    <a:pt x="9862439" y="0"/>
                  </a:lnTo>
                  <a:cubicBezTo>
                    <a:pt x="9884283" y="0"/>
                    <a:pt x="9902063" y="17780"/>
                    <a:pt x="9902063" y="39624"/>
                  </a:cubicBezTo>
                  <a:lnTo>
                    <a:pt x="9902063" y="224155"/>
                  </a:lnTo>
                  <a:cubicBezTo>
                    <a:pt x="9902063" y="245999"/>
                    <a:pt x="9884283" y="263779"/>
                    <a:pt x="9862439" y="263779"/>
                  </a:cubicBezTo>
                  <a:lnTo>
                    <a:pt x="39624" y="263779"/>
                  </a:lnTo>
                  <a:cubicBezTo>
                    <a:pt x="17780" y="263779"/>
                    <a:pt x="0" y="245999"/>
                    <a:pt x="0" y="224155"/>
                  </a:cubicBezTo>
                  <a:close/>
                </a:path>
              </a:pathLst>
            </a:custGeom>
            <a:solidFill>
              <a:srgbClr val="F3EEE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41539" y="4027884"/>
            <a:ext cx="593522" cy="593522"/>
            <a:chOff x="0" y="0"/>
            <a:chExt cx="791362" cy="79136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91337" cy="791337"/>
            </a:xfrm>
            <a:custGeom>
              <a:avLst/>
              <a:gdLst/>
              <a:ahLst/>
              <a:cxnLst/>
              <a:rect r="r" b="b" t="t" l="l"/>
              <a:pathLst>
                <a:path h="791337" w="791337">
                  <a:moveTo>
                    <a:pt x="0" y="395732"/>
                  </a:moveTo>
                  <a:cubicBezTo>
                    <a:pt x="0" y="177165"/>
                    <a:pt x="177165" y="0"/>
                    <a:pt x="395732" y="0"/>
                  </a:cubicBezTo>
                  <a:cubicBezTo>
                    <a:pt x="614299" y="0"/>
                    <a:pt x="791337" y="177165"/>
                    <a:pt x="791337" y="395732"/>
                  </a:cubicBezTo>
                  <a:cubicBezTo>
                    <a:pt x="791337" y="614299"/>
                    <a:pt x="614172" y="791337"/>
                    <a:pt x="395732" y="791337"/>
                  </a:cubicBezTo>
                  <a:cubicBezTo>
                    <a:pt x="177292" y="791337"/>
                    <a:pt x="0" y="614172"/>
                    <a:pt x="0" y="395732"/>
                  </a:cubicBezTo>
                  <a:close/>
                </a:path>
              </a:pathLst>
            </a:custGeom>
            <a:solidFill>
              <a:srgbClr val="F3EEE3"/>
            </a:solidFill>
          </p:spPr>
        </p:sp>
      </p:grpSp>
      <p:sp>
        <p:nvSpPr>
          <p:cNvPr name="Freeform 15" id="15" descr="preencoded.png"/>
          <p:cNvSpPr/>
          <p:nvPr/>
        </p:nvSpPr>
        <p:spPr>
          <a:xfrm flipH="false" flipV="false" rot="0">
            <a:off x="1489920" y="4176265"/>
            <a:ext cx="296761" cy="296761"/>
          </a:xfrm>
          <a:custGeom>
            <a:avLst/>
            <a:gdLst/>
            <a:ahLst/>
            <a:cxnLst/>
            <a:rect r="r" b="b" t="t" l="l"/>
            <a:pathLst>
              <a:path h="296761" w="296761">
                <a:moveTo>
                  <a:pt x="0" y="0"/>
                </a:moveTo>
                <a:lnTo>
                  <a:pt x="296760" y="0"/>
                </a:lnTo>
                <a:lnTo>
                  <a:pt x="296760" y="296761"/>
                </a:lnTo>
                <a:lnTo>
                  <a:pt x="0" y="2967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4686" t="0" r="-4689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539326" y="4731544"/>
            <a:ext cx="7327849" cy="403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9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Initialize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39326" y="5181895"/>
            <a:ext cx="7327849" cy="403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9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Each of the </a:t>
            </a:r>
            <a:r>
              <a:rPr lang="en-US" sz="1937" i="true">
                <a:solidFill>
                  <a:srgbClr val="2B4150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n</a:t>
            </a:r>
            <a:r>
              <a:rPr lang="en-US" sz="19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data points begins as its own individual cluster.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519495" y="3928910"/>
            <a:ext cx="7426671" cy="197796"/>
            <a:chOff x="0" y="0"/>
            <a:chExt cx="9902228" cy="26372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902317" cy="263779"/>
            </a:xfrm>
            <a:custGeom>
              <a:avLst/>
              <a:gdLst/>
              <a:ahLst/>
              <a:cxnLst/>
              <a:rect r="r" b="b" t="t" l="l"/>
              <a:pathLst>
                <a:path h="263779" w="9902317">
                  <a:moveTo>
                    <a:pt x="0" y="39624"/>
                  </a:moveTo>
                  <a:cubicBezTo>
                    <a:pt x="0" y="17780"/>
                    <a:pt x="17780" y="0"/>
                    <a:pt x="39624" y="0"/>
                  </a:cubicBezTo>
                  <a:lnTo>
                    <a:pt x="9862693" y="0"/>
                  </a:lnTo>
                  <a:cubicBezTo>
                    <a:pt x="9884537" y="0"/>
                    <a:pt x="9902317" y="17780"/>
                    <a:pt x="9902317" y="39624"/>
                  </a:cubicBezTo>
                  <a:lnTo>
                    <a:pt x="9902317" y="224155"/>
                  </a:lnTo>
                  <a:cubicBezTo>
                    <a:pt x="9902317" y="245999"/>
                    <a:pt x="9884537" y="263779"/>
                    <a:pt x="9862693" y="263779"/>
                  </a:cubicBezTo>
                  <a:lnTo>
                    <a:pt x="39624" y="263779"/>
                  </a:lnTo>
                  <a:cubicBezTo>
                    <a:pt x="17780" y="263779"/>
                    <a:pt x="0" y="245999"/>
                    <a:pt x="0" y="224155"/>
                  </a:cubicBezTo>
                  <a:close/>
                </a:path>
              </a:pathLst>
            </a:custGeom>
            <a:solidFill>
              <a:srgbClr val="F3EEE3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222734" y="3731123"/>
            <a:ext cx="593522" cy="593522"/>
            <a:chOff x="0" y="0"/>
            <a:chExt cx="791362" cy="79136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91337" cy="791337"/>
            </a:xfrm>
            <a:custGeom>
              <a:avLst/>
              <a:gdLst/>
              <a:ahLst/>
              <a:cxnLst/>
              <a:rect r="r" b="b" t="t" l="l"/>
              <a:pathLst>
                <a:path h="791337" w="791337">
                  <a:moveTo>
                    <a:pt x="0" y="395732"/>
                  </a:moveTo>
                  <a:cubicBezTo>
                    <a:pt x="0" y="177165"/>
                    <a:pt x="177165" y="0"/>
                    <a:pt x="395732" y="0"/>
                  </a:cubicBezTo>
                  <a:cubicBezTo>
                    <a:pt x="614299" y="0"/>
                    <a:pt x="791337" y="177165"/>
                    <a:pt x="791337" y="395732"/>
                  </a:cubicBezTo>
                  <a:cubicBezTo>
                    <a:pt x="791337" y="614299"/>
                    <a:pt x="614172" y="791337"/>
                    <a:pt x="395732" y="791337"/>
                  </a:cubicBezTo>
                  <a:cubicBezTo>
                    <a:pt x="177292" y="791337"/>
                    <a:pt x="0" y="614172"/>
                    <a:pt x="0" y="395732"/>
                  </a:cubicBezTo>
                  <a:close/>
                </a:path>
              </a:pathLst>
            </a:custGeom>
            <a:solidFill>
              <a:srgbClr val="F3EEE3"/>
            </a:solidFill>
          </p:spPr>
        </p:sp>
      </p:grpSp>
      <p:sp>
        <p:nvSpPr>
          <p:cNvPr name="Freeform 22" id="22" descr="preencoded.png"/>
          <p:cNvSpPr/>
          <p:nvPr/>
        </p:nvSpPr>
        <p:spPr>
          <a:xfrm flipH="false" flipV="false" rot="0">
            <a:off x="9371114" y="3879504"/>
            <a:ext cx="296761" cy="296761"/>
          </a:xfrm>
          <a:custGeom>
            <a:avLst/>
            <a:gdLst/>
            <a:ahLst/>
            <a:cxnLst/>
            <a:rect r="r" b="b" t="t" l="l"/>
            <a:pathLst>
              <a:path h="296761" w="296761">
                <a:moveTo>
                  <a:pt x="0" y="0"/>
                </a:moveTo>
                <a:lnTo>
                  <a:pt x="296761" y="0"/>
                </a:lnTo>
                <a:lnTo>
                  <a:pt x="296761" y="296761"/>
                </a:lnTo>
                <a:lnTo>
                  <a:pt x="0" y="2967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9420520" y="4434783"/>
            <a:ext cx="7328002" cy="403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9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Compute Distances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420520" y="4885134"/>
            <a:ext cx="7328002" cy="759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9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Calculate the distance between all pairs of clusters using the chosen linkage criterion.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638300" y="6494259"/>
            <a:ext cx="7426528" cy="197796"/>
            <a:chOff x="0" y="0"/>
            <a:chExt cx="9902038" cy="26372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902063" cy="263779"/>
            </a:xfrm>
            <a:custGeom>
              <a:avLst/>
              <a:gdLst/>
              <a:ahLst/>
              <a:cxnLst/>
              <a:rect r="r" b="b" t="t" l="l"/>
              <a:pathLst>
                <a:path h="263779" w="9902063">
                  <a:moveTo>
                    <a:pt x="0" y="39624"/>
                  </a:moveTo>
                  <a:cubicBezTo>
                    <a:pt x="0" y="17780"/>
                    <a:pt x="17780" y="0"/>
                    <a:pt x="39624" y="0"/>
                  </a:cubicBezTo>
                  <a:lnTo>
                    <a:pt x="9862439" y="0"/>
                  </a:lnTo>
                  <a:cubicBezTo>
                    <a:pt x="9884283" y="0"/>
                    <a:pt x="9902063" y="17780"/>
                    <a:pt x="9902063" y="39624"/>
                  </a:cubicBezTo>
                  <a:lnTo>
                    <a:pt x="9902063" y="224155"/>
                  </a:lnTo>
                  <a:cubicBezTo>
                    <a:pt x="9902063" y="245999"/>
                    <a:pt x="9884283" y="263779"/>
                    <a:pt x="9862439" y="263779"/>
                  </a:cubicBezTo>
                  <a:lnTo>
                    <a:pt x="39624" y="263779"/>
                  </a:lnTo>
                  <a:cubicBezTo>
                    <a:pt x="17780" y="263779"/>
                    <a:pt x="0" y="245999"/>
                    <a:pt x="0" y="224155"/>
                  </a:cubicBezTo>
                  <a:close/>
                </a:path>
              </a:pathLst>
            </a:custGeom>
            <a:solidFill>
              <a:srgbClr val="F3EEE3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341539" y="6296473"/>
            <a:ext cx="593522" cy="593522"/>
            <a:chOff x="0" y="0"/>
            <a:chExt cx="791362" cy="79136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91337" cy="791337"/>
            </a:xfrm>
            <a:custGeom>
              <a:avLst/>
              <a:gdLst/>
              <a:ahLst/>
              <a:cxnLst/>
              <a:rect r="r" b="b" t="t" l="l"/>
              <a:pathLst>
                <a:path h="791337" w="791337">
                  <a:moveTo>
                    <a:pt x="0" y="395732"/>
                  </a:moveTo>
                  <a:cubicBezTo>
                    <a:pt x="0" y="177165"/>
                    <a:pt x="177165" y="0"/>
                    <a:pt x="395732" y="0"/>
                  </a:cubicBezTo>
                  <a:cubicBezTo>
                    <a:pt x="614299" y="0"/>
                    <a:pt x="791337" y="177165"/>
                    <a:pt x="791337" y="395732"/>
                  </a:cubicBezTo>
                  <a:cubicBezTo>
                    <a:pt x="791337" y="614299"/>
                    <a:pt x="614172" y="791337"/>
                    <a:pt x="395732" y="791337"/>
                  </a:cubicBezTo>
                  <a:cubicBezTo>
                    <a:pt x="177292" y="791337"/>
                    <a:pt x="0" y="614172"/>
                    <a:pt x="0" y="395732"/>
                  </a:cubicBezTo>
                  <a:close/>
                </a:path>
              </a:pathLst>
            </a:custGeom>
            <a:solidFill>
              <a:srgbClr val="F3EEE3"/>
            </a:solidFill>
          </p:spPr>
        </p:sp>
      </p:grpSp>
      <p:sp>
        <p:nvSpPr>
          <p:cNvPr name="Freeform 29" id="29" descr="preencoded.png"/>
          <p:cNvSpPr/>
          <p:nvPr/>
        </p:nvSpPr>
        <p:spPr>
          <a:xfrm flipH="false" flipV="false" rot="0">
            <a:off x="1489920" y="6444853"/>
            <a:ext cx="296761" cy="296761"/>
          </a:xfrm>
          <a:custGeom>
            <a:avLst/>
            <a:gdLst/>
            <a:ahLst/>
            <a:cxnLst/>
            <a:rect r="r" b="b" t="t" l="l"/>
            <a:pathLst>
              <a:path h="296761" w="296761">
                <a:moveTo>
                  <a:pt x="0" y="0"/>
                </a:moveTo>
                <a:lnTo>
                  <a:pt x="296760" y="0"/>
                </a:lnTo>
                <a:lnTo>
                  <a:pt x="296760" y="296761"/>
                </a:lnTo>
                <a:lnTo>
                  <a:pt x="0" y="2967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6249" t="0" r="-6252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539326" y="7000132"/>
            <a:ext cx="7327849" cy="403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9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Merge Closest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39326" y="7450484"/>
            <a:ext cx="7327849" cy="403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9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Fuse the two most similar clusters into a single new cluster.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519495" y="6197498"/>
            <a:ext cx="7426671" cy="197796"/>
            <a:chOff x="0" y="0"/>
            <a:chExt cx="9902228" cy="26372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902317" cy="263779"/>
            </a:xfrm>
            <a:custGeom>
              <a:avLst/>
              <a:gdLst/>
              <a:ahLst/>
              <a:cxnLst/>
              <a:rect r="r" b="b" t="t" l="l"/>
              <a:pathLst>
                <a:path h="263779" w="9902317">
                  <a:moveTo>
                    <a:pt x="0" y="39624"/>
                  </a:moveTo>
                  <a:cubicBezTo>
                    <a:pt x="0" y="17780"/>
                    <a:pt x="17780" y="0"/>
                    <a:pt x="39624" y="0"/>
                  </a:cubicBezTo>
                  <a:lnTo>
                    <a:pt x="9862693" y="0"/>
                  </a:lnTo>
                  <a:cubicBezTo>
                    <a:pt x="9884537" y="0"/>
                    <a:pt x="9902317" y="17780"/>
                    <a:pt x="9902317" y="39624"/>
                  </a:cubicBezTo>
                  <a:lnTo>
                    <a:pt x="9902317" y="224155"/>
                  </a:lnTo>
                  <a:cubicBezTo>
                    <a:pt x="9902317" y="245999"/>
                    <a:pt x="9884537" y="263779"/>
                    <a:pt x="9862693" y="263779"/>
                  </a:cubicBezTo>
                  <a:lnTo>
                    <a:pt x="39624" y="263779"/>
                  </a:lnTo>
                  <a:cubicBezTo>
                    <a:pt x="17780" y="263779"/>
                    <a:pt x="0" y="245999"/>
                    <a:pt x="0" y="224155"/>
                  </a:cubicBezTo>
                  <a:close/>
                </a:path>
              </a:pathLst>
            </a:custGeom>
            <a:solidFill>
              <a:srgbClr val="F3EEE3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222734" y="5999712"/>
            <a:ext cx="593522" cy="593522"/>
            <a:chOff x="0" y="0"/>
            <a:chExt cx="791362" cy="79136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91337" cy="791337"/>
            </a:xfrm>
            <a:custGeom>
              <a:avLst/>
              <a:gdLst/>
              <a:ahLst/>
              <a:cxnLst/>
              <a:rect r="r" b="b" t="t" l="l"/>
              <a:pathLst>
                <a:path h="791337" w="791337">
                  <a:moveTo>
                    <a:pt x="0" y="395732"/>
                  </a:moveTo>
                  <a:cubicBezTo>
                    <a:pt x="0" y="177165"/>
                    <a:pt x="177165" y="0"/>
                    <a:pt x="395732" y="0"/>
                  </a:cubicBezTo>
                  <a:cubicBezTo>
                    <a:pt x="614299" y="0"/>
                    <a:pt x="791337" y="177165"/>
                    <a:pt x="791337" y="395732"/>
                  </a:cubicBezTo>
                  <a:cubicBezTo>
                    <a:pt x="791337" y="614299"/>
                    <a:pt x="614172" y="791337"/>
                    <a:pt x="395732" y="791337"/>
                  </a:cubicBezTo>
                  <a:cubicBezTo>
                    <a:pt x="177292" y="791337"/>
                    <a:pt x="0" y="614172"/>
                    <a:pt x="0" y="395732"/>
                  </a:cubicBezTo>
                  <a:close/>
                </a:path>
              </a:pathLst>
            </a:custGeom>
            <a:solidFill>
              <a:srgbClr val="F3EEE3"/>
            </a:solidFill>
          </p:spPr>
        </p:sp>
      </p:grpSp>
      <p:sp>
        <p:nvSpPr>
          <p:cNvPr name="Freeform 36" id="36" descr="preencoded.png"/>
          <p:cNvSpPr/>
          <p:nvPr/>
        </p:nvSpPr>
        <p:spPr>
          <a:xfrm flipH="false" flipV="false" rot="0">
            <a:off x="9371114" y="6148092"/>
            <a:ext cx="296761" cy="296761"/>
          </a:xfrm>
          <a:custGeom>
            <a:avLst/>
            <a:gdLst/>
            <a:ahLst/>
            <a:cxnLst/>
            <a:rect r="r" b="b" t="t" l="l"/>
            <a:pathLst>
              <a:path h="296761" w="296761">
                <a:moveTo>
                  <a:pt x="0" y="0"/>
                </a:moveTo>
                <a:lnTo>
                  <a:pt x="296761" y="0"/>
                </a:lnTo>
                <a:lnTo>
                  <a:pt x="296761" y="296761"/>
                </a:lnTo>
                <a:lnTo>
                  <a:pt x="0" y="2967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4686" r="0" b="-4689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9420520" y="6703371"/>
            <a:ext cx="7328002" cy="403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9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Repeat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420520" y="7153723"/>
            <a:ext cx="7328002" cy="759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9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Continue until one cluster remains or the required number of clusters is formed.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41539" y="8240468"/>
            <a:ext cx="15604779" cy="403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937" b="true">
                <a:solidFill>
                  <a:srgbClr val="2B415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Example use case:</a:t>
            </a:r>
            <a:r>
              <a:rPr lang="en-US" sz="193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Customer segmentation — grouping shoppers by purchasing behavior without knowing the segments in advance.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0738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95350" y="990895"/>
            <a:ext cx="5595938" cy="72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375" b="true">
                <a:solidFill>
                  <a:srgbClr val="124E73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Linkage Criteria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5350" y="2056209"/>
            <a:ext cx="16497300" cy="917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Linkage criteria define </a:t>
            </a:r>
            <a:r>
              <a:rPr lang="en-US" sz="2187" b="true">
                <a:solidFill>
                  <a:srgbClr val="2B415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how the distance between two clusters is calculated</a:t>
            </a: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. This choice has a major impact on the shape and structure of the resulting clusters — different linkage methods produce fundamentally different groupings.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95350" y="3201295"/>
            <a:ext cx="8147599" cy="3144888"/>
            <a:chOff x="0" y="0"/>
            <a:chExt cx="10863466" cy="41931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63453" cy="4193286"/>
            </a:xfrm>
            <a:custGeom>
              <a:avLst/>
              <a:gdLst/>
              <a:ahLst/>
              <a:cxnLst/>
              <a:rect r="r" b="b" t="t" l="l"/>
              <a:pathLst>
                <a:path h="4193286" w="10863453">
                  <a:moveTo>
                    <a:pt x="0" y="44831"/>
                  </a:moveTo>
                  <a:cubicBezTo>
                    <a:pt x="0" y="20066"/>
                    <a:pt x="20066" y="0"/>
                    <a:pt x="44831" y="0"/>
                  </a:cubicBezTo>
                  <a:lnTo>
                    <a:pt x="10818622" y="0"/>
                  </a:lnTo>
                  <a:cubicBezTo>
                    <a:pt x="10843387" y="0"/>
                    <a:pt x="10863453" y="20066"/>
                    <a:pt x="10863453" y="44831"/>
                  </a:cubicBezTo>
                  <a:lnTo>
                    <a:pt x="10863453" y="4148455"/>
                  </a:lnTo>
                  <a:cubicBezTo>
                    <a:pt x="10863453" y="4173220"/>
                    <a:pt x="10843387" y="4193286"/>
                    <a:pt x="10818622" y="4193286"/>
                  </a:cubicBezTo>
                  <a:lnTo>
                    <a:pt x="44831" y="4193286"/>
                  </a:lnTo>
                  <a:cubicBezTo>
                    <a:pt x="20066" y="4193286"/>
                    <a:pt x="0" y="4173220"/>
                    <a:pt x="0" y="4148455"/>
                  </a:cubicBezTo>
                  <a:close/>
                </a:path>
              </a:pathLst>
            </a:custGeom>
            <a:solidFill>
              <a:srgbClr val="F3EEE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19188" y="3425133"/>
            <a:ext cx="671512" cy="671512"/>
            <a:chOff x="0" y="0"/>
            <a:chExt cx="895350" cy="8953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95350" cy="895350"/>
            </a:xfrm>
            <a:custGeom>
              <a:avLst/>
              <a:gdLst/>
              <a:ahLst/>
              <a:cxnLst/>
              <a:rect r="r" b="b" t="t" l="l"/>
              <a:pathLst>
                <a:path h="895350" w="895350">
                  <a:moveTo>
                    <a:pt x="0" y="447675"/>
                  </a:moveTo>
                  <a:cubicBezTo>
                    <a:pt x="0" y="200406"/>
                    <a:pt x="200406" y="0"/>
                    <a:pt x="447675" y="0"/>
                  </a:cubicBezTo>
                  <a:cubicBezTo>
                    <a:pt x="694944" y="0"/>
                    <a:pt x="895350" y="200406"/>
                    <a:pt x="895350" y="447675"/>
                  </a:cubicBezTo>
                  <a:cubicBezTo>
                    <a:pt x="895350" y="694944"/>
                    <a:pt x="694944" y="895350"/>
                    <a:pt x="447675" y="895350"/>
                  </a:cubicBezTo>
                  <a:cubicBezTo>
                    <a:pt x="200406" y="895350"/>
                    <a:pt x="0" y="694944"/>
                    <a:pt x="0" y="447675"/>
                  </a:cubicBezTo>
                  <a:close/>
                </a:path>
              </a:pathLst>
            </a:custGeom>
            <a:solidFill>
              <a:srgbClr val="325F7B"/>
            </a:solidFill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1303887" y="3609823"/>
            <a:ext cx="302123" cy="302123"/>
          </a:xfrm>
          <a:custGeom>
            <a:avLst/>
            <a:gdLst/>
            <a:ahLst/>
            <a:cxnLst/>
            <a:rect r="r" b="b" t="t" l="l"/>
            <a:pathLst>
              <a:path h="302123" w="302123">
                <a:moveTo>
                  <a:pt x="0" y="0"/>
                </a:moveTo>
                <a:lnTo>
                  <a:pt x="302123" y="0"/>
                </a:lnTo>
                <a:lnTo>
                  <a:pt x="302123" y="302123"/>
                </a:lnTo>
                <a:lnTo>
                  <a:pt x="0" y="3021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563" r="0" b="-156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19188" y="4231929"/>
            <a:ext cx="7699924" cy="492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Single Linkage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9188" y="4778721"/>
            <a:ext cx="7699924" cy="1343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Uses the </a:t>
            </a:r>
            <a:r>
              <a:rPr lang="en-US" sz="2187" b="true">
                <a:solidFill>
                  <a:srgbClr val="2B415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minimum</a:t>
            </a: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distance between any two points in different clusters. Tends to produce elongated, chain-like clusters. Sensitive to noise.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44908" y="3201295"/>
            <a:ext cx="8147742" cy="3144888"/>
            <a:chOff x="0" y="0"/>
            <a:chExt cx="10863656" cy="419318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63707" cy="4193286"/>
            </a:xfrm>
            <a:custGeom>
              <a:avLst/>
              <a:gdLst/>
              <a:ahLst/>
              <a:cxnLst/>
              <a:rect r="r" b="b" t="t" l="l"/>
              <a:pathLst>
                <a:path h="4193286" w="10863707">
                  <a:moveTo>
                    <a:pt x="0" y="44831"/>
                  </a:moveTo>
                  <a:cubicBezTo>
                    <a:pt x="0" y="20066"/>
                    <a:pt x="20066" y="0"/>
                    <a:pt x="44831" y="0"/>
                  </a:cubicBezTo>
                  <a:lnTo>
                    <a:pt x="10818876" y="0"/>
                  </a:lnTo>
                  <a:cubicBezTo>
                    <a:pt x="10843641" y="0"/>
                    <a:pt x="10863707" y="20066"/>
                    <a:pt x="10863707" y="44831"/>
                  </a:cubicBezTo>
                  <a:lnTo>
                    <a:pt x="10863707" y="4148455"/>
                  </a:lnTo>
                  <a:cubicBezTo>
                    <a:pt x="10863707" y="4173220"/>
                    <a:pt x="10843641" y="4193286"/>
                    <a:pt x="10818876" y="4193286"/>
                  </a:cubicBezTo>
                  <a:lnTo>
                    <a:pt x="44831" y="4193286"/>
                  </a:lnTo>
                  <a:cubicBezTo>
                    <a:pt x="20066" y="4193286"/>
                    <a:pt x="0" y="4173220"/>
                    <a:pt x="0" y="4148455"/>
                  </a:cubicBezTo>
                  <a:close/>
                </a:path>
              </a:pathLst>
            </a:custGeom>
            <a:solidFill>
              <a:srgbClr val="F3EEE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468745" y="3425133"/>
            <a:ext cx="671512" cy="671512"/>
            <a:chOff x="0" y="0"/>
            <a:chExt cx="895350" cy="8953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95350" cy="895350"/>
            </a:xfrm>
            <a:custGeom>
              <a:avLst/>
              <a:gdLst/>
              <a:ahLst/>
              <a:cxnLst/>
              <a:rect r="r" b="b" t="t" l="l"/>
              <a:pathLst>
                <a:path h="895350" w="895350">
                  <a:moveTo>
                    <a:pt x="0" y="447675"/>
                  </a:moveTo>
                  <a:cubicBezTo>
                    <a:pt x="0" y="200406"/>
                    <a:pt x="200406" y="0"/>
                    <a:pt x="447675" y="0"/>
                  </a:cubicBezTo>
                  <a:cubicBezTo>
                    <a:pt x="694944" y="0"/>
                    <a:pt x="895350" y="200406"/>
                    <a:pt x="895350" y="447675"/>
                  </a:cubicBezTo>
                  <a:cubicBezTo>
                    <a:pt x="895350" y="694944"/>
                    <a:pt x="694944" y="895350"/>
                    <a:pt x="447675" y="895350"/>
                  </a:cubicBezTo>
                  <a:cubicBezTo>
                    <a:pt x="200406" y="895350"/>
                    <a:pt x="0" y="694944"/>
                    <a:pt x="0" y="447675"/>
                  </a:cubicBezTo>
                  <a:close/>
                </a:path>
              </a:pathLst>
            </a:custGeom>
            <a:solidFill>
              <a:srgbClr val="325F7B"/>
            </a:solidFill>
          </p:spPr>
        </p:sp>
      </p:grpSp>
      <p:sp>
        <p:nvSpPr>
          <p:cNvPr name="Freeform 19" id="19" descr="preencoded.png"/>
          <p:cNvSpPr/>
          <p:nvPr/>
        </p:nvSpPr>
        <p:spPr>
          <a:xfrm flipH="false" flipV="false" rot="0">
            <a:off x="9653435" y="3609823"/>
            <a:ext cx="302123" cy="302123"/>
          </a:xfrm>
          <a:custGeom>
            <a:avLst/>
            <a:gdLst/>
            <a:ahLst/>
            <a:cxnLst/>
            <a:rect r="r" b="b" t="t" l="l"/>
            <a:pathLst>
              <a:path h="302123" w="302123">
                <a:moveTo>
                  <a:pt x="0" y="0"/>
                </a:moveTo>
                <a:lnTo>
                  <a:pt x="302124" y="0"/>
                </a:lnTo>
                <a:lnTo>
                  <a:pt x="302124" y="302123"/>
                </a:lnTo>
                <a:lnTo>
                  <a:pt x="0" y="3021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468745" y="4231929"/>
            <a:ext cx="7700067" cy="492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Complete Linkage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68745" y="4778721"/>
            <a:ext cx="7700067" cy="917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Uses the </a:t>
            </a:r>
            <a:r>
              <a:rPr lang="en-US" sz="2187" b="true">
                <a:solidFill>
                  <a:srgbClr val="2B415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maximum</a:t>
            </a: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distance between points. Produces tighter, more compact clusters. Less sensitive to outliers.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95350" y="6548142"/>
            <a:ext cx="8147599" cy="2719235"/>
            <a:chOff x="0" y="0"/>
            <a:chExt cx="10863466" cy="362564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863453" cy="3625723"/>
            </a:xfrm>
            <a:custGeom>
              <a:avLst/>
              <a:gdLst/>
              <a:ahLst/>
              <a:cxnLst/>
              <a:rect r="r" b="b" t="t" l="l"/>
              <a:pathLst>
                <a:path h="3625723" w="10863453">
                  <a:moveTo>
                    <a:pt x="0" y="44831"/>
                  </a:moveTo>
                  <a:cubicBezTo>
                    <a:pt x="0" y="20066"/>
                    <a:pt x="20066" y="0"/>
                    <a:pt x="44831" y="0"/>
                  </a:cubicBezTo>
                  <a:lnTo>
                    <a:pt x="10818622" y="0"/>
                  </a:lnTo>
                  <a:cubicBezTo>
                    <a:pt x="10843387" y="0"/>
                    <a:pt x="10863453" y="20066"/>
                    <a:pt x="10863453" y="44831"/>
                  </a:cubicBezTo>
                  <a:lnTo>
                    <a:pt x="10863453" y="3580892"/>
                  </a:lnTo>
                  <a:cubicBezTo>
                    <a:pt x="10863453" y="3605657"/>
                    <a:pt x="10843387" y="3625723"/>
                    <a:pt x="10818622" y="3625723"/>
                  </a:cubicBezTo>
                  <a:lnTo>
                    <a:pt x="44831" y="3625723"/>
                  </a:lnTo>
                  <a:cubicBezTo>
                    <a:pt x="20066" y="3625723"/>
                    <a:pt x="0" y="3605657"/>
                    <a:pt x="0" y="3580892"/>
                  </a:cubicBezTo>
                  <a:close/>
                </a:path>
              </a:pathLst>
            </a:custGeom>
            <a:solidFill>
              <a:srgbClr val="F3EEE3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19188" y="6771980"/>
            <a:ext cx="671512" cy="671512"/>
            <a:chOff x="0" y="0"/>
            <a:chExt cx="895350" cy="8953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95350" cy="895350"/>
            </a:xfrm>
            <a:custGeom>
              <a:avLst/>
              <a:gdLst/>
              <a:ahLst/>
              <a:cxnLst/>
              <a:rect r="r" b="b" t="t" l="l"/>
              <a:pathLst>
                <a:path h="895350" w="895350">
                  <a:moveTo>
                    <a:pt x="0" y="447675"/>
                  </a:moveTo>
                  <a:cubicBezTo>
                    <a:pt x="0" y="200406"/>
                    <a:pt x="200406" y="0"/>
                    <a:pt x="447675" y="0"/>
                  </a:cubicBezTo>
                  <a:cubicBezTo>
                    <a:pt x="694944" y="0"/>
                    <a:pt x="895350" y="200406"/>
                    <a:pt x="895350" y="447675"/>
                  </a:cubicBezTo>
                  <a:cubicBezTo>
                    <a:pt x="895350" y="694944"/>
                    <a:pt x="694944" y="895350"/>
                    <a:pt x="447675" y="895350"/>
                  </a:cubicBezTo>
                  <a:cubicBezTo>
                    <a:pt x="200406" y="895350"/>
                    <a:pt x="0" y="694944"/>
                    <a:pt x="0" y="447675"/>
                  </a:cubicBezTo>
                  <a:close/>
                </a:path>
              </a:pathLst>
            </a:custGeom>
            <a:solidFill>
              <a:srgbClr val="325F7B"/>
            </a:solidFill>
          </p:spPr>
        </p:sp>
      </p:grpSp>
      <p:sp>
        <p:nvSpPr>
          <p:cNvPr name="Freeform 26" id="26" descr="preencoded.png"/>
          <p:cNvSpPr/>
          <p:nvPr/>
        </p:nvSpPr>
        <p:spPr>
          <a:xfrm flipH="false" flipV="false" rot="0">
            <a:off x="1303887" y="6956669"/>
            <a:ext cx="302123" cy="302123"/>
          </a:xfrm>
          <a:custGeom>
            <a:avLst/>
            <a:gdLst/>
            <a:ahLst/>
            <a:cxnLst/>
            <a:rect r="r" b="b" t="t" l="l"/>
            <a:pathLst>
              <a:path h="302123" w="302123">
                <a:moveTo>
                  <a:pt x="0" y="0"/>
                </a:moveTo>
                <a:lnTo>
                  <a:pt x="302123" y="0"/>
                </a:lnTo>
                <a:lnTo>
                  <a:pt x="302123" y="302124"/>
                </a:lnTo>
                <a:lnTo>
                  <a:pt x="0" y="3021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0936" t="0" r="-10936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119188" y="7578776"/>
            <a:ext cx="7699924" cy="492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Average Linkage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19188" y="8125568"/>
            <a:ext cx="7699924" cy="917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Uses the </a:t>
            </a:r>
            <a:r>
              <a:rPr lang="en-US" sz="2187" b="true">
                <a:solidFill>
                  <a:srgbClr val="2B415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average</a:t>
            </a: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distance across all point pairs. A balanced compromise — widely used in practice.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244908" y="6548142"/>
            <a:ext cx="8147742" cy="2719235"/>
            <a:chOff x="0" y="0"/>
            <a:chExt cx="10863656" cy="362564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863707" cy="3625723"/>
            </a:xfrm>
            <a:custGeom>
              <a:avLst/>
              <a:gdLst/>
              <a:ahLst/>
              <a:cxnLst/>
              <a:rect r="r" b="b" t="t" l="l"/>
              <a:pathLst>
                <a:path h="3625723" w="10863707">
                  <a:moveTo>
                    <a:pt x="0" y="44831"/>
                  </a:moveTo>
                  <a:cubicBezTo>
                    <a:pt x="0" y="20066"/>
                    <a:pt x="20066" y="0"/>
                    <a:pt x="44831" y="0"/>
                  </a:cubicBezTo>
                  <a:lnTo>
                    <a:pt x="10818876" y="0"/>
                  </a:lnTo>
                  <a:cubicBezTo>
                    <a:pt x="10843641" y="0"/>
                    <a:pt x="10863707" y="20066"/>
                    <a:pt x="10863707" y="44831"/>
                  </a:cubicBezTo>
                  <a:lnTo>
                    <a:pt x="10863707" y="3580892"/>
                  </a:lnTo>
                  <a:cubicBezTo>
                    <a:pt x="10863707" y="3605657"/>
                    <a:pt x="10843641" y="3625723"/>
                    <a:pt x="10818876" y="3625723"/>
                  </a:cubicBezTo>
                  <a:lnTo>
                    <a:pt x="44831" y="3625723"/>
                  </a:lnTo>
                  <a:cubicBezTo>
                    <a:pt x="20066" y="3625723"/>
                    <a:pt x="0" y="3605657"/>
                    <a:pt x="0" y="3580892"/>
                  </a:cubicBezTo>
                  <a:close/>
                </a:path>
              </a:pathLst>
            </a:custGeom>
            <a:solidFill>
              <a:srgbClr val="F3EEE3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468745" y="6771980"/>
            <a:ext cx="671512" cy="671512"/>
            <a:chOff x="0" y="0"/>
            <a:chExt cx="895350" cy="8953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95350" cy="895350"/>
            </a:xfrm>
            <a:custGeom>
              <a:avLst/>
              <a:gdLst/>
              <a:ahLst/>
              <a:cxnLst/>
              <a:rect r="r" b="b" t="t" l="l"/>
              <a:pathLst>
                <a:path h="895350" w="895350">
                  <a:moveTo>
                    <a:pt x="0" y="447675"/>
                  </a:moveTo>
                  <a:cubicBezTo>
                    <a:pt x="0" y="200406"/>
                    <a:pt x="200406" y="0"/>
                    <a:pt x="447675" y="0"/>
                  </a:cubicBezTo>
                  <a:cubicBezTo>
                    <a:pt x="694944" y="0"/>
                    <a:pt x="895350" y="200406"/>
                    <a:pt x="895350" y="447675"/>
                  </a:cubicBezTo>
                  <a:cubicBezTo>
                    <a:pt x="895350" y="694944"/>
                    <a:pt x="694944" y="895350"/>
                    <a:pt x="447675" y="895350"/>
                  </a:cubicBezTo>
                  <a:cubicBezTo>
                    <a:pt x="200406" y="895350"/>
                    <a:pt x="0" y="694944"/>
                    <a:pt x="0" y="447675"/>
                  </a:cubicBezTo>
                  <a:close/>
                </a:path>
              </a:pathLst>
            </a:custGeom>
            <a:solidFill>
              <a:srgbClr val="325F7B"/>
            </a:solidFill>
          </p:spPr>
        </p:sp>
      </p:grpSp>
      <p:sp>
        <p:nvSpPr>
          <p:cNvPr name="Freeform 33" id="33" descr="preencoded.png"/>
          <p:cNvSpPr/>
          <p:nvPr/>
        </p:nvSpPr>
        <p:spPr>
          <a:xfrm flipH="false" flipV="false" rot="0">
            <a:off x="9653435" y="6956669"/>
            <a:ext cx="302123" cy="302123"/>
          </a:xfrm>
          <a:custGeom>
            <a:avLst/>
            <a:gdLst/>
            <a:ahLst/>
            <a:cxnLst/>
            <a:rect r="r" b="b" t="t" l="l"/>
            <a:pathLst>
              <a:path h="302123" w="302123">
                <a:moveTo>
                  <a:pt x="0" y="0"/>
                </a:moveTo>
                <a:lnTo>
                  <a:pt x="302124" y="0"/>
                </a:lnTo>
                <a:lnTo>
                  <a:pt x="302124" y="302124"/>
                </a:lnTo>
                <a:lnTo>
                  <a:pt x="0" y="3021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563" r="0" b="-156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9468745" y="7578776"/>
            <a:ext cx="7700067" cy="492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Centroid Linkage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468745" y="8125568"/>
            <a:ext cx="7700067" cy="917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Measures distance between </a:t>
            </a:r>
            <a:r>
              <a:rPr lang="en-US" sz="2187" b="true">
                <a:solidFill>
                  <a:srgbClr val="2B415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cluster centroids</a:t>
            </a: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. Can produce inversions in the dendrogram but is computationally efficient.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0738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93121" y="1177233"/>
            <a:ext cx="16501767" cy="490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Divisive Clustering &amp; Computational Complexity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32387" y="1894132"/>
            <a:ext cx="8299999" cy="7329783"/>
            <a:chOff x="0" y="0"/>
            <a:chExt cx="11066666" cy="977304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066653" cy="9773158"/>
            </a:xfrm>
            <a:custGeom>
              <a:avLst/>
              <a:gdLst/>
              <a:ahLst/>
              <a:cxnLst/>
              <a:rect r="r" b="b" t="t" l="l"/>
              <a:pathLst>
                <a:path h="9773158" w="11066653">
                  <a:moveTo>
                    <a:pt x="0" y="44704"/>
                  </a:moveTo>
                  <a:cubicBezTo>
                    <a:pt x="0" y="19939"/>
                    <a:pt x="19939" y="0"/>
                    <a:pt x="44704" y="0"/>
                  </a:cubicBezTo>
                  <a:lnTo>
                    <a:pt x="11021949" y="0"/>
                  </a:lnTo>
                  <a:cubicBezTo>
                    <a:pt x="11046587" y="0"/>
                    <a:pt x="11066653" y="19939"/>
                    <a:pt x="11066653" y="44704"/>
                  </a:cubicBezTo>
                  <a:lnTo>
                    <a:pt x="11066653" y="9728454"/>
                  </a:lnTo>
                  <a:cubicBezTo>
                    <a:pt x="11066653" y="9753092"/>
                    <a:pt x="11046714" y="9773158"/>
                    <a:pt x="11021949" y="9773158"/>
                  </a:cubicBezTo>
                  <a:lnTo>
                    <a:pt x="44704" y="9773158"/>
                  </a:lnTo>
                  <a:cubicBezTo>
                    <a:pt x="20066" y="9773158"/>
                    <a:pt x="0" y="9753219"/>
                    <a:pt x="0" y="9728454"/>
                  </a:cubicBezTo>
                  <a:close/>
                </a:path>
              </a:pathLst>
            </a:custGeom>
            <a:solidFill>
              <a:srgbClr val="C6C9DC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955624" y="2008289"/>
            <a:ext cx="7853515" cy="490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Divisive Clustering: Top-Down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5624" y="2613269"/>
            <a:ext cx="7853515" cy="914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opposite of agglomerative — starts with </a:t>
            </a:r>
            <a:r>
              <a:rPr lang="en-US" sz="2187" b="true">
                <a:solidFill>
                  <a:srgbClr val="2B415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all data points in one cluster</a:t>
            </a: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and recursively splits them into smaller groups.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5624" y="3651942"/>
            <a:ext cx="7853515" cy="1894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63922" indent="-131961" lvl="1">
              <a:lnSpc>
                <a:spcPts val="2625"/>
              </a:lnSpc>
              <a:buFont typeface="Arial"/>
              <a:buChar char="•"/>
            </a:pPr>
            <a:r>
              <a:rPr lang="en-US" sz="17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Begins with a single cluster containing all points</a:t>
            </a:r>
          </a:p>
          <a:p>
            <a:pPr algn="l" marL="263922" indent="-131961" lvl="1">
              <a:lnSpc>
                <a:spcPts val="2625"/>
              </a:lnSpc>
              <a:buFont typeface="Arial"/>
              <a:buChar char="•"/>
            </a:pPr>
            <a:r>
              <a:rPr lang="en-US" sz="17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Identifies the cluster to split (often using k-means with k=2)</a:t>
            </a:r>
          </a:p>
          <a:p>
            <a:pPr algn="l" marL="263922" indent="-131961" lvl="1">
              <a:lnSpc>
                <a:spcPts val="2625"/>
              </a:lnSpc>
              <a:buFont typeface="Arial"/>
              <a:buChar char="•"/>
            </a:pPr>
            <a:r>
              <a:rPr lang="en-US" sz="17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Repeats until each point is its own cluster or a stopping criterion is met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5624" y="5660384"/>
            <a:ext cx="7853515" cy="914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More computationally demanding and less commonly used in practice.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25883" y="2008289"/>
            <a:ext cx="7978531" cy="490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Complexity &amp; Limitations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411595" y="2710901"/>
            <a:ext cx="8007106" cy="1985515"/>
            <a:chOff x="0" y="0"/>
            <a:chExt cx="10676141" cy="264735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9050" y="19050"/>
              <a:ext cx="10638028" cy="2609215"/>
            </a:xfrm>
            <a:custGeom>
              <a:avLst/>
              <a:gdLst/>
              <a:ahLst/>
              <a:cxnLst/>
              <a:rect r="r" b="b" t="t" l="l"/>
              <a:pathLst>
                <a:path h="2609215" w="10638028">
                  <a:moveTo>
                    <a:pt x="0" y="182880"/>
                  </a:moveTo>
                  <a:cubicBezTo>
                    <a:pt x="0" y="81915"/>
                    <a:pt x="82804" y="0"/>
                    <a:pt x="184912" y="0"/>
                  </a:cubicBezTo>
                  <a:lnTo>
                    <a:pt x="10453116" y="0"/>
                  </a:lnTo>
                  <a:cubicBezTo>
                    <a:pt x="10555224" y="0"/>
                    <a:pt x="10638028" y="81915"/>
                    <a:pt x="10638028" y="182880"/>
                  </a:cubicBezTo>
                  <a:lnTo>
                    <a:pt x="10638028" y="2426335"/>
                  </a:lnTo>
                  <a:cubicBezTo>
                    <a:pt x="10638028" y="2527300"/>
                    <a:pt x="10555224" y="2609215"/>
                    <a:pt x="10453116" y="2609215"/>
                  </a:cubicBezTo>
                  <a:lnTo>
                    <a:pt x="184912" y="2609215"/>
                  </a:lnTo>
                  <a:cubicBezTo>
                    <a:pt x="82804" y="2609215"/>
                    <a:pt x="0" y="2527300"/>
                    <a:pt x="0" y="2426335"/>
                  </a:cubicBezTo>
                  <a:close/>
                </a:path>
              </a:pathLst>
            </a:custGeom>
            <a:solidFill>
              <a:srgbClr val="FFFCF5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676128" cy="2647315"/>
            </a:xfrm>
            <a:custGeom>
              <a:avLst/>
              <a:gdLst/>
              <a:ahLst/>
              <a:cxnLst/>
              <a:rect r="r" b="b" t="t" l="l"/>
              <a:pathLst>
                <a:path h="2647315" w="10676128">
                  <a:moveTo>
                    <a:pt x="0" y="201930"/>
                  </a:moveTo>
                  <a:cubicBezTo>
                    <a:pt x="0" y="90170"/>
                    <a:pt x="91567" y="0"/>
                    <a:pt x="203962" y="0"/>
                  </a:cubicBezTo>
                  <a:lnTo>
                    <a:pt x="10472166" y="0"/>
                  </a:lnTo>
                  <a:lnTo>
                    <a:pt x="10472166" y="19050"/>
                  </a:lnTo>
                  <a:lnTo>
                    <a:pt x="10472166" y="0"/>
                  </a:lnTo>
                  <a:cubicBezTo>
                    <a:pt x="10584561" y="0"/>
                    <a:pt x="10676128" y="90170"/>
                    <a:pt x="10676128" y="201930"/>
                  </a:cubicBezTo>
                  <a:lnTo>
                    <a:pt x="10657078" y="201930"/>
                  </a:lnTo>
                  <a:lnTo>
                    <a:pt x="10676128" y="201930"/>
                  </a:lnTo>
                  <a:lnTo>
                    <a:pt x="10676128" y="2445385"/>
                  </a:lnTo>
                  <a:lnTo>
                    <a:pt x="10657078" y="2445385"/>
                  </a:lnTo>
                  <a:lnTo>
                    <a:pt x="10676128" y="2445385"/>
                  </a:lnTo>
                  <a:cubicBezTo>
                    <a:pt x="10676128" y="2557145"/>
                    <a:pt x="10584561" y="2647315"/>
                    <a:pt x="10472166" y="2647315"/>
                  </a:cubicBezTo>
                  <a:lnTo>
                    <a:pt x="10472166" y="2628265"/>
                  </a:lnTo>
                  <a:lnTo>
                    <a:pt x="10472166" y="2647315"/>
                  </a:lnTo>
                  <a:lnTo>
                    <a:pt x="203962" y="2647315"/>
                  </a:lnTo>
                  <a:lnTo>
                    <a:pt x="203962" y="2628265"/>
                  </a:lnTo>
                  <a:lnTo>
                    <a:pt x="203962" y="2647315"/>
                  </a:lnTo>
                  <a:cubicBezTo>
                    <a:pt x="91567" y="2647315"/>
                    <a:pt x="0" y="2557145"/>
                    <a:pt x="0" y="2445385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445385"/>
                  </a:lnTo>
                  <a:lnTo>
                    <a:pt x="19050" y="2445385"/>
                  </a:lnTo>
                  <a:lnTo>
                    <a:pt x="38100" y="2445385"/>
                  </a:lnTo>
                  <a:cubicBezTo>
                    <a:pt x="38100" y="2535682"/>
                    <a:pt x="112141" y="2609215"/>
                    <a:pt x="203962" y="2609215"/>
                  </a:cubicBezTo>
                  <a:lnTo>
                    <a:pt x="10472166" y="2609215"/>
                  </a:lnTo>
                  <a:cubicBezTo>
                    <a:pt x="10563987" y="2609215"/>
                    <a:pt x="10638028" y="2535682"/>
                    <a:pt x="10638028" y="2445385"/>
                  </a:cubicBezTo>
                  <a:lnTo>
                    <a:pt x="10638028" y="201930"/>
                  </a:lnTo>
                  <a:cubicBezTo>
                    <a:pt x="10638028" y="111633"/>
                    <a:pt x="10563987" y="38100"/>
                    <a:pt x="10472166" y="38100"/>
                  </a:cubicBezTo>
                  <a:lnTo>
                    <a:pt x="203962" y="38100"/>
                  </a:lnTo>
                  <a:lnTo>
                    <a:pt x="203962" y="19050"/>
                  </a:lnTo>
                  <a:lnTo>
                    <a:pt x="203962" y="38100"/>
                  </a:lnTo>
                  <a:cubicBezTo>
                    <a:pt x="112141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D9D4C9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397308" y="2725188"/>
            <a:ext cx="114300" cy="1956940"/>
            <a:chOff x="0" y="0"/>
            <a:chExt cx="152400" cy="260925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2400" cy="2609342"/>
            </a:xfrm>
            <a:custGeom>
              <a:avLst/>
              <a:gdLst/>
              <a:ahLst/>
              <a:cxnLst/>
              <a:rect r="r" b="b" t="t" l="l"/>
              <a:pathLst>
                <a:path h="2609342" w="152400">
                  <a:moveTo>
                    <a:pt x="0" y="44704"/>
                  </a:moveTo>
                  <a:cubicBezTo>
                    <a:pt x="0" y="19939"/>
                    <a:pt x="19939" y="0"/>
                    <a:pt x="44704" y="0"/>
                  </a:cubicBezTo>
                  <a:lnTo>
                    <a:pt x="107696" y="0"/>
                  </a:lnTo>
                  <a:cubicBezTo>
                    <a:pt x="132461" y="0"/>
                    <a:pt x="152400" y="19939"/>
                    <a:pt x="152400" y="44704"/>
                  </a:cubicBezTo>
                  <a:lnTo>
                    <a:pt x="152400" y="2564638"/>
                  </a:lnTo>
                  <a:cubicBezTo>
                    <a:pt x="152400" y="2589276"/>
                    <a:pt x="132461" y="2609342"/>
                    <a:pt x="107696" y="2609342"/>
                  </a:cubicBezTo>
                  <a:lnTo>
                    <a:pt x="44704" y="2609342"/>
                  </a:lnTo>
                  <a:cubicBezTo>
                    <a:pt x="20066" y="2609342"/>
                    <a:pt x="0" y="2589403"/>
                    <a:pt x="0" y="2564638"/>
                  </a:cubicBezTo>
                  <a:close/>
                </a:path>
              </a:pathLst>
            </a:custGeom>
            <a:solidFill>
              <a:srgbClr val="325F7B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763420" y="2910335"/>
            <a:ext cx="7389171" cy="490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Agglomerative Complexity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63420" y="3515316"/>
            <a:ext cx="7389171" cy="914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 b="true">
                <a:solidFill>
                  <a:srgbClr val="2B415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O(n²) to O(n³)</a:t>
            </a: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— manageable for small datasets, but becomes prohibitive as </a:t>
            </a:r>
            <a:r>
              <a:rPr lang="en-US" sz="2187" i="true">
                <a:solidFill>
                  <a:srgbClr val="2B4150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n</a:t>
            </a: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grows.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411595" y="4868761"/>
            <a:ext cx="8007106" cy="1985515"/>
            <a:chOff x="0" y="0"/>
            <a:chExt cx="10676141" cy="264735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9050" y="19050"/>
              <a:ext cx="10638028" cy="2609215"/>
            </a:xfrm>
            <a:custGeom>
              <a:avLst/>
              <a:gdLst/>
              <a:ahLst/>
              <a:cxnLst/>
              <a:rect r="r" b="b" t="t" l="l"/>
              <a:pathLst>
                <a:path h="2609215" w="10638028">
                  <a:moveTo>
                    <a:pt x="0" y="182880"/>
                  </a:moveTo>
                  <a:cubicBezTo>
                    <a:pt x="0" y="81915"/>
                    <a:pt x="82804" y="0"/>
                    <a:pt x="184912" y="0"/>
                  </a:cubicBezTo>
                  <a:lnTo>
                    <a:pt x="10453116" y="0"/>
                  </a:lnTo>
                  <a:cubicBezTo>
                    <a:pt x="10555224" y="0"/>
                    <a:pt x="10638028" y="81915"/>
                    <a:pt x="10638028" y="182880"/>
                  </a:cubicBezTo>
                  <a:lnTo>
                    <a:pt x="10638028" y="2426335"/>
                  </a:lnTo>
                  <a:cubicBezTo>
                    <a:pt x="10638028" y="2527300"/>
                    <a:pt x="10555224" y="2609215"/>
                    <a:pt x="10453116" y="2609215"/>
                  </a:cubicBezTo>
                  <a:lnTo>
                    <a:pt x="184912" y="2609215"/>
                  </a:lnTo>
                  <a:cubicBezTo>
                    <a:pt x="82804" y="2609215"/>
                    <a:pt x="0" y="2527300"/>
                    <a:pt x="0" y="2426335"/>
                  </a:cubicBezTo>
                  <a:close/>
                </a:path>
              </a:pathLst>
            </a:custGeom>
            <a:solidFill>
              <a:srgbClr val="FFFCF5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676128" cy="2647315"/>
            </a:xfrm>
            <a:custGeom>
              <a:avLst/>
              <a:gdLst/>
              <a:ahLst/>
              <a:cxnLst/>
              <a:rect r="r" b="b" t="t" l="l"/>
              <a:pathLst>
                <a:path h="2647315" w="10676128">
                  <a:moveTo>
                    <a:pt x="0" y="201930"/>
                  </a:moveTo>
                  <a:cubicBezTo>
                    <a:pt x="0" y="90170"/>
                    <a:pt x="91567" y="0"/>
                    <a:pt x="203962" y="0"/>
                  </a:cubicBezTo>
                  <a:lnTo>
                    <a:pt x="10472166" y="0"/>
                  </a:lnTo>
                  <a:lnTo>
                    <a:pt x="10472166" y="19050"/>
                  </a:lnTo>
                  <a:lnTo>
                    <a:pt x="10472166" y="0"/>
                  </a:lnTo>
                  <a:cubicBezTo>
                    <a:pt x="10584561" y="0"/>
                    <a:pt x="10676128" y="90170"/>
                    <a:pt x="10676128" y="201930"/>
                  </a:cubicBezTo>
                  <a:lnTo>
                    <a:pt x="10657078" y="201930"/>
                  </a:lnTo>
                  <a:lnTo>
                    <a:pt x="10676128" y="201930"/>
                  </a:lnTo>
                  <a:lnTo>
                    <a:pt x="10676128" y="2445385"/>
                  </a:lnTo>
                  <a:lnTo>
                    <a:pt x="10657078" y="2445385"/>
                  </a:lnTo>
                  <a:lnTo>
                    <a:pt x="10676128" y="2445385"/>
                  </a:lnTo>
                  <a:cubicBezTo>
                    <a:pt x="10676128" y="2557145"/>
                    <a:pt x="10584561" y="2647315"/>
                    <a:pt x="10472166" y="2647315"/>
                  </a:cubicBezTo>
                  <a:lnTo>
                    <a:pt x="10472166" y="2628265"/>
                  </a:lnTo>
                  <a:lnTo>
                    <a:pt x="10472166" y="2647315"/>
                  </a:lnTo>
                  <a:lnTo>
                    <a:pt x="203962" y="2647315"/>
                  </a:lnTo>
                  <a:lnTo>
                    <a:pt x="203962" y="2628265"/>
                  </a:lnTo>
                  <a:lnTo>
                    <a:pt x="203962" y="2647315"/>
                  </a:lnTo>
                  <a:cubicBezTo>
                    <a:pt x="91567" y="2647315"/>
                    <a:pt x="0" y="2557145"/>
                    <a:pt x="0" y="2445385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445385"/>
                  </a:lnTo>
                  <a:lnTo>
                    <a:pt x="19050" y="2445385"/>
                  </a:lnTo>
                  <a:lnTo>
                    <a:pt x="38100" y="2445385"/>
                  </a:lnTo>
                  <a:cubicBezTo>
                    <a:pt x="38100" y="2535682"/>
                    <a:pt x="112141" y="2609215"/>
                    <a:pt x="203962" y="2609215"/>
                  </a:cubicBezTo>
                  <a:lnTo>
                    <a:pt x="10472166" y="2609215"/>
                  </a:lnTo>
                  <a:cubicBezTo>
                    <a:pt x="10563987" y="2609215"/>
                    <a:pt x="10638028" y="2535682"/>
                    <a:pt x="10638028" y="2445385"/>
                  </a:cubicBezTo>
                  <a:lnTo>
                    <a:pt x="10638028" y="201930"/>
                  </a:lnTo>
                  <a:cubicBezTo>
                    <a:pt x="10638028" y="111633"/>
                    <a:pt x="10563987" y="38100"/>
                    <a:pt x="10472166" y="38100"/>
                  </a:cubicBezTo>
                  <a:lnTo>
                    <a:pt x="203962" y="38100"/>
                  </a:lnTo>
                  <a:lnTo>
                    <a:pt x="203962" y="19050"/>
                  </a:lnTo>
                  <a:lnTo>
                    <a:pt x="203962" y="38100"/>
                  </a:lnTo>
                  <a:cubicBezTo>
                    <a:pt x="112141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D9D4C9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397308" y="4883048"/>
            <a:ext cx="114300" cy="1956940"/>
            <a:chOff x="0" y="0"/>
            <a:chExt cx="152400" cy="260925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2400" cy="2609342"/>
            </a:xfrm>
            <a:custGeom>
              <a:avLst/>
              <a:gdLst/>
              <a:ahLst/>
              <a:cxnLst/>
              <a:rect r="r" b="b" t="t" l="l"/>
              <a:pathLst>
                <a:path h="2609342" w="152400">
                  <a:moveTo>
                    <a:pt x="0" y="44704"/>
                  </a:moveTo>
                  <a:cubicBezTo>
                    <a:pt x="0" y="19939"/>
                    <a:pt x="19939" y="0"/>
                    <a:pt x="44704" y="0"/>
                  </a:cubicBezTo>
                  <a:lnTo>
                    <a:pt x="107696" y="0"/>
                  </a:lnTo>
                  <a:cubicBezTo>
                    <a:pt x="132461" y="0"/>
                    <a:pt x="152400" y="19939"/>
                    <a:pt x="152400" y="44704"/>
                  </a:cubicBezTo>
                  <a:lnTo>
                    <a:pt x="152400" y="2564638"/>
                  </a:lnTo>
                  <a:cubicBezTo>
                    <a:pt x="152400" y="2589276"/>
                    <a:pt x="132461" y="2609342"/>
                    <a:pt x="107696" y="2609342"/>
                  </a:cubicBezTo>
                  <a:lnTo>
                    <a:pt x="44704" y="2609342"/>
                  </a:lnTo>
                  <a:cubicBezTo>
                    <a:pt x="20066" y="2609342"/>
                    <a:pt x="0" y="2589403"/>
                    <a:pt x="0" y="2564638"/>
                  </a:cubicBezTo>
                  <a:close/>
                </a:path>
              </a:pathLst>
            </a:custGeom>
            <a:solidFill>
              <a:srgbClr val="325F7B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763420" y="5068195"/>
            <a:ext cx="7389171" cy="490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Divisive Complexity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763420" y="5673176"/>
            <a:ext cx="7389171" cy="914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 b="true">
                <a:solidFill>
                  <a:srgbClr val="2B415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Exponential</a:t>
            </a: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in the worst case — evaluating all possible splits is computationally infeasible for large data.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411595" y="7026621"/>
            <a:ext cx="8007106" cy="1985515"/>
            <a:chOff x="0" y="0"/>
            <a:chExt cx="10676141" cy="264735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9050" y="19050"/>
              <a:ext cx="10638028" cy="2609215"/>
            </a:xfrm>
            <a:custGeom>
              <a:avLst/>
              <a:gdLst/>
              <a:ahLst/>
              <a:cxnLst/>
              <a:rect r="r" b="b" t="t" l="l"/>
              <a:pathLst>
                <a:path h="2609215" w="10638028">
                  <a:moveTo>
                    <a:pt x="0" y="182880"/>
                  </a:moveTo>
                  <a:cubicBezTo>
                    <a:pt x="0" y="81915"/>
                    <a:pt x="82804" y="0"/>
                    <a:pt x="184912" y="0"/>
                  </a:cubicBezTo>
                  <a:lnTo>
                    <a:pt x="10453116" y="0"/>
                  </a:lnTo>
                  <a:cubicBezTo>
                    <a:pt x="10555224" y="0"/>
                    <a:pt x="10638028" y="81915"/>
                    <a:pt x="10638028" y="182880"/>
                  </a:cubicBezTo>
                  <a:lnTo>
                    <a:pt x="10638028" y="2426335"/>
                  </a:lnTo>
                  <a:cubicBezTo>
                    <a:pt x="10638028" y="2527300"/>
                    <a:pt x="10555224" y="2609215"/>
                    <a:pt x="10453116" y="2609215"/>
                  </a:cubicBezTo>
                  <a:lnTo>
                    <a:pt x="184912" y="2609215"/>
                  </a:lnTo>
                  <a:cubicBezTo>
                    <a:pt x="82804" y="2609215"/>
                    <a:pt x="0" y="2527300"/>
                    <a:pt x="0" y="2426335"/>
                  </a:cubicBezTo>
                  <a:close/>
                </a:path>
              </a:pathLst>
            </a:custGeom>
            <a:solidFill>
              <a:srgbClr val="FFFCF5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676128" cy="2647315"/>
            </a:xfrm>
            <a:custGeom>
              <a:avLst/>
              <a:gdLst/>
              <a:ahLst/>
              <a:cxnLst/>
              <a:rect r="r" b="b" t="t" l="l"/>
              <a:pathLst>
                <a:path h="2647315" w="10676128">
                  <a:moveTo>
                    <a:pt x="0" y="201930"/>
                  </a:moveTo>
                  <a:cubicBezTo>
                    <a:pt x="0" y="90170"/>
                    <a:pt x="91567" y="0"/>
                    <a:pt x="203962" y="0"/>
                  </a:cubicBezTo>
                  <a:lnTo>
                    <a:pt x="10472166" y="0"/>
                  </a:lnTo>
                  <a:lnTo>
                    <a:pt x="10472166" y="19050"/>
                  </a:lnTo>
                  <a:lnTo>
                    <a:pt x="10472166" y="0"/>
                  </a:lnTo>
                  <a:cubicBezTo>
                    <a:pt x="10584561" y="0"/>
                    <a:pt x="10676128" y="90170"/>
                    <a:pt x="10676128" y="201930"/>
                  </a:cubicBezTo>
                  <a:lnTo>
                    <a:pt x="10657078" y="201930"/>
                  </a:lnTo>
                  <a:lnTo>
                    <a:pt x="10676128" y="201930"/>
                  </a:lnTo>
                  <a:lnTo>
                    <a:pt x="10676128" y="2445385"/>
                  </a:lnTo>
                  <a:lnTo>
                    <a:pt x="10657078" y="2445385"/>
                  </a:lnTo>
                  <a:lnTo>
                    <a:pt x="10676128" y="2445385"/>
                  </a:lnTo>
                  <a:cubicBezTo>
                    <a:pt x="10676128" y="2557145"/>
                    <a:pt x="10584561" y="2647315"/>
                    <a:pt x="10472166" y="2647315"/>
                  </a:cubicBezTo>
                  <a:lnTo>
                    <a:pt x="10472166" y="2628265"/>
                  </a:lnTo>
                  <a:lnTo>
                    <a:pt x="10472166" y="2647315"/>
                  </a:lnTo>
                  <a:lnTo>
                    <a:pt x="203962" y="2647315"/>
                  </a:lnTo>
                  <a:lnTo>
                    <a:pt x="203962" y="2628265"/>
                  </a:lnTo>
                  <a:lnTo>
                    <a:pt x="203962" y="2647315"/>
                  </a:lnTo>
                  <a:cubicBezTo>
                    <a:pt x="91567" y="2647315"/>
                    <a:pt x="0" y="2557145"/>
                    <a:pt x="0" y="2445385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445385"/>
                  </a:lnTo>
                  <a:lnTo>
                    <a:pt x="19050" y="2445385"/>
                  </a:lnTo>
                  <a:lnTo>
                    <a:pt x="38100" y="2445385"/>
                  </a:lnTo>
                  <a:cubicBezTo>
                    <a:pt x="38100" y="2535682"/>
                    <a:pt x="112141" y="2609215"/>
                    <a:pt x="203962" y="2609215"/>
                  </a:cubicBezTo>
                  <a:lnTo>
                    <a:pt x="10472166" y="2609215"/>
                  </a:lnTo>
                  <a:cubicBezTo>
                    <a:pt x="10563987" y="2609215"/>
                    <a:pt x="10638028" y="2535682"/>
                    <a:pt x="10638028" y="2445385"/>
                  </a:cubicBezTo>
                  <a:lnTo>
                    <a:pt x="10638028" y="201930"/>
                  </a:lnTo>
                  <a:cubicBezTo>
                    <a:pt x="10638028" y="111633"/>
                    <a:pt x="10563987" y="38100"/>
                    <a:pt x="10472166" y="38100"/>
                  </a:cubicBezTo>
                  <a:lnTo>
                    <a:pt x="203962" y="38100"/>
                  </a:lnTo>
                  <a:lnTo>
                    <a:pt x="203962" y="19050"/>
                  </a:lnTo>
                  <a:lnTo>
                    <a:pt x="203962" y="38100"/>
                  </a:lnTo>
                  <a:cubicBezTo>
                    <a:pt x="112141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D9D4C9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397308" y="7040909"/>
            <a:ext cx="114300" cy="1956940"/>
            <a:chOff x="0" y="0"/>
            <a:chExt cx="152400" cy="260925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52400" cy="2609342"/>
            </a:xfrm>
            <a:custGeom>
              <a:avLst/>
              <a:gdLst/>
              <a:ahLst/>
              <a:cxnLst/>
              <a:rect r="r" b="b" t="t" l="l"/>
              <a:pathLst>
                <a:path h="2609342" w="152400">
                  <a:moveTo>
                    <a:pt x="0" y="44704"/>
                  </a:moveTo>
                  <a:cubicBezTo>
                    <a:pt x="0" y="19939"/>
                    <a:pt x="19939" y="0"/>
                    <a:pt x="44704" y="0"/>
                  </a:cubicBezTo>
                  <a:lnTo>
                    <a:pt x="107696" y="0"/>
                  </a:lnTo>
                  <a:cubicBezTo>
                    <a:pt x="132461" y="0"/>
                    <a:pt x="152400" y="19939"/>
                    <a:pt x="152400" y="44704"/>
                  </a:cubicBezTo>
                  <a:lnTo>
                    <a:pt x="152400" y="2564638"/>
                  </a:lnTo>
                  <a:cubicBezTo>
                    <a:pt x="152400" y="2589276"/>
                    <a:pt x="132461" y="2609342"/>
                    <a:pt x="107696" y="2609342"/>
                  </a:cubicBezTo>
                  <a:lnTo>
                    <a:pt x="44704" y="2609342"/>
                  </a:lnTo>
                  <a:cubicBezTo>
                    <a:pt x="20066" y="2609342"/>
                    <a:pt x="0" y="2589403"/>
                    <a:pt x="0" y="2564638"/>
                  </a:cubicBezTo>
                  <a:close/>
                </a:path>
              </a:pathLst>
            </a:custGeom>
            <a:solidFill>
              <a:srgbClr val="325F7B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9763420" y="7226056"/>
            <a:ext cx="7389171" cy="490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Key Limitations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763420" y="7831036"/>
            <a:ext cx="7389171" cy="914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Not suitable for large datasets. Sensitive to noise and outliers. </a:t>
            </a:r>
            <a:r>
              <a:rPr lang="en-US" sz="2187" b="true">
                <a:solidFill>
                  <a:srgbClr val="2B415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No backtracking</a:t>
            </a:r>
            <a:r>
              <a:rPr lang="en-US" sz="2187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— early mistakes cannot be undone.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0738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779814" y="1916611"/>
            <a:ext cx="7489327" cy="532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3125" b="true">
                <a:solidFill>
                  <a:srgbClr val="124E73"/>
                </a:solidFill>
                <a:latin typeface="Museo Moderno Medium"/>
                <a:ea typeface="Museo Moderno Medium"/>
                <a:cs typeface="Museo Moderno Medium"/>
                <a:sym typeface="Museo Moderno Medium"/>
              </a:rPr>
              <a:t>Comparison, Applications &amp; 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79814" y="2691851"/>
            <a:ext cx="6167142" cy="27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62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Agglomerative vs Divisive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775052" y="3081042"/>
            <a:ext cx="6441872" cy="2214659"/>
            <a:chOff x="0" y="0"/>
            <a:chExt cx="8235556" cy="28313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35569" cy="2831338"/>
            </a:xfrm>
            <a:custGeom>
              <a:avLst/>
              <a:gdLst/>
              <a:ahLst/>
              <a:cxnLst/>
              <a:rect r="r" b="b" t="t" l="l"/>
              <a:pathLst>
                <a:path h="2831338" w="8235569">
                  <a:moveTo>
                    <a:pt x="0" y="38608"/>
                  </a:moveTo>
                  <a:cubicBezTo>
                    <a:pt x="0" y="17272"/>
                    <a:pt x="17399" y="0"/>
                    <a:pt x="38735" y="0"/>
                  </a:cubicBezTo>
                  <a:lnTo>
                    <a:pt x="8196834" y="0"/>
                  </a:lnTo>
                  <a:lnTo>
                    <a:pt x="8196834" y="6350"/>
                  </a:lnTo>
                  <a:lnTo>
                    <a:pt x="8196834" y="0"/>
                  </a:lnTo>
                  <a:cubicBezTo>
                    <a:pt x="8218170" y="0"/>
                    <a:pt x="8235569" y="17272"/>
                    <a:pt x="8235569" y="38608"/>
                  </a:cubicBezTo>
                  <a:lnTo>
                    <a:pt x="8229219" y="38608"/>
                  </a:lnTo>
                  <a:lnTo>
                    <a:pt x="8235569" y="38608"/>
                  </a:lnTo>
                  <a:lnTo>
                    <a:pt x="8235569" y="2792730"/>
                  </a:lnTo>
                  <a:lnTo>
                    <a:pt x="8229219" y="2792730"/>
                  </a:lnTo>
                  <a:lnTo>
                    <a:pt x="8235569" y="2792730"/>
                  </a:lnTo>
                  <a:cubicBezTo>
                    <a:pt x="8235569" y="2814066"/>
                    <a:pt x="8218170" y="2831338"/>
                    <a:pt x="8196834" y="2831338"/>
                  </a:cubicBezTo>
                  <a:lnTo>
                    <a:pt x="8196834" y="2824988"/>
                  </a:lnTo>
                  <a:lnTo>
                    <a:pt x="8196834" y="2831338"/>
                  </a:lnTo>
                  <a:lnTo>
                    <a:pt x="38735" y="2831338"/>
                  </a:lnTo>
                  <a:lnTo>
                    <a:pt x="38735" y="2824988"/>
                  </a:lnTo>
                  <a:lnTo>
                    <a:pt x="38735" y="2831338"/>
                  </a:lnTo>
                  <a:cubicBezTo>
                    <a:pt x="17399" y="2831338"/>
                    <a:pt x="0" y="2814066"/>
                    <a:pt x="0" y="2792730"/>
                  </a:cubicBezTo>
                  <a:lnTo>
                    <a:pt x="0" y="38608"/>
                  </a:lnTo>
                  <a:lnTo>
                    <a:pt x="6350" y="38608"/>
                  </a:lnTo>
                  <a:lnTo>
                    <a:pt x="0" y="38608"/>
                  </a:lnTo>
                  <a:moveTo>
                    <a:pt x="12700" y="38608"/>
                  </a:moveTo>
                  <a:lnTo>
                    <a:pt x="12700" y="2792730"/>
                  </a:lnTo>
                  <a:lnTo>
                    <a:pt x="6350" y="2792730"/>
                  </a:lnTo>
                  <a:lnTo>
                    <a:pt x="12700" y="2792730"/>
                  </a:lnTo>
                  <a:cubicBezTo>
                    <a:pt x="12700" y="2807081"/>
                    <a:pt x="24384" y="2818638"/>
                    <a:pt x="38735" y="2818638"/>
                  </a:cubicBezTo>
                  <a:lnTo>
                    <a:pt x="8196834" y="2818638"/>
                  </a:lnTo>
                  <a:cubicBezTo>
                    <a:pt x="8211185" y="2818638"/>
                    <a:pt x="8222869" y="2806954"/>
                    <a:pt x="8222869" y="2792730"/>
                  </a:cubicBezTo>
                  <a:lnTo>
                    <a:pt x="8222869" y="38608"/>
                  </a:lnTo>
                  <a:cubicBezTo>
                    <a:pt x="8222869" y="24257"/>
                    <a:pt x="8211185" y="12700"/>
                    <a:pt x="8196834" y="12700"/>
                  </a:cubicBezTo>
                  <a:lnTo>
                    <a:pt x="38735" y="12700"/>
                  </a:lnTo>
                  <a:lnTo>
                    <a:pt x="38735" y="6350"/>
                  </a:lnTo>
                  <a:lnTo>
                    <a:pt x="38735" y="12700"/>
                  </a:lnTo>
                  <a:cubicBezTo>
                    <a:pt x="24384" y="12700"/>
                    <a:pt x="12700" y="24384"/>
                    <a:pt x="12700" y="38608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950664" y="3158280"/>
            <a:ext cx="2131809" cy="27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62" b="true">
                <a:solidFill>
                  <a:srgbClr val="2B415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Aspect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14667" y="3158280"/>
            <a:ext cx="1512246" cy="27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62" b="true">
                <a:solidFill>
                  <a:srgbClr val="2B415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Agglomerative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59088" y="3158280"/>
            <a:ext cx="1517009" cy="27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62" b="true">
                <a:solidFill>
                  <a:srgbClr val="2B415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Divisive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950664" y="3579171"/>
            <a:ext cx="2131809" cy="27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62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Direction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414667" y="3579171"/>
            <a:ext cx="1512246" cy="27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62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Bottom-Up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259088" y="3579171"/>
            <a:ext cx="1517009" cy="27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62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Top-Down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50664" y="4000052"/>
            <a:ext cx="2131809" cy="27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62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Approach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414667" y="4000052"/>
            <a:ext cx="1512246" cy="27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62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Merging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259088" y="4000052"/>
            <a:ext cx="1517009" cy="27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62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Splitting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950664" y="4420943"/>
            <a:ext cx="2131809" cy="27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62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Complexity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414667" y="4420943"/>
            <a:ext cx="1512246" cy="27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62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O(n²–n³)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259088" y="4420943"/>
            <a:ext cx="1517009" cy="27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62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Exponential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950664" y="4841824"/>
            <a:ext cx="2131809" cy="27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62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Usage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414667" y="4841824"/>
            <a:ext cx="1512246" cy="27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62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Widely used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259088" y="4841824"/>
            <a:ext cx="1517009" cy="27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62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Less common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50273" y="2691851"/>
            <a:ext cx="6167142" cy="27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62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Real-World Applications</a:t>
            </a:r>
          </a:p>
        </p:txBody>
      </p:sp>
      <p:sp>
        <p:nvSpPr>
          <p:cNvPr name="Freeform 26" id="26" descr="preencoded.png"/>
          <p:cNvSpPr/>
          <p:nvPr/>
        </p:nvSpPr>
        <p:spPr>
          <a:xfrm flipH="false" flipV="false" rot="0">
            <a:off x="9350273" y="3085805"/>
            <a:ext cx="403469" cy="403469"/>
          </a:xfrm>
          <a:custGeom>
            <a:avLst/>
            <a:gdLst/>
            <a:ahLst/>
            <a:cxnLst/>
            <a:rect r="r" b="b" t="t" l="l"/>
            <a:pathLst>
              <a:path h="403469" w="403469">
                <a:moveTo>
                  <a:pt x="0" y="0"/>
                </a:moveTo>
                <a:lnTo>
                  <a:pt x="403470" y="0"/>
                </a:lnTo>
                <a:lnTo>
                  <a:pt x="403470" y="403469"/>
                </a:lnTo>
                <a:lnTo>
                  <a:pt x="0" y="4034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59302" r="0" b="-59302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9885016" y="3076280"/>
            <a:ext cx="2483196" cy="27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62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Bioinformatics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885016" y="3437182"/>
            <a:ext cx="2483196" cy="80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62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Gene expression clustering and phylogenetic tree construction.</a:t>
            </a:r>
          </a:p>
        </p:txBody>
      </p:sp>
      <p:sp>
        <p:nvSpPr>
          <p:cNvPr name="Freeform 29" id="29" descr="preencoded.png"/>
          <p:cNvSpPr/>
          <p:nvPr/>
        </p:nvSpPr>
        <p:spPr>
          <a:xfrm flipH="false" flipV="false" rot="0">
            <a:off x="12499477" y="3085805"/>
            <a:ext cx="403469" cy="403469"/>
          </a:xfrm>
          <a:custGeom>
            <a:avLst/>
            <a:gdLst/>
            <a:ahLst/>
            <a:cxnLst/>
            <a:rect r="r" b="b" t="t" l="l"/>
            <a:pathLst>
              <a:path h="403469" w="403469">
                <a:moveTo>
                  <a:pt x="0" y="0"/>
                </a:moveTo>
                <a:lnTo>
                  <a:pt x="403469" y="0"/>
                </a:lnTo>
                <a:lnTo>
                  <a:pt x="403469" y="403469"/>
                </a:lnTo>
                <a:lnTo>
                  <a:pt x="0" y="4034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3489" t="0" r="-3489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3034220" y="3076280"/>
            <a:ext cx="2483196" cy="27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62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Customer Segmentation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034220" y="3437182"/>
            <a:ext cx="2483196" cy="80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62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Grouping consumers by behavior for targeted marketing.</a:t>
            </a:r>
          </a:p>
        </p:txBody>
      </p:sp>
      <p:sp>
        <p:nvSpPr>
          <p:cNvPr name="Freeform 32" id="32" descr="preencoded.png"/>
          <p:cNvSpPr/>
          <p:nvPr/>
        </p:nvSpPr>
        <p:spPr>
          <a:xfrm flipH="false" flipV="false" rot="0">
            <a:off x="9350273" y="4455909"/>
            <a:ext cx="403469" cy="403469"/>
          </a:xfrm>
          <a:custGeom>
            <a:avLst/>
            <a:gdLst/>
            <a:ahLst/>
            <a:cxnLst/>
            <a:rect r="r" b="b" t="t" l="l"/>
            <a:pathLst>
              <a:path h="403469" w="403469">
                <a:moveTo>
                  <a:pt x="0" y="0"/>
                </a:moveTo>
                <a:lnTo>
                  <a:pt x="403470" y="0"/>
                </a:lnTo>
                <a:lnTo>
                  <a:pt x="403470" y="403470"/>
                </a:lnTo>
                <a:lnTo>
                  <a:pt x="0" y="4034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1629" r="0" b="-11626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9885016" y="4446384"/>
            <a:ext cx="2483196" cy="27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62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Document Classification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885016" y="4807296"/>
            <a:ext cx="2483196" cy="542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62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Organizing text corpora into topic-based hierarchies.</a:t>
            </a:r>
          </a:p>
        </p:txBody>
      </p:sp>
      <p:sp>
        <p:nvSpPr>
          <p:cNvPr name="Freeform 35" id="35" descr="preencoded.png"/>
          <p:cNvSpPr/>
          <p:nvPr/>
        </p:nvSpPr>
        <p:spPr>
          <a:xfrm flipH="false" flipV="false" rot="0">
            <a:off x="12499477" y="4455909"/>
            <a:ext cx="403469" cy="403469"/>
          </a:xfrm>
          <a:custGeom>
            <a:avLst/>
            <a:gdLst/>
            <a:ahLst/>
            <a:cxnLst/>
            <a:rect r="r" b="b" t="t" l="l"/>
            <a:pathLst>
              <a:path h="403469" w="403469">
                <a:moveTo>
                  <a:pt x="0" y="0"/>
                </a:moveTo>
                <a:lnTo>
                  <a:pt x="403469" y="0"/>
                </a:lnTo>
                <a:lnTo>
                  <a:pt x="403469" y="403470"/>
                </a:lnTo>
                <a:lnTo>
                  <a:pt x="0" y="4034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163" t="0" r="-1161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3034220" y="4446384"/>
            <a:ext cx="2483196" cy="27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62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Image Segmentation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034220" y="4807296"/>
            <a:ext cx="2483196" cy="80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62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Partitioning images into meaningful regions for computer vision.</a:t>
            </a:r>
          </a:p>
        </p:txBody>
      </p:sp>
      <p:sp>
        <p:nvSpPr>
          <p:cNvPr name="Freeform 38" id="38" descr="preencoded.png"/>
          <p:cNvSpPr/>
          <p:nvPr/>
        </p:nvSpPr>
        <p:spPr>
          <a:xfrm flipH="false" flipV="false" rot="0">
            <a:off x="9350273" y="5826023"/>
            <a:ext cx="403469" cy="403469"/>
          </a:xfrm>
          <a:custGeom>
            <a:avLst/>
            <a:gdLst/>
            <a:ahLst/>
            <a:cxnLst/>
            <a:rect r="r" b="b" t="t" l="l"/>
            <a:pathLst>
              <a:path h="403469" w="403469">
                <a:moveTo>
                  <a:pt x="0" y="0"/>
                </a:moveTo>
                <a:lnTo>
                  <a:pt x="403470" y="0"/>
                </a:lnTo>
                <a:lnTo>
                  <a:pt x="403470" y="403470"/>
                </a:lnTo>
                <a:lnTo>
                  <a:pt x="0" y="40347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2325" r="0" b="-2327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9885016" y="5816498"/>
            <a:ext cx="2483196" cy="27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62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Social Networks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885016" y="6177410"/>
            <a:ext cx="2483196" cy="80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62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Identifying communities and influence clusters within networks.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2779814" y="7222179"/>
            <a:ext cx="12728229" cy="1119635"/>
            <a:chOff x="0" y="0"/>
            <a:chExt cx="16970972" cy="149284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6971011" cy="1492885"/>
            </a:xfrm>
            <a:custGeom>
              <a:avLst/>
              <a:gdLst/>
              <a:ahLst/>
              <a:cxnLst/>
              <a:rect r="r" b="b" t="t" l="l"/>
              <a:pathLst>
                <a:path h="1492885" w="16971011">
                  <a:moveTo>
                    <a:pt x="0" y="32258"/>
                  </a:moveTo>
                  <a:cubicBezTo>
                    <a:pt x="0" y="14478"/>
                    <a:pt x="14478" y="0"/>
                    <a:pt x="32258" y="0"/>
                  </a:cubicBezTo>
                  <a:lnTo>
                    <a:pt x="16938752" y="0"/>
                  </a:lnTo>
                  <a:cubicBezTo>
                    <a:pt x="16956532" y="0"/>
                    <a:pt x="16971011" y="14478"/>
                    <a:pt x="16971011" y="32258"/>
                  </a:cubicBezTo>
                  <a:lnTo>
                    <a:pt x="16971011" y="1460627"/>
                  </a:lnTo>
                  <a:cubicBezTo>
                    <a:pt x="16971011" y="1478407"/>
                    <a:pt x="16956532" y="1492885"/>
                    <a:pt x="16938752" y="1492885"/>
                  </a:cubicBezTo>
                  <a:lnTo>
                    <a:pt x="32258" y="1492885"/>
                  </a:lnTo>
                  <a:cubicBezTo>
                    <a:pt x="14478" y="1492885"/>
                    <a:pt x="0" y="1478407"/>
                    <a:pt x="0" y="1460627"/>
                  </a:cubicBezTo>
                  <a:close/>
                </a:path>
              </a:pathLst>
            </a:custGeom>
            <a:solidFill>
              <a:srgbClr val="C9DDE9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2941139" y="7381427"/>
            <a:ext cx="252117" cy="201663"/>
            <a:chOff x="0" y="0"/>
            <a:chExt cx="336156" cy="268884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336169" cy="268859"/>
            </a:xfrm>
            <a:custGeom>
              <a:avLst/>
              <a:gdLst/>
              <a:ahLst/>
              <a:cxnLst/>
              <a:rect r="r" b="b" t="t" l="l"/>
              <a:pathLst>
                <a:path h="268859" w="336169">
                  <a:moveTo>
                    <a:pt x="0" y="0"/>
                  </a:moveTo>
                  <a:lnTo>
                    <a:pt x="336169" y="0"/>
                  </a:lnTo>
                  <a:lnTo>
                    <a:pt x="336169" y="268859"/>
                  </a:lnTo>
                  <a:lnTo>
                    <a:pt x="0" y="268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486" r="3" b="-500"/>
              </a:stretch>
            </a:blip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3354591" y="7357910"/>
            <a:ext cx="11992127" cy="80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62" b="true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Key Takeaway:</a:t>
            </a:r>
            <a:r>
              <a:rPr lang="en-US" sz="1562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Hierarchical clustering builds </a:t>
            </a:r>
            <a:r>
              <a:rPr lang="en-US" sz="1562" b="true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multi-level, nested clusters</a:t>
            </a:r>
            <a:r>
              <a:rPr lang="en-US" sz="1562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without requiring a predefined </a:t>
            </a:r>
            <a:r>
              <a:rPr lang="en-US" sz="1562" i="true">
                <a:solidFill>
                  <a:srgbClr val="000000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k</a:t>
            </a:r>
            <a:r>
              <a:rPr lang="en-US" sz="1562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. The dendrogram enables intuitive visualization and informed decision-making. </a:t>
            </a:r>
            <a:r>
              <a:rPr lang="en-US" sz="1562" b="true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Agglomerative clustering</a:t>
            </a:r>
            <a:r>
              <a:rPr lang="en-US" sz="1562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remains the go-to method — balancing interpretability, flexibility, and practical performance across a wide range of data science applications.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45607" y="1470805"/>
            <a:ext cx="8239687" cy="1770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01"/>
              </a:lnSpc>
            </a:pPr>
            <a:r>
              <a:rPr lang="en-US" sz="1035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650431" y="4652327"/>
            <a:ext cx="1386066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BY : Jahanvi Srivastava(RA2311003011082)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DAHG5OmE_2g</dc:identifier>
  <dcterms:modified xsi:type="dcterms:W3CDTF">2011-08-01T06:04:30Z</dcterms:modified>
  <cp:revision>1</cp:revision>
  <dc:title>Hierarchical-Clustering (1).pptx</dc:title>
</cp:coreProperties>
</file>