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etrona Bold" charset="1" panose="00000000000000000000"/>
      <p:regular r:id="rId20"/>
    </p:embeddedFont>
    <p:embeddedFont>
      <p:font typeface="Inter" charset="1" panose="02000503000000020004"/>
      <p:regular r:id="rId21"/>
    </p:embeddedFont>
    <p:embeddedFont>
      <p:font typeface="Inter Bold" charset="1" panose="02000503000000020004"/>
      <p:regular r:id="rId31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1954111"/>
            <a:ext cx="9445523" cy="190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Patterns in Data Mining: An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01868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pattern is a regularity, relationship, trend, or structure found within data. It transforms raw data into meaningful knowledge.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7434" y="5746994"/>
            <a:ext cx="902032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pattern is a representation of knowledge discovered from large datasets that reveals frequent occurrences, correlations, deviations, or structures useful for decision-making.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5513784"/>
            <a:ext cx="38100" cy="1998764"/>
            <a:chOff x="0" y="0"/>
            <a:chExt cx="50800" cy="26650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2664968"/>
            </a:xfrm>
            <a:custGeom>
              <a:avLst/>
              <a:gdLst/>
              <a:ahLst/>
              <a:cxnLst/>
              <a:rect r="r" b="b" t="t" l="l"/>
              <a:pathLst>
                <a:path h="2664968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4968"/>
                  </a:lnTo>
                  <a:lnTo>
                    <a:pt x="0" y="2664968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7745759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Think of it as finding gold nuggets in a river of sand.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0238" y="942384"/>
            <a:ext cx="9445523" cy="15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Characteristics &amp; Importance of Patterns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45476" y="2726827"/>
            <a:ext cx="4641504" cy="2477986"/>
            <a:chOff x="0" y="0"/>
            <a:chExt cx="6188672" cy="33039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176010" cy="3291332"/>
            </a:xfrm>
            <a:custGeom>
              <a:avLst/>
              <a:gdLst/>
              <a:ahLst/>
              <a:cxnLst/>
              <a:rect r="r" b="b" t="t" l="l"/>
              <a:pathLst>
                <a:path h="3291332" w="6176010">
                  <a:moveTo>
                    <a:pt x="0" y="127000"/>
                  </a:moveTo>
                  <a:cubicBezTo>
                    <a:pt x="0" y="56896"/>
                    <a:pt x="57023" y="0"/>
                    <a:pt x="127254" y="0"/>
                  </a:cubicBezTo>
                  <a:lnTo>
                    <a:pt x="6048756" y="0"/>
                  </a:lnTo>
                  <a:cubicBezTo>
                    <a:pt x="6118987" y="0"/>
                    <a:pt x="6176010" y="56896"/>
                    <a:pt x="6176010" y="127000"/>
                  </a:cubicBezTo>
                  <a:lnTo>
                    <a:pt x="6176010" y="3164332"/>
                  </a:lnTo>
                  <a:cubicBezTo>
                    <a:pt x="6176010" y="3234436"/>
                    <a:pt x="6118987" y="3291332"/>
                    <a:pt x="6048756" y="3291332"/>
                  </a:cubicBezTo>
                  <a:lnTo>
                    <a:pt x="127254" y="3291332"/>
                  </a:lnTo>
                  <a:cubicBezTo>
                    <a:pt x="57023" y="3291332"/>
                    <a:pt x="0" y="3234436"/>
                    <a:pt x="0" y="3164332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88710" cy="3304032"/>
            </a:xfrm>
            <a:custGeom>
              <a:avLst/>
              <a:gdLst/>
              <a:ahLst/>
              <a:cxnLst/>
              <a:rect r="r" b="b" t="t" l="l"/>
              <a:pathLst>
                <a:path h="3304032" w="6188710">
                  <a:moveTo>
                    <a:pt x="0" y="133350"/>
                  </a:moveTo>
                  <a:cubicBezTo>
                    <a:pt x="0" y="59690"/>
                    <a:pt x="59817" y="0"/>
                    <a:pt x="133604" y="0"/>
                  </a:cubicBezTo>
                  <a:lnTo>
                    <a:pt x="6055106" y="0"/>
                  </a:lnTo>
                  <a:lnTo>
                    <a:pt x="6055106" y="6350"/>
                  </a:lnTo>
                  <a:lnTo>
                    <a:pt x="6055106" y="0"/>
                  </a:lnTo>
                  <a:cubicBezTo>
                    <a:pt x="6128893" y="0"/>
                    <a:pt x="6188710" y="59690"/>
                    <a:pt x="6188710" y="133350"/>
                  </a:cubicBezTo>
                  <a:lnTo>
                    <a:pt x="6182360" y="133350"/>
                  </a:lnTo>
                  <a:lnTo>
                    <a:pt x="6188710" y="133350"/>
                  </a:lnTo>
                  <a:lnTo>
                    <a:pt x="6188710" y="3170682"/>
                  </a:lnTo>
                  <a:lnTo>
                    <a:pt x="6182360" y="3170682"/>
                  </a:lnTo>
                  <a:lnTo>
                    <a:pt x="6188710" y="3170682"/>
                  </a:lnTo>
                  <a:cubicBezTo>
                    <a:pt x="6188710" y="3244342"/>
                    <a:pt x="6128893" y="3304032"/>
                    <a:pt x="6055106" y="3304032"/>
                  </a:cubicBezTo>
                  <a:lnTo>
                    <a:pt x="6055106" y="3297682"/>
                  </a:lnTo>
                  <a:lnTo>
                    <a:pt x="6055106" y="3304032"/>
                  </a:lnTo>
                  <a:lnTo>
                    <a:pt x="133604" y="3304032"/>
                  </a:lnTo>
                  <a:lnTo>
                    <a:pt x="133604" y="3297682"/>
                  </a:lnTo>
                  <a:lnTo>
                    <a:pt x="133604" y="3304032"/>
                  </a:lnTo>
                  <a:cubicBezTo>
                    <a:pt x="59817" y="3304032"/>
                    <a:pt x="0" y="3244342"/>
                    <a:pt x="0" y="317068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3170682"/>
                  </a:lnTo>
                  <a:lnTo>
                    <a:pt x="6350" y="3170682"/>
                  </a:lnTo>
                  <a:lnTo>
                    <a:pt x="12700" y="3170682"/>
                  </a:lnTo>
                  <a:cubicBezTo>
                    <a:pt x="12700" y="3237357"/>
                    <a:pt x="66802" y="3291332"/>
                    <a:pt x="133604" y="3291332"/>
                  </a:cubicBezTo>
                  <a:lnTo>
                    <a:pt x="6055106" y="3291332"/>
                  </a:lnTo>
                  <a:cubicBezTo>
                    <a:pt x="6121908" y="3291332"/>
                    <a:pt x="6176010" y="3237357"/>
                    <a:pt x="6176010" y="3170682"/>
                  </a:cubicBezTo>
                  <a:lnTo>
                    <a:pt x="6176010" y="133350"/>
                  </a:lnTo>
                  <a:cubicBezTo>
                    <a:pt x="6176010" y="66675"/>
                    <a:pt x="6121908" y="12700"/>
                    <a:pt x="6055106" y="12700"/>
                  </a:cubicBezTo>
                  <a:lnTo>
                    <a:pt x="133604" y="12700"/>
                  </a:lnTo>
                  <a:lnTo>
                    <a:pt x="133604" y="6350"/>
                  </a:lnTo>
                  <a:lnTo>
                    <a:pt x="133604" y="12700"/>
                  </a:lnTo>
                  <a:cubicBezTo>
                    <a:pt x="66802" y="12700"/>
                    <a:pt x="12700" y="66675"/>
                    <a:pt x="12700" y="1333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086573" y="2967933"/>
            <a:ext cx="680447" cy="680447"/>
            <a:chOff x="0" y="0"/>
            <a:chExt cx="907263" cy="9072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7288" cy="907288"/>
            </a:xfrm>
            <a:custGeom>
              <a:avLst/>
              <a:gdLst/>
              <a:ahLst/>
              <a:cxnLst/>
              <a:rect r="r" b="b" t="t" l="l"/>
              <a:pathLst>
                <a:path h="907288" w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8273653" y="3155004"/>
            <a:ext cx="306143" cy="306143"/>
          </a:xfrm>
          <a:custGeom>
            <a:avLst/>
            <a:gdLst/>
            <a:ahLst/>
            <a:cxnLst/>
            <a:rect r="r" b="b" t="t" l="l"/>
            <a:pathLst>
              <a:path h="306143" w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182" r="0" b="-1817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86573" y="3810743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Novel &amp; Useful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6573" y="4263028"/>
            <a:ext cx="4159301" cy="7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 already known, supports decisions &amp; predictions.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58877" y="2726827"/>
            <a:ext cx="4641647" cy="2477986"/>
            <a:chOff x="0" y="0"/>
            <a:chExt cx="6188862" cy="33039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176137" cy="3291332"/>
            </a:xfrm>
            <a:custGeom>
              <a:avLst/>
              <a:gdLst/>
              <a:ahLst/>
              <a:cxnLst/>
              <a:rect r="r" b="b" t="t" l="l"/>
              <a:pathLst>
                <a:path h="3291332" w="6176137">
                  <a:moveTo>
                    <a:pt x="0" y="127000"/>
                  </a:moveTo>
                  <a:cubicBezTo>
                    <a:pt x="0" y="56896"/>
                    <a:pt x="57023" y="0"/>
                    <a:pt x="127254" y="0"/>
                  </a:cubicBezTo>
                  <a:lnTo>
                    <a:pt x="6048883" y="0"/>
                  </a:lnTo>
                  <a:cubicBezTo>
                    <a:pt x="6119114" y="0"/>
                    <a:pt x="6176137" y="56896"/>
                    <a:pt x="6176137" y="127000"/>
                  </a:cubicBezTo>
                  <a:lnTo>
                    <a:pt x="6176137" y="3164332"/>
                  </a:lnTo>
                  <a:cubicBezTo>
                    <a:pt x="6176137" y="3234436"/>
                    <a:pt x="6119114" y="3291332"/>
                    <a:pt x="6048883" y="3291332"/>
                  </a:cubicBezTo>
                  <a:lnTo>
                    <a:pt x="127254" y="3291332"/>
                  </a:lnTo>
                  <a:cubicBezTo>
                    <a:pt x="57023" y="3291332"/>
                    <a:pt x="0" y="3234436"/>
                    <a:pt x="0" y="3164332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8837" cy="3304032"/>
            </a:xfrm>
            <a:custGeom>
              <a:avLst/>
              <a:gdLst/>
              <a:ahLst/>
              <a:cxnLst/>
              <a:rect r="r" b="b" t="t" l="l"/>
              <a:pathLst>
                <a:path h="3304032" w="6188837">
                  <a:moveTo>
                    <a:pt x="0" y="133350"/>
                  </a:moveTo>
                  <a:cubicBezTo>
                    <a:pt x="0" y="59690"/>
                    <a:pt x="59817" y="0"/>
                    <a:pt x="133604" y="0"/>
                  </a:cubicBezTo>
                  <a:lnTo>
                    <a:pt x="6055233" y="0"/>
                  </a:lnTo>
                  <a:lnTo>
                    <a:pt x="6055233" y="6350"/>
                  </a:lnTo>
                  <a:lnTo>
                    <a:pt x="6055233" y="0"/>
                  </a:lnTo>
                  <a:cubicBezTo>
                    <a:pt x="6129020" y="0"/>
                    <a:pt x="6188837" y="59690"/>
                    <a:pt x="6188837" y="133350"/>
                  </a:cubicBezTo>
                  <a:lnTo>
                    <a:pt x="6182487" y="133350"/>
                  </a:lnTo>
                  <a:lnTo>
                    <a:pt x="6188837" y="133350"/>
                  </a:lnTo>
                  <a:lnTo>
                    <a:pt x="6188837" y="3170682"/>
                  </a:lnTo>
                  <a:lnTo>
                    <a:pt x="6182487" y="3170682"/>
                  </a:lnTo>
                  <a:lnTo>
                    <a:pt x="6188837" y="3170682"/>
                  </a:lnTo>
                  <a:cubicBezTo>
                    <a:pt x="6188837" y="3244342"/>
                    <a:pt x="6129020" y="3304032"/>
                    <a:pt x="6055233" y="3304032"/>
                  </a:cubicBezTo>
                  <a:lnTo>
                    <a:pt x="6055233" y="3297682"/>
                  </a:lnTo>
                  <a:lnTo>
                    <a:pt x="6055233" y="3304032"/>
                  </a:lnTo>
                  <a:lnTo>
                    <a:pt x="133604" y="3304032"/>
                  </a:lnTo>
                  <a:lnTo>
                    <a:pt x="133604" y="3297682"/>
                  </a:lnTo>
                  <a:lnTo>
                    <a:pt x="133604" y="3304032"/>
                  </a:lnTo>
                  <a:cubicBezTo>
                    <a:pt x="59817" y="3304032"/>
                    <a:pt x="0" y="3244342"/>
                    <a:pt x="0" y="317068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3170682"/>
                  </a:lnTo>
                  <a:lnTo>
                    <a:pt x="6350" y="3170682"/>
                  </a:lnTo>
                  <a:lnTo>
                    <a:pt x="12700" y="3170682"/>
                  </a:lnTo>
                  <a:cubicBezTo>
                    <a:pt x="12700" y="3237357"/>
                    <a:pt x="66802" y="3291332"/>
                    <a:pt x="133604" y="3291332"/>
                  </a:cubicBezTo>
                  <a:lnTo>
                    <a:pt x="6055233" y="3291332"/>
                  </a:lnTo>
                  <a:cubicBezTo>
                    <a:pt x="6122035" y="3291332"/>
                    <a:pt x="6176137" y="3237357"/>
                    <a:pt x="6176137" y="3170682"/>
                  </a:cubicBezTo>
                  <a:lnTo>
                    <a:pt x="6176137" y="133350"/>
                  </a:lnTo>
                  <a:cubicBezTo>
                    <a:pt x="6176137" y="66675"/>
                    <a:pt x="6122035" y="12700"/>
                    <a:pt x="6055233" y="12700"/>
                  </a:cubicBezTo>
                  <a:lnTo>
                    <a:pt x="133604" y="12700"/>
                  </a:lnTo>
                  <a:lnTo>
                    <a:pt x="133604" y="6350"/>
                  </a:lnTo>
                  <a:lnTo>
                    <a:pt x="133604" y="12700"/>
                  </a:lnTo>
                  <a:cubicBezTo>
                    <a:pt x="66802" y="12700"/>
                    <a:pt x="12700" y="66675"/>
                    <a:pt x="12700" y="1333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899974" y="2967933"/>
            <a:ext cx="680447" cy="680447"/>
            <a:chOff x="0" y="0"/>
            <a:chExt cx="907263" cy="9072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7288" cy="907288"/>
            </a:xfrm>
            <a:custGeom>
              <a:avLst/>
              <a:gdLst/>
              <a:ahLst/>
              <a:cxnLst/>
              <a:rect r="r" b="b" t="t" l="l"/>
              <a:pathLst>
                <a:path h="907288" w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3087055" y="3155004"/>
            <a:ext cx="306143" cy="306143"/>
          </a:xfrm>
          <a:custGeom>
            <a:avLst/>
            <a:gdLst/>
            <a:ahLst/>
            <a:cxnLst/>
            <a:rect r="r" b="b" t="t" l="l"/>
            <a:pathLst>
              <a:path h="306143" w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8182" t="0" r="-18179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899974" y="3810743"/>
            <a:ext cx="3269161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Valid &amp; Understandable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99974" y="4263028"/>
            <a:ext cx="4159453" cy="7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Works on new data, human-interpretable.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45476" y="5376710"/>
            <a:ext cx="9455048" cy="2151459"/>
            <a:chOff x="0" y="0"/>
            <a:chExt cx="12606731" cy="28686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2594082" cy="2855849"/>
            </a:xfrm>
            <a:custGeom>
              <a:avLst/>
              <a:gdLst/>
              <a:ahLst/>
              <a:cxnLst/>
              <a:rect r="r" b="b" t="t" l="l"/>
              <a:pathLst>
                <a:path h="2855849" w="12594082">
                  <a:moveTo>
                    <a:pt x="0" y="127000"/>
                  </a:moveTo>
                  <a:cubicBezTo>
                    <a:pt x="0" y="56896"/>
                    <a:pt x="57023" y="0"/>
                    <a:pt x="127508" y="0"/>
                  </a:cubicBezTo>
                  <a:lnTo>
                    <a:pt x="12466574" y="0"/>
                  </a:lnTo>
                  <a:cubicBezTo>
                    <a:pt x="12536932" y="0"/>
                    <a:pt x="12594082" y="56896"/>
                    <a:pt x="12594082" y="127000"/>
                  </a:cubicBezTo>
                  <a:lnTo>
                    <a:pt x="12594082" y="2728849"/>
                  </a:lnTo>
                  <a:cubicBezTo>
                    <a:pt x="12594082" y="2798953"/>
                    <a:pt x="12537059" y="2855849"/>
                    <a:pt x="12466574" y="2855849"/>
                  </a:cubicBezTo>
                  <a:lnTo>
                    <a:pt x="127508" y="2855849"/>
                  </a:lnTo>
                  <a:cubicBezTo>
                    <a:pt x="57150" y="2855849"/>
                    <a:pt x="0" y="2798953"/>
                    <a:pt x="0" y="2728849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06782" cy="2868549"/>
            </a:xfrm>
            <a:custGeom>
              <a:avLst/>
              <a:gdLst/>
              <a:ahLst/>
              <a:cxnLst/>
              <a:rect r="r" b="b" t="t" l="l"/>
              <a:pathLst>
                <a:path h="2868549" w="12606782">
                  <a:moveTo>
                    <a:pt x="0" y="133350"/>
                  </a:moveTo>
                  <a:cubicBezTo>
                    <a:pt x="0" y="59690"/>
                    <a:pt x="59944" y="0"/>
                    <a:pt x="133858" y="0"/>
                  </a:cubicBezTo>
                  <a:lnTo>
                    <a:pt x="12472924" y="0"/>
                  </a:lnTo>
                  <a:lnTo>
                    <a:pt x="12472924" y="6350"/>
                  </a:lnTo>
                  <a:lnTo>
                    <a:pt x="12472924" y="0"/>
                  </a:lnTo>
                  <a:cubicBezTo>
                    <a:pt x="12546838" y="0"/>
                    <a:pt x="12606782" y="59690"/>
                    <a:pt x="12606782" y="133350"/>
                  </a:cubicBezTo>
                  <a:lnTo>
                    <a:pt x="12600432" y="133350"/>
                  </a:lnTo>
                  <a:lnTo>
                    <a:pt x="12606782" y="133350"/>
                  </a:lnTo>
                  <a:lnTo>
                    <a:pt x="12606782" y="2735199"/>
                  </a:lnTo>
                  <a:lnTo>
                    <a:pt x="12600432" y="2735199"/>
                  </a:lnTo>
                  <a:lnTo>
                    <a:pt x="12606782" y="2735199"/>
                  </a:lnTo>
                  <a:cubicBezTo>
                    <a:pt x="12606782" y="2808859"/>
                    <a:pt x="12546838" y="2868549"/>
                    <a:pt x="12472924" y="2868549"/>
                  </a:cubicBezTo>
                  <a:lnTo>
                    <a:pt x="12472924" y="2862199"/>
                  </a:lnTo>
                  <a:lnTo>
                    <a:pt x="12472924" y="2868549"/>
                  </a:lnTo>
                  <a:lnTo>
                    <a:pt x="133858" y="2868549"/>
                  </a:lnTo>
                  <a:lnTo>
                    <a:pt x="133858" y="2862199"/>
                  </a:lnTo>
                  <a:lnTo>
                    <a:pt x="133858" y="2868549"/>
                  </a:lnTo>
                  <a:cubicBezTo>
                    <a:pt x="59944" y="2868549"/>
                    <a:pt x="0" y="2808859"/>
                    <a:pt x="0" y="2735199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2735199"/>
                  </a:lnTo>
                  <a:lnTo>
                    <a:pt x="6350" y="2735199"/>
                  </a:lnTo>
                  <a:lnTo>
                    <a:pt x="12700" y="2735199"/>
                  </a:lnTo>
                  <a:cubicBezTo>
                    <a:pt x="12700" y="2801874"/>
                    <a:pt x="66929" y="2855849"/>
                    <a:pt x="133858" y="2855849"/>
                  </a:cubicBezTo>
                  <a:lnTo>
                    <a:pt x="12472924" y="2855849"/>
                  </a:lnTo>
                  <a:cubicBezTo>
                    <a:pt x="12539853" y="2855849"/>
                    <a:pt x="12594082" y="2801747"/>
                    <a:pt x="12594082" y="2735199"/>
                  </a:cubicBezTo>
                  <a:lnTo>
                    <a:pt x="12594082" y="133350"/>
                  </a:lnTo>
                  <a:cubicBezTo>
                    <a:pt x="12594082" y="66675"/>
                    <a:pt x="12539853" y="12700"/>
                    <a:pt x="12472924" y="12700"/>
                  </a:cubicBezTo>
                  <a:lnTo>
                    <a:pt x="133858" y="12700"/>
                  </a:lnTo>
                  <a:lnTo>
                    <a:pt x="133858" y="6350"/>
                  </a:lnTo>
                  <a:lnTo>
                    <a:pt x="133858" y="12700"/>
                  </a:lnTo>
                  <a:cubicBezTo>
                    <a:pt x="66929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086573" y="5617816"/>
            <a:ext cx="680447" cy="680447"/>
            <a:chOff x="0" y="0"/>
            <a:chExt cx="907263" cy="9072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7288" cy="907288"/>
            </a:xfrm>
            <a:custGeom>
              <a:avLst/>
              <a:gdLst/>
              <a:ahLst/>
              <a:cxnLst/>
              <a:rect r="r" b="b" t="t" l="l"/>
              <a:pathLst>
                <a:path h="907288" w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8273653" y="5804897"/>
            <a:ext cx="306143" cy="306143"/>
          </a:xfrm>
          <a:custGeom>
            <a:avLst/>
            <a:gdLst/>
            <a:ahLst/>
            <a:cxnLst/>
            <a:rect r="r" b="b" t="t" l="l"/>
            <a:pathLst>
              <a:path h="306143" w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086573" y="6460627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Unexpected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6573" y="6912921"/>
            <a:ext cx="8972845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Reveals hidden insights.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50238" y="7776420"/>
            <a:ext cx="4763243" cy="61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Why Patterns Matter?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50238" y="8615363"/>
            <a:ext cx="9445523" cy="7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is too vast for manual analysis. Patterns reveal hidden knowledge, crucial for business decisions, fraud detection, and optimisation.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411436"/>
          </a:xfrm>
          <a:custGeom>
            <a:avLst/>
            <a:gdLst/>
            <a:ahLst/>
            <a:cxnLst/>
            <a:rect r="r" b="b" t="t" l="l"/>
            <a:pathLst>
              <a:path h="3411436" w="18288000">
                <a:moveTo>
                  <a:pt x="0" y="0"/>
                </a:moveTo>
                <a:lnTo>
                  <a:pt x="18288000" y="0"/>
                </a:lnTo>
                <a:lnTo>
                  <a:pt x="18288000" y="3411436"/>
                </a:lnTo>
                <a:lnTo>
                  <a:pt x="0" y="3411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" t="0" r="-2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5177" y="4143966"/>
            <a:ext cx="1252909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6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Classification of Data Mining Patterns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5177" y="5877077"/>
            <a:ext cx="8052349" cy="2477843"/>
            <a:chOff x="0" y="0"/>
            <a:chExt cx="10736466" cy="330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36453" cy="3303778"/>
            </a:xfrm>
            <a:custGeom>
              <a:avLst/>
              <a:gdLst/>
              <a:ahLst/>
              <a:cxnLst/>
              <a:rect r="r" b="b" t="t" l="l"/>
              <a:pathLst>
                <a:path h="3303778" w="1073645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92613" y="0"/>
                  </a:lnTo>
                  <a:cubicBezTo>
                    <a:pt x="10627233" y="0"/>
                    <a:pt x="10736453" y="109220"/>
                    <a:pt x="10736453" y="243840"/>
                  </a:cubicBezTo>
                  <a:lnTo>
                    <a:pt x="10736453" y="3059938"/>
                  </a:lnTo>
                  <a:cubicBezTo>
                    <a:pt x="10736453" y="3194558"/>
                    <a:pt x="10627233" y="3303778"/>
                    <a:pt x="10492613" y="3303778"/>
                  </a:cubicBezTo>
                  <a:lnTo>
                    <a:pt x="243840" y="3303778"/>
                  </a:lnTo>
                  <a:cubicBezTo>
                    <a:pt x="109220" y="3303778"/>
                    <a:pt x="0" y="3194558"/>
                    <a:pt x="0" y="30599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5177" y="5838977"/>
            <a:ext cx="8052349" cy="152400"/>
            <a:chOff x="0" y="0"/>
            <a:chExt cx="10736466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6453" cy="203200"/>
            </a:xfrm>
            <a:custGeom>
              <a:avLst/>
              <a:gdLst/>
              <a:ahLst/>
              <a:cxnLst/>
              <a:rect r="r" b="b" t="t" l="l"/>
              <a:pathLst>
                <a:path h="203200" w="107364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34853" y="0"/>
                  </a:lnTo>
                  <a:cubicBezTo>
                    <a:pt x="10690987" y="0"/>
                    <a:pt x="10736453" y="45466"/>
                    <a:pt x="10736453" y="101600"/>
                  </a:cubicBezTo>
                  <a:cubicBezTo>
                    <a:pt x="10736453" y="157734"/>
                    <a:pt x="10690987" y="203200"/>
                    <a:pt x="1063485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571924" y="5467798"/>
            <a:ext cx="818702" cy="818702"/>
            <a:chOff x="0" y="0"/>
            <a:chExt cx="1091603" cy="1091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1565" cy="1091565"/>
            </a:xfrm>
            <a:custGeom>
              <a:avLst/>
              <a:gdLst/>
              <a:ahLst/>
              <a:cxnLst/>
              <a:rect r="r" b="b" t="t" l="l"/>
              <a:pathLst>
                <a:path h="1091565" w="1091565">
                  <a:moveTo>
                    <a:pt x="0" y="545846"/>
                  </a:moveTo>
                  <a:cubicBezTo>
                    <a:pt x="0" y="244348"/>
                    <a:pt x="244348" y="0"/>
                    <a:pt x="545846" y="0"/>
                  </a:cubicBezTo>
                  <a:cubicBezTo>
                    <a:pt x="847344" y="0"/>
                    <a:pt x="1091565" y="244348"/>
                    <a:pt x="1091565" y="545846"/>
                  </a:cubicBezTo>
                  <a:cubicBezTo>
                    <a:pt x="1091565" y="847344"/>
                    <a:pt x="847217" y="1091565"/>
                    <a:pt x="545846" y="1091565"/>
                  </a:cubicBezTo>
                  <a:cubicBezTo>
                    <a:pt x="244475" y="1091565"/>
                    <a:pt x="0" y="847217"/>
                    <a:pt x="0" y="545846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817488" y="5548608"/>
            <a:ext cx="327422" cy="53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562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082" y="6549781"/>
            <a:ext cx="35819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Descriptive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082" y="7084962"/>
            <a:ext cx="7430538" cy="95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Summarises and describes data. Answers: "What is happening?"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0322" y="5877077"/>
            <a:ext cx="8052492" cy="2477843"/>
            <a:chOff x="0" y="0"/>
            <a:chExt cx="10736656" cy="33037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36580" cy="3303778"/>
            </a:xfrm>
            <a:custGeom>
              <a:avLst/>
              <a:gdLst/>
              <a:ahLst/>
              <a:cxnLst/>
              <a:rect r="r" b="b" t="t" l="l"/>
              <a:pathLst>
                <a:path h="3303778" w="107365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92740" y="0"/>
                  </a:lnTo>
                  <a:cubicBezTo>
                    <a:pt x="10627360" y="0"/>
                    <a:pt x="10736580" y="109220"/>
                    <a:pt x="10736580" y="243840"/>
                  </a:cubicBezTo>
                  <a:lnTo>
                    <a:pt x="10736580" y="3059938"/>
                  </a:lnTo>
                  <a:cubicBezTo>
                    <a:pt x="10736580" y="3194558"/>
                    <a:pt x="10627360" y="3303778"/>
                    <a:pt x="10492740" y="3303778"/>
                  </a:cubicBezTo>
                  <a:lnTo>
                    <a:pt x="243840" y="3303778"/>
                  </a:lnTo>
                  <a:cubicBezTo>
                    <a:pt x="109220" y="3303778"/>
                    <a:pt x="0" y="3194558"/>
                    <a:pt x="0" y="30599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80322" y="5838977"/>
            <a:ext cx="8052492" cy="152400"/>
            <a:chOff x="0" y="0"/>
            <a:chExt cx="10736656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36707" cy="203200"/>
            </a:xfrm>
            <a:custGeom>
              <a:avLst/>
              <a:gdLst/>
              <a:ahLst/>
              <a:cxnLst/>
              <a:rect r="r" b="b" t="t" l="l"/>
              <a:pathLst>
                <a:path h="203200" w="10736707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35107" y="0"/>
                  </a:lnTo>
                  <a:cubicBezTo>
                    <a:pt x="10691240" y="0"/>
                    <a:pt x="10736707" y="45466"/>
                    <a:pt x="10736707" y="101600"/>
                  </a:cubicBezTo>
                  <a:cubicBezTo>
                    <a:pt x="10736707" y="157734"/>
                    <a:pt x="10691240" y="203200"/>
                    <a:pt x="10635107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897221" y="5467798"/>
            <a:ext cx="818702" cy="818702"/>
            <a:chOff x="0" y="0"/>
            <a:chExt cx="1091603" cy="10916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565" cy="1091565"/>
            </a:xfrm>
            <a:custGeom>
              <a:avLst/>
              <a:gdLst/>
              <a:ahLst/>
              <a:cxnLst/>
              <a:rect r="r" b="b" t="t" l="l"/>
              <a:pathLst>
                <a:path h="1091565" w="1091565">
                  <a:moveTo>
                    <a:pt x="0" y="545846"/>
                  </a:moveTo>
                  <a:cubicBezTo>
                    <a:pt x="0" y="244348"/>
                    <a:pt x="244348" y="0"/>
                    <a:pt x="545846" y="0"/>
                  </a:cubicBezTo>
                  <a:cubicBezTo>
                    <a:pt x="847344" y="0"/>
                    <a:pt x="1091565" y="244348"/>
                    <a:pt x="1091565" y="545846"/>
                  </a:cubicBezTo>
                  <a:cubicBezTo>
                    <a:pt x="1091565" y="847344"/>
                    <a:pt x="847217" y="1091565"/>
                    <a:pt x="545846" y="1091565"/>
                  </a:cubicBezTo>
                  <a:cubicBezTo>
                    <a:pt x="244475" y="1091565"/>
                    <a:pt x="0" y="847217"/>
                    <a:pt x="0" y="545846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142786" y="5548608"/>
            <a:ext cx="327422" cy="53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562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1227" y="6549781"/>
            <a:ext cx="35819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Predictive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1227" y="7084962"/>
            <a:ext cx="7430691" cy="52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Predicts future values. Answers: "What will happen?"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5177" y="8576224"/>
            <a:ext cx="16377647" cy="95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Descriptive techniques include Clustering, Association, and Outlier Detection. Predictive techniques involve Classification and Prediction (Regression).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33873" y="557508"/>
            <a:ext cx="5742089" cy="7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Classification Patterns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3873" y="1750666"/>
            <a:ext cx="3302794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1. Classification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873" y="2334968"/>
            <a:ext cx="8154295" cy="74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Predicts categorical class labels (e.g., Yes/No). It is predictive and supervised, using labelled training data.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873" y="3194599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Algorithms: Decision Trees, Naive Bayes, SVM, KNN.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873" y="3603422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Predicting customer churn.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873" y="4012254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Application: Telecom companies predict customer switching.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409357" y="1814960"/>
            <a:ext cx="8154295" cy="8154295"/>
          </a:xfrm>
          <a:custGeom>
            <a:avLst/>
            <a:gdLst/>
            <a:ahLst/>
            <a:cxnLst/>
            <a:rect r="r" b="b" t="t" l="l"/>
            <a:pathLst>
              <a:path h="8154295" w="8154295">
                <a:moveTo>
                  <a:pt x="0" y="0"/>
                </a:moveTo>
                <a:lnTo>
                  <a:pt x="8154295" y="0"/>
                </a:lnTo>
                <a:lnTo>
                  <a:pt x="8154295" y="8154296"/>
                </a:lnTo>
                <a:lnTo>
                  <a:pt x="0" y="815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33873" y="557508"/>
            <a:ext cx="5504555" cy="7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Clustering Patterns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733873" y="1814960"/>
            <a:ext cx="8154295" cy="8154295"/>
          </a:xfrm>
          <a:custGeom>
            <a:avLst/>
            <a:gdLst/>
            <a:ahLst/>
            <a:cxnLst/>
            <a:rect r="r" b="b" t="t" l="l"/>
            <a:pathLst>
              <a:path h="8154295" w="8154295">
                <a:moveTo>
                  <a:pt x="0" y="0"/>
                </a:moveTo>
                <a:lnTo>
                  <a:pt x="8154295" y="0"/>
                </a:lnTo>
                <a:lnTo>
                  <a:pt x="8154295" y="8154296"/>
                </a:lnTo>
                <a:lnTo>
                  <a:pt x="0" y="815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09357" y="1750666"/>
            <a:ext cx="3302794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2. Clustering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9357" y="2334968"/>
            <a:ext cx="8154295" cy="74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Groups similar data objects without predefined labels. It is descriptive and unsupervised.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9357" y="3194599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Algorithms: K-Means, Hierarchical, DBSCAN.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9357" y="3603422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Customer segmentation (high vs. low spenders).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9357" y="4012254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Application: E-commerce personalised marketing.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2218287"/>
            <a:ext cx="7442749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Association Rules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3885905"/>
            <a:ext cx="4465587" cy="57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3. Association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661002"/>
            <a:ext cx="780589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Identifies items that frequently occur together. This is a descriptive and unsupervised method, using Support &amp; Confidence metrics.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276975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Algorithm: Apriori.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829720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Buying cola often leads to buying chips.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7382466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Application: Supermarket product placement.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33873" y="557508"/>
            <a:ext cx="5504555" cy="7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Sequential Patterns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733873" y="1814960"/>
            <a:ext cx="8154295" cy="8154295"/>
          </a:xfrm>
          <a:custGeom>
            <a:avLst/>
            <a:gdLst/>
            <a:ahLst/>
            <a:cxnLst/>
            <a:rect r="r" b="b" t="t" l="l"/>
            <a:pathLst>
              <a:path h="8154295" w="8154295">
                <a:moveTo>
                  <a:pt x="0" y="0"/>
                </a:moveTo>
                <a:lnTo>
                  <a:pt x="8154295" y="0"/>
                </a:lnTo>
                <a:lnTo>
                  <a:pt x="8154295" y="8154296"/>
                </a:lnTo>
                <a:lnTo>
                  <a:pt x="0" y="815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09357" y="1750666"/>
            <a:ext cx="3302794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4. Sequential Patterns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9357" y="233496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Discovers ordered events over time, considering sequence and timing.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9357" y="285913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Laptop → Hard Disk → Antivirus.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9357" y="3267970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Application: Next-product recommendation systems.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33873" y="557508"/>
            <a:ext cx="5504555" cy="7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Outlier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3873" y="1750666"/>
            <a:ext cx="4595660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5. Outlier / Anomaly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873" y="233496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Identifies rare or abnormal data points, primarily unsupervised.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873" y="285913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Algorithms: Statistical, Distance-based.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873" y="3267970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An unusual £5 lakh foreign transaction.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873" y="3676802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Application: Credit card fraud detection.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409357" y="1814960"/>
            <a:ext cx="8154295" cy="8154295"/>
          </a:xfrm>
          <a:custGeom>
            <a:avLst/>
            <a:gdLst/>
            <a:ahLst/>
            <a:cxnLst/>
            <a:rect r="r" b="b" t="t" l="l"/>
            <a:pathLst>
              <a:path h="8154295" w="8154295">
                <a:moveTo>
                  <a:pt x="0" y="0"/>
                </a:moveTo>
                <a:lnTo>
                  <a:pt x="8154295" y="0"/>
                </a:lnTo>
                <a:lnTo>
                  <a:pt x="8154295" y="8154296"/>
                </a:lnTo>
                <a:lnTo>
                  <a:pt x="0" y="815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33873" y="557508"/>
            <a:ext cx="5951782" cy="7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Prediction (Regression)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733873" y="1814960"/>
            <a:ext cx="8154295" cy="8154295"/>
          </a:xfrm>
          <a:custGeom>
            <a:avLst/>
            <a:gdLst/>
            <a:ahLst/>
            <a:cxnLst/>
            <a:rect r="r" b="b" t="t" l="l"/>
            <a:pathLst>
              <a:path h="8154295" w="8154295">
                <a:moveTo>
                  <a:pt x="0" y="0"/>
                </a:moveTo>
                <a:lnTo>
                  <a:pt x="8154295" y="0"/>
                </a:lnTo>
                <a:lnTo>
                  <a:pt x="8154295" y="8154296"/>
                </a:lnTo>
                <a:lnTo>
                  <a:pt x="0" y="815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09357" y="1750666"/>
            <a:ext cx="3911051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6. Prediction (Regression)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9357" y="233496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Predicts continuous numeric values. This is a predictive and supervised method.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9357" y="2859138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Algorithms: Linear Regression, Neural Networks.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9357" y="3267970"/>
            <a:ext cx="8154295" cy="41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Example: Stock price or sales forecasting.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803967"/>
            <a:ext cx="4275296" cy="7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Quick Revision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29712" y="1939681"/>
            <a:ext cx="28575" cy="5417791"/>
            <a:chOff x="0" y="0"/>
            <a:chExt cx="38100" cy="7223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" cy="7223760"/>
            </a:xfrm>
            <a:custGeom>
              <a:avLst/>
              <a:gdLst/>
              <a:ahLst/>
              <a:cxnLst/>
              <a:rect r="r" b="b" t="t" l="l"/>
              <a:pathLst>
                <a:path h="722376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204710"/>
                  </a:lnTo>
                  <a:cubicBezTo>
                    <a:pt x="38100" y="7215251"/>
                    <a:pt x="29591" y="7223760"/>
                    <a:pt x="19050" y="7223760"/>
                  </a:cubicBezTo>
                  <a:cubicBezTo>
                    <a:pt x="8509" y="7223760"/>
                    <a:pt x="0" y="7215251"/>
                    <a:pt x="0" y="720471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718947" y="2180482"/>
            <a:ext cx="453628" cy="28575"/>
            <a:chOff x="0" y="0"/>
            <a:chExt cx="604838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901" cy="38100"/>
            </a:xfrm>
            <a:custGeom>
              <a:avLst/>
              <a:gdLst/>
              <a:ahLst/>
              <a:cxnLst/>
              <a:rect r="r" b="b" t="t" l="l"/>
              <a:pathLst>
                <a:path h="38100" w="6049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85851" y="0"/>
                  </a:lnTo>
                  <a:cubicBezTo>
                    <a:pt x="596392" y="0"/>
                    <a:pt x="604901" y="8509"/>
                    <a:pt x="604901" y="19050"/>
                  </a:cubicBezTo>
                  <a:cubicBezTo>
                    <a:pt x="604901" y="29591"/>
                    <a:pt x="596265" y="38100"/>
                    <a:pt x="5858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58942" y="2109711"/>
            <a:ext cx="170107" cy="170107"/>
            <a:chOff x="0" y="0"/>
            <a:chExt cx="226809" cy="226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6822" cy="226822"/>
            </a:xfrm>
            <a:custGeom>
              <a:avLst/>
              <a:gdLst/>
              <a:ahLst/>
              <a:cxnLst/>
              <a:rect r="r" b="b" t="t" l="l"/>
              <a:pathLst>
                <a:path h="226822" w="226822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cubicBezTo>
                    <a:pt x="176022" y="0"/>
                    <a:pt x="226822" y="50800"/>
                    <a:pt x="226822" y="113411"/>
                  </a:cubicBezTo>
                  <a:cubicBezTo>
                    <a:pt x="226822" y="176022"/>
                    <a:pt x="176022" y="226822"/>
                    <a:pt x="113411" y="226822"/>
                  </a:cubicBezTo>
                  <a:cubicBezTo>
                    <a:pt x="50800" y="226822"/>
                    <a:pt x="0" y="176022"/>
                    <a:pt x="0" y="113411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259734" y="1998459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2450754"/>
            <a:ext cx="7244505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Supervised, predicts class (e.g., customer churn).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15425" y="3450584"/>
            <a:ext cx="453628" cy="28575"/>
            <a:chOff x="0" y="0"/>
            <a:chExt cx="604838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4901" cy="38100"/>
            </a:xfrm>
            <a:custGeom>
              <a:avLst/>
              <a:gdLst/>
              <a:ahLst/>
              <a:cxnLst/>
              <a:rect r="r" b="b" t="t" l="l"/>
              <a:pathLst>
                <a:path h="38100" w="6049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85851" y="0"/>
                  </a:lnTo>
                  <a:cubicBezTo>
                    <a:pt x="596392" y="0"/>
                    <a:pt x="604901" y="8509"/>
                    <a:pt x="604901" y="19050"/>
                  </a:cubicBezTo>
                  <a:cubicBezTo>
                    <a:pt x="604901" y="29591"/>
                    <a:pt x="596265" y="38100"/>
                    <a:pt x="5858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58942" y="3379813"/>
            <a:ext cx="170107" cy="170107"/>
            <a:chOff x="0" y="0"/>
            <a:chExt cx="226809" cy="2268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822" cy="226822"/>
            </a:xfrm>
            <a:custGeom>
              <a:avLst/>
              <a:gdLst/>
              <a:ahLst/>
              <a:cxnLst/>
              <a:rect r="r" b="b" t="t" l="l"/>
              <a:pathLst>
                <a:path h="226822" w="226822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cubicBezTo>
                    <a:pt x="176022" y="0"/>
                    <a:pt x="226822" y="50800"/>
                    <a:pt x="226822" y="113411"/>
                  </a:cubicBezTo>
                  <a:cubicBezTo>
                    <a:pt x="226822" y="176022"/>
                    <a:pt x="176022" y="226822"/>
                    <a:pt x="113411" y="226822"/>
                  </a:cubicBezTo>
                  <a:cubicBezTo>
                    <a:pt x="50800" y="226822"/>
                    <a:pt x="0" y="176022"/>
                    <a:pt x="0" y="113411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051256" y="3268561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Clustering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51256" y="3720856"/>
            <a:ext cx="7244505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Unsupervised, groups data (e.g., customer segmentation).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18947" y="4578106"/>
            <a:ext cx="453628" cy="28575"/>
            <a:chOff x="0" y="0"/>
            <a:chExt cx="604838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4901" cy="38100"/>
            </a:xfrm>
            <a:custGeom>
              <a:avLst/>
              <a:gdLst/>
              <a:ahLst/>
              <a:cxnLst/>
              <a:rect r="r" b="b" t="t" l="l"/>
              <a:pathLst>
                <a:path h="38100" w="6049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85851" y="0"/>
                  </a:lnTo>
                  <a:cubicBezTo>
                    <a:pt x="596392" y="0"/>
                    <a:pt x="604901" y="8509"/>
                    <a:pt x="604901" y="19050"/>
                  </a:cubicBezTo>
                  <a:cubicBezTo>
                    <a:pt x="604901" y="29591"/>
                    <a:pt x="596265" y="38100"/>
                    <a:pt x="5858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58942" y="4507335"/>
            <a:ext cx="170107" cy="170107"/>
            <a:chOff x="0" y="0"/>
            <a:chExt cx="226809" cy="2268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822" cy="226822"/>
            </a:xfrm>
            <a:custGeom>
              <a:avLst/>
              <a:gdLst/>
              <a:ahLst/>
              <a:cxnLst/>
              <a:rect r="r" b="b" t="t" l="l"/>
              <a:pathLst>
                <a:path h="226822" w="226822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cubicBezTo>
                    <a:pt x="176022" y="0"/>
                    <a:pt x="226822" y="50800"/>
                    <a:pt x="226822" y="113411"/>
                  </a:cubicBezTo>
                  <a:cubicBezTo>
                    <a:pt x="226822" y="176022"/>
                    <a:pt x="176022" y="226822"/>
                    <a:pt x="113411" y="226822"/>
                  </a:cubicBezTo>
                  <a:cubicBezTo>
                    <a:pt x="50800" y="226822"/>
                    <a:pt x="0" y="176022"/>
                    <a:pt x="0" y="113411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259734" y="4396083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Association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4848377"/>
            <a:ext cx="7244505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Unsupervised, finds relations (e.g., bread → butter).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15425" y="5705770"/>
            <a:ext cx="453628" cy="28575"/>
            <a:chOff x="0" y="0"/>
            <a:chExt cx="604838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4901" cy="38100"/>
            </a:xfrm>
            <a:custGeom>
              <a:avLst/>
              <a:gdLst/>
              <a:ahLst/>
              <a:cxnLst/>
              <a:rect r="r" b="b" t="t" l="l"/>
              <a:pathLst>
                <a:path h="38100" w="6049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85851" y="0"/>
                  </a:lnTo>
                  <a:cubicBezTo>
                    <a:pt x="596392" y="0"/>
                    <a:pt x="604901" y="8509"/>
                    <a:pt x="604901" y="19050"/>
                  </a:cubicBezTo>
                  <a:cubicBezTo>
                    <a:pt x="604901" y="29591"/>
                    <a:pt x="596265" y="38100"/>
                    <a:pt x="5858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058942" y="5635009"/>
            <a:ext cx="170107" cy="170107"/>
            <a:chOff x="0" y="0"/>
            <a:chExt cx="226809" cy="2268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6822" cy="226822"/>
            </a:xfrm>
            <a:custGeom>
              <a:avLst/>
              <a:gdLst/>
              <a:ahLst/>
              <a:cxnLst/>
              <a:rect r="r" b="b" t="t" l="l"/>
              <a:pathLst>
                <a:path h="226822" w="226822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cubicBezTo>
                    <a:pt x="176022" y="0"/>
                    <a:pt x="226822" y="50800"/>
                    <a:pt x="226822" y="113411"/>
                  </a:cubicBezTo>
                  <a:cubicBezTo>
                    <a:pt x="226822" y="176022"/>
                    <a:pt x="176022" y="226822"/>
                    <a:pt x="113411" y="226822"/>
                  </a:cubicBezTo>
                  <a:cubicBezTo>
                    <a:pt x="50800" y="226822"/>
                    <a:pt x="0" y="176022"/>
                    <a:pt x="0" y="113411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051256" y="5523757"/>
            <a:ext cx="2977010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Prediction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51256" y="5976042"/>
            <a:ext cx="7244505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Supervised, predicts numeric (e.g., stock prices).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238" y="7620000"/>
            <a:ext cx="3572466" cy="45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Key Differences: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2238" y="8300447"/>
            <a:ext cx="16303523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b="true" sz="1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Classification vs. Clustering: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Labels known vs. unknown.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2238" y="8690372"/>
            <a:ext cx="16303523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b="true" sz="1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Predictive vs. Descriptive: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Forecast vs. summarise.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9080297"/>
            <a:ext cx="16303523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b="true" sz="17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Supervised vs. Unsupervised: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Target variable vs. none.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B2D4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737" y="4274503"/>
            <a:ext cx="688252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DAG_IS927oo</dc:identifier>
  <dcterms:modified xsi:type="dcterms:W3CDTF">2011-08-01T06:04:30Z</dcterms:modified>
  <cp:revision>1</cp:revision>
  <dc:title>Patterns-in-Data-Mining-An-Introduction.pptx</dc:title>
</cp:coreProperties>
</file>